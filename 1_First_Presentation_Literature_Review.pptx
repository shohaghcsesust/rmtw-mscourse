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my first RMTW presentation, covering my individual research project: a PRISMA-guided systematic survey of cloud forensics. Today I'll walk through the problem, my research questions, the methodology, and the literature review — the foundation the rest of my research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matters. Cloud forensics faces four core problems. First, investigators have no physical access — evidence lives inside VMs, containers, and logs that the cloud provider controls, not the investigator. Second, evidence disappears fast, because multi-tenancy and elastic scaling mean an instance can vanish before anyone captures its state. Third, legal complexity — data crosses borders, and privacy laws conflict with each other. And fourth, current solutions are fragmented: AI, blockchain, and automation each address a piece of the problem, but nothing ties them together into one coherent approach. That gap is what this survey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structure the investigation, I defined four research questions, each tied to one of the problems on the previous slide. RQ1 asks how we can achieve scalable, forensically sound evidence acquisition across SaaS, PaaS, and IaaS. RQ2 asks what mechanisms guarantee integrity, authenticity, and non-repudiation of evidence. RQ3 examines how privacy laws and jurisdiction issues affect the admissibility of evidence. And RQ4 asks how standardized, interoperable frameworks can improve cloud forensic investigations. These four questions drive every section of the survey that follows, including the taxonomy I'll present at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methodology follows PRISMA — a four-stage systematic review process. Stage one, Identification: I searched IEEE Xplore, ACM Digital Library, ScienceDirect, Springer Link, and Google Scholar. Stage two, Screening: I removed duplicates and studies unrelated to cloud forensics by title and abstract. Stage three, Eligibility: I assessed each remaining paper for methodological soundness, technical contribution, and legal relevance. Stage four, Inclusion: the final corpus was mapped directly onto RQ1 through RQ4. One methodological note — I chose a qualitative synthesis rather than a meta-analysis, because the sources are too heterogeneous in method, dataset, and purpose to combine statistically.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literature clusters into four recurring themes, which map directly onto the four research questions. Evidence Acquisition studies show that IaaS is the most mature environment for forensics, while SaaS remains the most dependent on cloud provider cooperation. Integrity and Trust studies focus heavily on blockchain-based provenance, cryptographic hashing, and trusted logging architectures. Jurisdiction and Law studies highlight unresolved tension between GDPR, mutual legal assistance treaties, and the US CLOUD Act. And Standardization studies point to ISO/IEC 27037 and 27043 and NIST guidance as the closest things we have to standards — but adoption by cloud providers is still voluntary and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handful of very recent papers shaped this survey's direction. NIST's SP 800-201, published in 2024, is the closest thing we currently have to a unified cloud forensic reference architecture. Two papers from 2025 — by Mukti and Hanif, and separately by Vucha and Kamarapu — apply AI directly to cloud-native evidence acquisition and anomaly detection. Chourasiya and colleagues combine LSTM, Transformer, and graph neural network models for log analysis, reporting over 98% anomaly-detection accuracy. And two of the newest papers, from 2026 — Dhital's team, and Ekwempu — show respectively that AWS-native monitoring tools miss transient attacker activity in short-lived instances, and map the legal fragmentation investigators face in cross-border cloud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literature review sets up the rest of my research pipeline. Next, I'll decompose the field into a four-dimensional taxonomy — that's what I'll present at the mid-term, along with a comparative analysis of the selected studies by methodology, environment, and contribution. After that, I'll propose an innovative, explainable, standards-aligned acquisition framework based on the gaps this review has surfaced. And finally, I'll pilot that framework against real cloud-native scenarios and write up the complete research article for the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ten of twenty references shown here, out of forty-eight total in the survey. This page covers the foundational and mid-period studies — from Alshabibi's 2024 systematic review, through Manral's 2019 ACM Computing Surveys paper, which remains one of the most cited foundational works in this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second page covers the more recent additions — the 2024 through 2026 cloud-specific work, including the NIST standards, the newest AI-driven cloud forensics papers, and the legal and jurisdictional studies. The complete list of all forty-eight references is in the full survey paper, which I can share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 covers the problem, the research questions, the methodology, and the literature review that will anchor the rest of this project. I'm happy to take any questions. My next milestone is the taxonomy and comparative analysis, which I'll present at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C42"/>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B2A5B"/>
          </a:solidFill>
          <a:ln/>
        </p:spPr>
      </p:sp>
      <p:sp>
        <p:nvSpPr>
          <p:cNvPr id="3" name="Shape 1"/>
          <p:cNvSpPr/>
          <p:nvPr/>
        </p:nvSpPr>
        <p:spPr>
          <a:xfrm>
            <a:off x="10332720" y="-822960"/>
            <a:ext cx="3291840" cy="3291840"/>
          </a:xfrm>
          <a:prstGeom prst="ellipse">
            <a:avLst/>
          </a:prstGeom>
          <a:solidFill>
            <a:srgbClr val="3E5C8A">
              <a:alpha val="45000"/>
            </a:srgbClr>
          </a:solidFill>
          <a:ln/>
        </p:spPr>
      </p:sp>
      <p:pic>
        <p:nvPicPr>
          <p:cNvPr id="4" name="Image 0" descr="icon_cloud_00C2A8.png">    </p:cNvPr>
          <p:cNvPicPr>
            <a:picLocks noChangeAspect="1"/>
          </p:cNvPicPr>
          <p:nvPr/>
        </p:nvPicPr>
        <p:blipFill>
          <a:blip r:embed="rId1"/>
          <a:stretch>
            <a:fillRect/>
          </a:stretch>
        </p:blipFill>
        <p:spPr>
          <a:xfrm>
            <a:off x="640080" y="594360"/>
            <a:ext cx="566928" cy="566928"/>
          </a:xfrm>
          <a:prstGeom prst="rect">
            <a:avLst/>
          </a:prstGeom>
        </p:spPr>
      </p:pic>
      <p:sp>
        <p:nvSpPr>
          <p:cNvPr id="5" name="Text 2"/>
          <p:cNvSpPr/>
          <p:nvPr/>
        </p:nvSpPr>
        <p:spPr>
          <a:xfrm>
            <a:off x="1325880" y="566928"/>
            <a:ext cx="8229600" cy="457200"/>
          </a:xfrm>
          <a:prstGeom prst="rect">
            <a:avLst/>
          </a:prstGeom>
          <a:noFill/>
          <a:ln/>
        </p:spPr>
        <p:txBody>
          <a:bodyPr wrap="square" rtlCol="0" anchor="ctr"/>
          <a:lstStyle/>
          <a:p>
            <a:pPr indent="0" marL="0">
              <a:buNone/>
            </a:pPr>
            <a:r>
              <a:rPr lang="en-US" sz="1500" b="1" spc="100" kern="0" dirty="0">
                <a:solidFill>
                  <a:srgbClr val="CADCFC"/>
                </a:solidFill>
                <a:latin typeface="Calibri" pitchFamily="34" charset="0"/>
                <a:ea typeface="Calibri" pitchFamily="34" charset="-122"/>
                <a:cs typeface="Calibri" pitchFamily="34" charset="-120"/>
              </a:rPr>
              <a:t>RMTW · 1st Presentation</a:t>
            </a:r>
            <a:endParaRPr lang="en-US" sz="1500" dirty="0"/>
          </a:p>
        </p:txBody>
      </p:sp>
      <p:sp>
        <p:nvSpPr>
          <p:cNvPr id="6" name="Text 3"/>
          <p:cNvSpPr/>
          <p:nvPr/>
        </p:nvSpPr>
        <p:spPr>
          <a:xfrm>
            <a:off x="640080" y="2148840"/>
            <a:ext cx="987552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Modern Cloud Forensics</a:t>
            </a:r>
            <a:endParaRPr lang="en-US" sz="4400" dirty="0"/>
          </a:p>
        </p:txBody>
      </p:sp>
      <p:sp>
        <p:nvSpPr>
          <p:cNvPr id="7" name="Text 4"/>
          <p:cNvSpPr/>
          <p:nvPr/>
        </p:nvSpPr>
        <p:spPr>
          <a:xfrm>
            <a:off x="640080" y="3063240"/>
            <a:ext cx="9966960" cy="64008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A PRISMA-Guided Systematic Survey — Problem to Literature Review</a:t>
            </a:r>
            <a:endParaRPr lang="en-US" sz="1900" dirty="0"/>
          </a:p>
        </p:txBody>
      </p:sp>
      <p:sp>
        <p:nvSpPr>
          <p:cNvPr id="8" name="Text 5"/>
          <p:cNvSpPr/>
          <p:nvPr/>
        </p:nvSpPr>
        <p:spPr>
          <a:xfrm>
            <a:off x="640080" y="5806440"/>
            <a:ext cx="10515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MD. Ahsan Kabir</a:t>
            </a:r>
            <a:pPr indent="0" marL="0">
              <a:buNone/>
            </a:pPr>
            <a:r>
              <a:rPr lang="en-US" sz="1300" dirty="0">
                <a:solidFill>
                  <a:srgbClr val="9AA6C7"/>
                </a:solidFill>
                <a:latin typeface="Calibri" pitchFamily="34" charset="0"/>
                <a:ea typeface="Calibri" pitchFamily="34" charset="-122"/>
                <a:cs typeface="Calibri" pitchFamily="34" charset="-120"/>
              </a:rPr>
              <a:t>   |   ID 0122520016   |   MSCSE, United International University</a:t>
            </a:r>
            <a:endParaRPr lang="en-US" sz="1300" dirty="0"/>
          </a:p>
        </p:txBody>
      </p:sp>
      <p:sp>
        <p:nvSpPr>
          <p:cNvPr id="9" name="Text 6"/>
          <p:cNvSpPr/>
          <p:nvPr/>
        </p:nvSpPr>
        <p:spPr>
          <a:xfrm>
            <a:off x="640080" y="6144768"/>
            <a:ext cx="10058400" cy="320040"/>
          </a:xfrm>
          <a:prstGeom prst="rect">
            <a:avLst/>
          </a:prstGeom>
          <a:noFill/>
          <a:ln/>
        </p:spPr>
        <p:txBody>
          <a:bodyPr wrap="square" rtlCol="0" anchor="ctr"/>
          <a:lstStyle/>
          <a:p>
            <a:pPr indent="0" marL="0">
              <a:buNone/>
            </a:pPr>
            <a:r>
              <a:rPr lang="en-US" sz="1200" dirty="0">
                <a:solidFill>
                  <a:srgbClr val="7C89B5"/>
                </a:solidFill>
                <a:latin typeface="Calibri" pitchFamily="34" charset="0"/>
                <a:ea typeface="Calibri" pitchFamily="34" charset="-122"/>
                <a:cs typeface="Calibri" pitchFamily="34" charset="-120"/>
              </a:rPr>
              <a:t>CSE 6093 — Research Methodologies and Technical Writing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The Problem</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Why cloud forensics needs new answers</a:t>
            </a:r>
            <a:endParaRPr lang="en-US" sz="1500" dirty="0"/>
          </a:p>
        </p:txBody>
      </p:sp>
      <p:sp>
        <p:nvSpPr>
          <p:cNvPr id="4" name="Shape 2"/>
          <p:cNvSpPr/>
          <p:nvPr/>
        </p:nvSpPr>
        <p:spPr>
          <a:xfrm>
            <a:off x="640080" y="1691640"/>
            <a:ext cx="566928" cy="566928"/>
          </a:xfrm>
          <a:prstGeom prst="ellipse">
            <a:avLst/>
          </a:prstGeom>
          <a:solidFill>
            <a:srgbClr val="111C42"/>
          </a:solidFill>
          <a:ln/>
        </p:spPr>
      </p:sp>
      <p:pic>
        <p:nvPicPr>
          <p:cNvPr id="5" name="Image 0" descr="icon_cloud_00C2A8.png">    </p:cNvPr>
          <p:cNvPicPr>
            <a:picLocks noChangeAspect="1"/>
          </p:cNvPicPr>
          <p:nvPr/>
        </p:nvPicPr>
        <p:blipFill>
          <a:blip r:embed="rId1"/>
          <a:stretch>
            <a:fillRect/>
          </a:stretch>
        </p:blipFill>
        <p:spPr>
          <a:xfrm>
            <a:off x="758952" y="1810512"/>
            <a:ext cx="329184" cy="329184"/>
          </a:xfrm>
          <a:prstGeom prst="rect">
            <a:avLst/>
          </a:prstGeom>
        </p:spPr>
      </p:pic>
      <p:sp>
        <p:nvSpPr>
          <p:cNvPr id="6" name="Text 3"/>
          <p:cNvSpPr/>
          <p:nvPr/>
        </p:nvSpPr>
        <p:spPr>
          <a:xfrm>
            <a:off x="1417320" y="1636776"/>
            <a:ext cx="4206240" cy="365760"/>
          </a:xfrm>
          <a:prstGeom prst="rect">
            <a:avLst/>
          </a:prstGeom>
          <a:noFill/>
          <a:ln/>
        </p:spPr>
        <p:txBody>
          <a:bodyPr wrap="square" rtlCol="0" anchor="ctr"/>
          <a:lstStyle/>
          <a:p>
            <a:pPr indent="0" marL="0">
              <a:buNone/>
            </a:pPr>
            <a:r>
              <a:rPr lang="en-US" sz="1500" b="1" dirty="0">
                <a:solidFill>
                  <a:srgbClr val="1A1F36"/>
                </a:solidFill>
                <a:latin typeface="Calibri" pitchFamily="34" charset="0"/>
                <a:ea typeface="Calibri" pitchFamily="34" charset="-122"/>
                <a:cs typeface="Calibri" pitchFamily="34" charset="-120"/>
              </a:rPr>
              <a:t>No physical access</a:t>
            </a:r>
            <a:endParaRPr lang="en-US" sz="1500" dirty="0"/>
          </a:p>
        </p:txBody>
      </p:sp>
      <p:sp>
        <p:nvSpPr>
          <p:cNvPr id="7" name="Text 4"/>
          <p:cNvSpPr/>
          <p:nvPr/>
        </p:nvSpPr>
        <p:spPr>
          <a:xfrm>
            <a:off x="1417320" y="2002536"/>
            <a:ext cx="9601200" cy="548640"/>
          </a:xfrm>
          <a:prstGeom prst="rect">
            <a:avLst/>
          </a:prstGeom>
          <a:noFill/>
          <a:ln/>
        </p:spPr>
        <p:txBody>
          <a:bodyPr wrap="square" rtlCol="0" anchor="t"/>
          <a:lstStyle/>
          <a:p>
            <a:pPr indent="0" marL="0">
              <a:buNone/>
            </a:pPr>
            <a:r>
              <a:rPr lang="en-US" sz="1250" dirty="0">
                <a:solidFill>
                  <a:srgbClr val="6B7280"/>
                </a:solidFill>
                <a:latin typeface="Calibri" pitchFamily="34" charset="0"/>
                <a:ea typeface="Calibri" pitchFamily="34" charset="-122"/>
                <a:cs typeface="Calibri" pitchFamily="34" charset="-120"/>
              </a:rPr>
              <a:t>Investigators can't touch the hardware — evidence lives in VMs, containers, logs, and object storage controlled by the CSP.</a:t>
            </a:r>
            <a:endParaRPr lang="en-US" sz="1250" dirty="0"/>
          </a:p>
        </p:txBody>
      </p:sp>
      <p:sp>
        <p:nvSpPr>
          <p:cNvPr id="8" name="Shape 5"/>
          <p:cNvSpPr/>
          <p:nvPr/>
        </p:nvSpPr>
        <p:spPr>
          <a:xfrm>
            <a:off x="640080" y="2788920"/>
            <a:ext cx="566928" cy="566928"/>
          </a:xfrm>
          <a:prstGeom prst="ellipse">
            <a:avLst/>
          </a:prstGeom>
          <a:solidFill>
            <a:srgbClr val="111C42"/>
          </a:solidFill>
          <a:ln/>
        </p:spPr>
      </p:sp>
      <p:pic>
        <p:nvPicPr>
          <p:cNvPr id="9" name="Image 1" descr="icon_gap_00C2A8.png">    </p:cNvPr>
          <p:cNvPicPr>
            <a:picLocks noChangeAspect="1"/>
          </p:cNvPicPr>
          <p:nvPr/>
        </p:nvPicPr>
        <p:blipFill>
          <a:blip r:embed="rId2"/>
          <a:stretch>
            <a:fillRect/>
          </a:stretch>
        </p:blipFill>
        <p:spPr>
          <a:xfrm>
            <a:off x="758952" y="2907792"/>
            <a:ext cx="329184" cy="329184"/>
          </a:xfrm>
          <a:prstGeom prst="rect">
            <a:avLst/>
          </a:prstGeom>
        </p:spPr>
      </p:pic>
      <p:sp>
        <p:nvSpPr>
          <p:cNvPr id="10" name="Text 6"/>
          <p:cNvSpPr/>
          <p:nvPr/>
        </p:nvSpPr>
        <p:spPr>
          <a:xfrm>
            <a:off x="1417320" y="2734056"/>
            <a:ext cx="4206240" cy="365760"/>
          </a:xfrm>
          <a:prstGeom prst="rect">
            <a:avLst/>
          </a:prstGeom>
          <a:noFill/>
          <a:ln/>
        </p:spPr>
        <p:txBody>
          <a:bodyPr wrap="square" rtlCol="0" anchor="ctr"/>
          <a:lstStyle/>
          <a:p>
            <a:pPr indent="0" marL="0">
              <a:buNone/>
            </a:pPr>
            <a:r>
              <a:rPr lang="en-US" sz="1500" b="1" dirty="0">
                <a:solidFill>
                  <a:srgbClr val="1A1F36"/>
                </a:solidFill>
                <a:latin typeface="Calibri" pitchFamily="34" charset="0"/>
                <a:ea typeface="Calibri" pitchFamily="34" charset="-122"/>
                <a:cs typeface="Calibri" pitchFamily="34" charset="-120"/>
              </a:rPr>
              <a:t>Evidence disappears fast</a:t>
            </a:r>
            <a:endParaRPr lang="en-US" sz="1500" dirty="0"/>
          </a:p>
        </p:txBody>
      </p:sp>
      <p:sp>
        <p:nvSpPr>
          <p:cNvPr id="11" name="Text 7"/>
          <p:cNvSpPr/>
          <p:nvPr/>
        </p:nvSpPr>
        <p:spPr>
          <a:xfrm>
            <a:off x="1417320" y="3099816"/>
            <a:ext cx="9601200" cy="548640"/>
          </a:xfrm>
          <a:prstGeom prst="rect">
            <a:avLst/>
          </a:prstGeom>
          <a:noFill/>
          <a:ln/>
        </p:spPr>
        <p:txBody>
          <a:bodyPr wrap="square" rtlCol="0" anchor="t"/>
          <a:lstStyle/>
          <a:p>
            <a:pPr indent="0" marL="0">
              <a:buNone/>
            </a:pPr>
            <a:r>
              <a:rPr lang="en-US" sz="1250" dirty="0">
                <a:solidFill>
                  <a:srgbClr val="6B7280"/>
                </a:solidFill>
                <a:latin typeface="Calibri" pitchFamily="34" charset="0"/>
                <a:ea typeface="Calibri" pitchFamily="34" charset="-122"/>
                <a:cs typeface="Calibri" pitchFamily="34" charset="-120"/>
              </a:rPr>
              <a:t>Multi-tenancy, elasticity, and volatility mean instances and containers can vanish before evidence is captured.</a:t>
            </a:r>
            <a:endParaRPr lang="en-US" sz="1250" dirty="0"/>
          </a:p>
        </p:txBody>
      </p:sp>
      <p:sp>
        <p:nvSpPr>
          <p:cNvPr id="12" name="Shape 8"/>
          <p:cNvSpPr/>
          <p:nvPr/>
        </p:nvSpPr>
        <p:spPr>
          <a:xfrm>
            <a:off x="640080" y="3886200"/>
            <a:ext cx="566928" cy="566928"/>
          </a:xfrm>
          <a:prstGeom prst="ellipse">
            <a:avLst/>
          </a:prstGeom>
          <a:solidFill>
            <a:srgbClr val="111C42"/>
          </a:solidFill>
          <a:ln/>
        </p:spPr>
      </p:sp>
      <p:pic>
        <p:nvPicPr>
          <p:cNvPr id="13" name="Image 2" descr="icon_gavel_00C2A8.png">    </p:cNvPr>
          <p:cNvPicPr>
            <a:picLocks noChangeAspect="1"/>
          </p:cNvPicPr>
          <p:nvPr/>
        </p:nvPicPr>
        <p:blipFill>
          <a:blip r:embed="rId3"/>
          <a:stretch>
            <a:fillRect/>
          </a:stretch>
        </p:blipFill>
        <p:spPr>
          <a:xfrm>
            <a:off x="758952" y="4005072"/>
            <a:ext cx="329184" cy="329184"/>
          </a:xfrm>
          <a:prstGeom prst="rect">
            <a:avLst/>
          </a:prstGeom>
        </p:spPr>
      </p:pic>
      <p:sp>
        <p:nvSpPr>
          <p:cNvPr id="14" name="Text 9"/>
          <p:cNvSpPr/>
          <p:nvPr/>
        </p:nvSpPr>
        <p:spPr>
          <a:xfrm>
            <a:off x="1417320" y="3831336"/>
            <a:ext cx="4206240" cy="365760"/>
          </a:xfrm>
          <a:prstGeom prst="rect">
            <a:avLst/>
          </a:prstGeom>
          <a:noFill/>
          <a:ln/>
        </p:spPr>
        <p:txBody>
          <a:bodyPr wrap="square" rtlCol="0" anchor="ctr"/>
          <a:lstStyle/>
          <a:p>
            <a:pPr indent="0" marL="0">
              <a:buNone/>
            </a:pPr>
            <a:r>
              <a:rPr lang="en-US" sz="1500" b="1" dirty="0">
                <a:solidFill>
                  <a:srgbClr val="1A1F36"/>
                </a:solidFill>
                <a:latin typeface="Calibri" pitchFamily="34" charset="0"/>
                <a:ea typeface="Calibri" pitchFamily="34" charset="-122"/>
                <a:cs typeface="Calibri" pitchFamily="34" charset="-120"/>
              </a:rPr>
              <a:t>Legal complexity</a:t>
            </a:r>
            <a:endParaRPr lang="en-US" sz="1500" dirty="0"/>
          </a:p>
        </p:txBody>
      </p:sp>
      <p:sp>
        <p:nvSpPr>
          <p:cNvPr id="15" name="Text 10"/>
          <p:cNvSpPr/>
          <p:nvPr/>
        </p:nvSpPr>
        <p:spPr>
          <a:xfrm>
            <a:off x="1417320" y="4197096"/>
            <a:ext cx="9601200" cy="548640"/>
          </a:xfrm>
          <a:prstGeom prst="rect">
            <a:avLst/>
          </a:prstGeom>
          <a:noFill/>
          <a:ln/>
        </p:spPr>
        <p:txBody>
          <a:bodyPr wrap="square" rtlCol="0" anchor="t"/>
          <a:lstStyle/>
          <a:p>
            <a:pPr indent="0" marL="0">
              <a:buNone/>
            </a:pPr>
            <a:r>
              <a:rPr lang="en-US" sz="1250" dirty="0">
                <a:solidFill>
                  <a:srgbClr val="6B7280"/>
                </a:solidFill>
                <a:latin typeface="Calibri" pitchFamily="34" charset="0"/>
                <a:ea typeface="Calibri" pitchFamily="34" charset="-122"/>
                <a:cs typeface="Calibri" pitchFamily="34" charset="-120"/>
              </a:rPr>
              <a:t>Cross-border data, conflicting privacy laws, and jurisdictional gaps complicate admissibility.</a:t>
            </a:r>
            <a:endParaRPr lang="en-US" sz="1250" dirty="0"/>
          </a:p>
        </p:txBody>
      </p:sp>
      <p:sp>
        <p:nvSpPr>
          <p:cNvPr id="16" name="Shape 11"/>
          <p:cNvSpPr/>
          <p:nvPr/>
        </p:nvSpPr>
        <p:spPr>
          <a:xfrm>
            <a:off x="640080" y="4983480"/>
            <a:ext cx="566928" cy="566928"/>
          </a:xfrm>
          <a:prstGeom prst="ellipse">
            <a:avLst/>
          </a:prstGeom>
          <a:solidFill>
            <a:srgbClr val="111C42"/>
          </a:solidFill>
          <a:ln/>
        </p:spPr>
      </p:sp>
      <p:pic>
        <p:nvPicPr>
          <p:cNvPr id="17" name="Image 3" descr="icon_question_00C2A8.png">    </p:cNvPr>
          <p:cNvPicPr>
            <a:picLocks noChangeAspect="1"/>
          </p:cNvPicPr>
          <p:nvPr/>
        </p:nvPicPr>
        <p:blipFill>
          <a:blip r:embed="rId4"/>
          <a:stretch>
            <a:fillRect/>
          </a:stretch>
        </p:blipFill>
        <p:spPr>
          <a:xfrm>
            <a:off x="758952" y="5102352"/>
            <a:ext cx="329184" cy="329184"/>
          </a:xfrm>
          <a:prstGeom prst="rect">
            <a:avLst/>
          </a:prstGeom>
        </p:spPr>
      </p:pic>
      <p:sp>
        <p:nvSpPr>
          <p:cNvPr id="18" name="Text 12"/>
          <p:cNvSpPr/>
          <p:nvPr/>
        </p:nvSpPr>
        <p:spPr>
          <a:xfrm>
            <a:off x="1417320" y="4928616"/>
            <a:ext cx="4206240" cy="365760"/>
          </a:xfrm>
          <a:prstGeom prst="rect">
            <a:avLst/>
          </a:prstGeom>
          <a:noFill/>
          <a:ln/>
        </p:spPr>
        <p:txBody>
          <a:bodyPr wrap="square" rtlCol="0" anchor="ctr"/>
          <a:lstStyle/>
          <a:p>
            <a:pPr indent="0" marL="0">
              <a:buNone/>
            </a:pPr>
            <a:r>
              <a:rPr lang="en-US" sz="1500" b="1" dirty="0">
                <a:solidFill>
                  <a:srgbClr val="1A1F36"/>
                </a:solidFill>
                <a:latin typeface="Calibri" pitchFamily="34" charset="0"/>
                <a:ea typeface="Calibri" pitchFamily="34" charset="-122"/>
                <a:cs typeface="Calibri" pitchFamily="34" charset="-120"/>
              </a:rPr>
              <a:t>Fragmented solutions</a:t>
            </a:r>
            <a:endParaRPr lang="en-US" sz="1500" dirty="0"/>
          </a:p>
        </p:txBody>
      </p:sp>
      <p:sp>
        <p:nvSpPr>
          <p:cNvPr id="19" name="Text 13"/>
          <p:cNvSpPr/>
          <p:nvPr/>
        </p:nvSpPr>
        <p:spPr>
          <a:xfrm>
            <a:off x="1417320" y="5294376"/>
            <a:ext cx="9601200" cy="548640"/>
          </a:xfrm>
          <a:prstGeom prst="rect">
            <a:avLst/>
          </a:prstGeom>
          <a:noFill/>
          <a:ln/>
        </p:spPr>
        <p:txBody>
          <a:bodyPr wrap="square" rtlCol="0" anchor="t"/>
          <a:lstStyle/>
          <a:p>
            <a:pPr indent="0" marL="0">
              <a:buNone/>
            </a:pPr>
            <a:r>
              <a:rPr lang="en-US" sz="1250" dirty="0">
                <a:solidFill>
                  <a:srgbClr val="6B7280"/>
                </a:solidFill>
                <a:latin typeface="Calibri" pitchFamily="34" charset="0"/>
                <a:ea typeface="Calibri" pitchFamily="34" charset="-122"/>
                <a:cs typeface="Calibri" pitchFamily="34" charset="-120"/>
              </a:rPr>
              <a:t>AI, blockchain, and automation each help — but no unified view ties acquisition, trust, law, and standards together.</a:t>
            </a:r>
            <a:endParaRPr lang="en-US" sz="1250" dirty="0"/>
          </a:p>
        </p:txBody>
      </p:sp>
      <p:sp>
        <p:nvSpPr>
          <p:cNvPr id="20" name="Text 14"/>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21" name="Text 15"/>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Research Questions</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Four questions structure the entire survey</a:t>
            </a:r>
            <a:endParaRPr lang="en-US" sz="1500" dirty="0"/>
          </a:p>
        </p:txBody>
      </p:sp>
      <p:sp>
        <p:nvSpPr>
          <p:cNvPr id="4" name="Shape 2"/>
          <p:cNvSpPr/>
          <p:nvPr/>
        </p:nvSpPr>
        <p:spPr>
          <a:xfrm>
            <a:off x="640080" y="1691640"/>
            <a:ext cx="5074920" cy="1965960"/>
          </a:xfrm>
          <a:prstGeom prst="roundRect">
            <a:avLst>
              <a:gd name="adj" fmla="val 4651"/>
            </a:avLst>
          </a:prstGeom>
          <a:solidFill>
            <a:srgbClr val="FFFFFF"/>
          </a:solidFill>
          <a:ln w="12700">
            <a:solidFill>
              <a:srgbClr val="E2E7F3"/>
            </a:solidFill>
            <a:prstDash val="solid"/>
          </a:ln>
          <a:effectLst>
            <a:outerShdw sx="100000" sy="100000" kx="0" ky="0" algn="bl" rotWithShape="0" blurRad="101600" dist="38100" dir="5400000">
              <a:srgbClr val="1A1F36">
                <a:alpha val="12000"/>
              </a:srgbClr>
            </a:outerShdw>
          </a:effectLst>
        </p:spPr>
      </p:sp>
      <p:sp>
        <p:nvSpPr>
          <p:cNvPr id="5" name="Shape 3"/>
          <p:cNvSpPr/>
          <p:nvPr/>
        </p:nvSpPr>
        <p:spPr>
          <a:xfrm>
            <a:off x="896112" y="1929384"/>
            <a:ext cx="640080" cy="640080"/>
          </a:xfrm>
          <a:prstGeom prst="ellipse">
            <a:avLst/>
          </a:prstGeom>
          <a:solidFill>
            <a:srgbClr val="111C42"/>
          </a:solidFill>
          <a:ln/>
        </p:spPr>
      </p:sp>
      <p:sp>
        <p:nvSpPr>
          <p:cNvPr id="6" name="Text 4"/>
          <p:cNvSpPr/>
          <p:nvPr/>
        </p:nvSpPr>
        <p:spPr>
          <a:xfrm>
            <a:off x="896112" y="1929384"/>
            <a:ext cx="640080" cy="640080"/>
          </a:xfrm>
          <a:prstGeom prst="rect">
            <a:avLst/>
          </a:prstGeom>
          <a:noFill/>
          <a:ln/>
        </p:spPr>
        <p:txBody>
          <a:bodyPr wrap="square" rtlCol="0" anchor="ctr"/>
          <a:lstStyle/>
          <a:p>
            <a:pPr algn="ctr" indent="0" marL="0">
              <a:buNone/>
            </a:pPr>
            <a:r>
              <a:rPr lang="en-US" sz="1500" b="1" dirty="0">
                <a:solidFill>
                  <a:srgbClr val="00C2A8"/>
                </a:solidFill>
                <a:latin typeface="Calibri" pitchFamily="34" charset="0"/>
                <a:ea typeface="Calibri" pitchFamily="34" charset="-122"/>
                <a:cs typeface="Calibri" pitchFamily="34" charset="-120"/>
              </a:rPr>
              <a:t>RQ1</a:t>
            </a:r>
            <a:endParaRPr lang="en-US" sz="1500" dirty="0"/>
          </a:p>
        </p:txBody>
      </p:sp>
      <p:sp>
        <p:nvSpPr>
          <p:cNvPr id="7" name="Text 5"/>
          <p:cNvSpPr/>
          <p:nvPr/>
        </p:nvSpPr>
        <p:spPr>
          <a:xfrm>
            <a:off x="1691640" y="1947672"/>
            <a:ext cx="3794760" cy="411480"/>
          </a:xfrm>
          <a:prstGeom prst="rect">
            <a:avLst/>
          </a:prstGeom>
          <a:noFill/>
          <a:ln/>
        </p:spPr>
        <p:txBody>
          <a:bodyPr wrap="square" rtlCol="0" anchor="ctr"/>
          <a:lstStyle/>
          <a:p>
            <a:pPr indent="0" marL="0">
              <a:buNone/>
            </a:pPr>
            <a:r>
              <a:rPr lang="en-US" sz="1550" b="1" dirty="0">
                <a:solidFill>
                  <a:srgbClr val="1A1F36"/>
                </a:solidFill>
                <a:latin typeface="Calibri" pitchFamily="34" charset="0"/>
                <a:ea typeface="Calibri" pitchFamily="34" charset="-122"/>
                <a:cs typeface="Calibri" pitchFamily="34" charset="-120"/>
              </a:rPr>
              <a:t>Evidence Acquisition</a:t>
            </a:r>
            <a:endParaRPr lang="en-US" sz="1550" dirty="0"/>
          </a:p>
        </p:txBody>
      </p:sp>
      <p:sp>
        <p:nvSpPr>
          <p:cNvPr id="8" name="Text 6"/>
          <p:cNvSpPr/>
          <p:nvPr/>
        </p:nvSpPr>
        <p:spPr>
          <a:xfrm>
            <a:off x="896112" y="2651760"/>
            <a:ext cx="4572000" cy="91440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can scalable, forensically sound acquisition be achieved across SaaS, PaaS, and IaaS?</a:t>
            </a:r>
            <a:endParaRPr lang="en-US" sz="1200" dirty="0"/>
          </a:p>
        </p:txBody>
      </p:sp>
      <p:sp>
        <p:nvSpPr>
          <p:cNvPr id="9" name="Shape 7"/>
          <p:cNvSpPr/>
          <p:nvPr/>
        </p:nvSpPr>
        <p:spPr>
          <a:xfrm>
            <a:off x="6035040" y="1691640"/>
            <a:ext cx="5074920" cy="1965960"/>
          </a:xfrm>
          <a:prstGeom prst="roundRect">
            <a:avLst>
              <a:gd name="adj" fmla="val 4651"/>
            </a:avLst>
          </a:prstGeom>
          <a:solidFill>
            <a:srgbClr val="FFFFFF"/>
          </a:solidFill>
          <a:ln w="12700">
            <a:solidFill>
              <a:srgbClr val="E2E7F3"/>
            </a:solidFill>
            <a:prstDash val="solid"/>
          </a:ln>
          <a:effectLst>
            <a:outerShdw sx="100000" sy="100000" kx="0" ky="0" algn="bl" rotWithShape="0" blurRad="101600" dist="38100" dir="5400000">
              <a:srgbClr val="1A1F36">
                <a:alpha val="12000"/>
              </a:srgbClr>
            </a:outerShdw>
          </a:effectLst>
        </p:spPr>
      </p:sp>
      <p:sp>
        <p:nvSpPr>
          <p:cNvPr id="10" name="Shape 8"/>
          <p:cNvSpPr/>
          <p:nvPr/>
        </p:nvSpPr>
        <p:spPr>
          <a:xfrm>
            <a:off x="6291072" y="1929384"/>
            <a:ext cx="640080" cy="640080"/>
          </a:xfrm>
          <a:prstGeom prst="ellipse">
            <a:avLst/>
          </a:prstGeom>
          <a:solidFill>
            <a:srgbClr val="111C42"/>
          </a:solidFill>
          <a:ln/>
        </p:spPr>
      </p:sp>
      <p:sp>
        <p:nvSpPr>
          <p:cNvPr id="11" name="Text 9"/>
          <p:cNvSpPr/>
          <p:nvPr/>
        </p:nvSpPr>
        <p:spPr>
          <a:xfrm>
            <a:off x="6291072" y="1929384"/>
            <a:ext cx="640080" cy="640080"/>
          </a:xfrm>
          <a:prstGeom prst="rect">
            <a:avLst/>
          </a:prstGeom>
          <a:noFill/>
          <a:ln/>
        </p:spPr>
        <p:txBody>
          <a:bodyPr wrap="square" rtlCol="0" anchor="ctr"/>
          <a:lstStyle/>
          <a:p>
            <a:pPr algn="ctr" indent="0" marL="0">
              <a:buNone/>
            </a:pPr>
            <a:r>
              <a:rPr lang="en-US" sz="1500" b="1" dirty="0">
                <a:solidFill>
                  <a:srgbClr val="00C2A8"/>
                </a:solidFill>
                <a:latin typeface="Calibri" pitchFamily="34" charset="0"/>
                <a:ea typeface="Calibri" pitchFamily="34" charset="-122"/>
                <a:cs typeface="Calibri" pitchFamily="34" charset="-120"/>
              </a:rPr>
              <a:t>RQ2</a:t>
            </a:r>
            <a:endParaRPr lang="en-US" sz="1500" dirty="0"/>
          </a:p>
        </p:txBody>
      </p:sp>
      <p:sp>
        <p:nvSpPr>
          <p:cNvPr id="12" name="Text 10"/>
          <p:cNvSpPr/>
          <p:nvPr/>
        </p:nvSpPr>
        <p:spPr>
          <a:xfrm>
            <a:off x="7086600" y="1947672"/>
            <a:ext cx="3794760" cy="411480"/>
          </a:xfrm>
          <a:prstGeom prst="rect">
            <a:avLst/>
          </a:prstGeom>
          <a:noFill/>
          <a:ln/>
        </p:spPr>
        <p:txBody>
          <a:bodyPr wrap="square" rtlCol="0" anchor="ctr"/>
          <a:lstStyle/>
          <a:p>
            <a:pPr indent="0" marL="0">
              <a:buNone/>
            </a:pPr>
            <a:r>
              <a:rPr lang="en-US" sz="1550" b="1" dirty="0">
                <a:solidFill>
                  <a:srgbClr val="1A1F36"/>
                </a:solidFill>
                <a:latin typeface="Calibri" pitchFamily="34" charset="0"/>
                <a:ea typeface="Calibri" pitchFamily="34" charset="-122"/>
                <a:cs typeface="Calibri" pitchFamily="34" charset="-120"/>
              </a:rPr>
              <a:t>Integrity &amp; Provenance</a:t>
            </a:r>
            <a:endParaRPr lang="en-US" sz="1550" dirty="0"/>
          </a:p>
        </p:txBody>
      </p:sp>
      <p:sp>
        <p:nvSpPr>
          <p:cNvPr id="13" name="Text 11"/>
          <p:cNvSpPr/>
          <p:nvPr/>
        </p:nvSpPr>
        <p:spPr>
          <a:xfrm>
            <a:off x="6291072" y="2651760"/>
            <a:ext cx="4572000" cy="91440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mechanisms guarantee integrity, authenticity, and non-repudiation of cloud evidence?</a:t>
            </a:r>
            <a:endParaRPr lang="en-US" sz="1200" dirty="0"/>
          </a:p>
        </p:txBody>
      </p:sp>
      <p:sp>
        <p:nvSpPr>
          <p:cNvPr id="14" name="Shape 12"/>
          <p:cNvSpPr/>
          <p:nvPr/>
        </p:nvSpPr>
        <p:spPr>
          <a:xfrm>
            <a:off x="640080" y="3931920"/>
            <a:ext cx="5074920" cy="1965960"/>
          </a:xfrm>
          <a:prstGeom prst="roundRect">
            <a:avLst>
              <a:gd name="adj" fmla="val 4651"/>
            </a:avLst>
          </a:prstGeom>
          <a:solidFill>
            <a:srgbClr val="FFFFFF"/>
          </a:solidFill>
          <a:ln w="12700">
            <a:solidFill>
              <a:srgbClr val="E2E7F3"/>
            </a:solidFill>
            <a:prstDash val="solid"/>
          </a:ln>
          <a:effectLst>
            <a:outerShdw sx="100000" sy="100000" kx="0" ky="0" algn="bl" rotWithShape="0" blurRad="101600" dist="38100" dir="5400000">
              <a:srgbClr val="1A1F36">
                <a:alpha val="12000"/>
              </a:srgbClr>
            </a:outerShdw>
          </a:effectLst>
        </p:spPr>
      </p:sp>
      <p:sp>
        <p:nvSpPr>
          <p:cNvPr id="15" name="Shape 13"/>
          <p:cNvSpPr/>
          <p:nvPr/>
        </p:nvSpPr>
        <p:spPr>
          <a:xfrm>
            <a:off x="896112" y="4169664"/>
            <a:ext cx="640080" cy="640080"/>
          </a:xfrm>
          <a:prstGeom prst="ellipse">
            <a:avLst/>
          </a:prstGeom>
          <a:solidFill>
            <a:srgbClr val="111C42"/>
          </a:solidFill>
          <a:ln/>
        </p:spPr>
      </p:sp>
      <p:sp>
        <p:nvSpPr>
          <p:cNvPr id="16" name="Text 14"/>
          <p:cNvSpPr/>
          <p:nvPr/>
        </p:nvSpPr>
        <p:spPr>
          <a:xfrm>
            <a:off x="896112" y="4169664"/>
            <a:ext cx="640080" cy="640080"/>
          </a:xfrm>
          <a:prstGeom prst="rect">
            <a:avLst/>
          </a:prstGeom>
          <a:noFill/>
          <a:ln/>
        </p:spPr>
        <p:txBody>
          <a:bodyPr wrap="square" rtlCol="0" anchor="ctr"/>
          <a:lstStyle/>
          <a:p>
            <a:pPr algn="ctr" indent="0" marL="0">
              <a:buNone/>
            </a:pPr>
            <a:r>
              <a:rPr lang="en-US" sz="1500" b="1" dirty="0">
                <a:solidFill>
                  <a:srgbClr val="00C2A8"/>
                </a:solidFill>
                <a:latin typeface="Calibri" pitchFamily="34" charset="0"/>
                <a:ea typeface="Calibri" pitchFamily="34" charset="-122"/>
                <a:cs typeface="Calibri" pitchFamily="34" charset="-120"/>
              </a:rPr>
              <a:t>RQ3</a:t>
            </a:r>
            <a:endParaRPr lang="en-US" sz="1500" dirty="0"/>
          </a:p>
        </p:txBody>
      </p:sp>
      <p:sp>
        <p:nvSpPr>
          <p:cNvPr id="17" name="Text 15"/>
          <p:cNvSpPr/>
          <p:nvPr/>
        </p:nvSpPr>
        <p:spPr>
          <a:xfrm>
            <a:off x="1691640" y="4187952"/>
            <a:ext cx="3794760" cy="411480"/>
          </a:xfrm>
          <a:prstGeom prst="rect">
            <a:avLst/>
          </a:prstGeom>
          <a:noFill/>
          <a:ln/>
        </p:spPr>
        <p:txBody>
          <a:bodyPr wrap="square" rtlCol="0" anchor="ctr"/>
          <a:lstStyle/>
          <a:p>
            <a:pPr indent="0" marL="0">
              <a:buNone/>
            </a:pPr>
            <a:r>
              <a:rPr lang="en-US" sz="1550" b="1" dirty="0">
                <a:solidFill>
                  <a:srgbClr val="1A1F36"/>
                </a:solidFill>
                <a:latin typeface="Calibri" pitchFamily="34" charset="0"/>
                <a:ea typeface="Calibri" pitchFamily="34" charset="-122"/>
                <a:cs typeface="Calibri" pitchFamily="34" charset="-120"/>
              </a:rPr>
              <a:t>Jurisdiction &amp; Law</a:t>
            </a:r>
            <a:endParaRPr lang="en-US" sz="1550" dirty="0"/>
          </a:p>
        </p:txBody>
      </p:sp>
      <p:sp>
        <p:nvSpPr>
          <p:cNvPr id="18" name="Text 16"/>
          <p:cNvSpPr/>
          <p:nvPr/>
        </p:nvSpPr>
        <p:spPr>
          <a:xfrm>
            <a:off x="896112" y="4892040"/>
            <a:ext cx="4572000" cy="91440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do privacy laws and jurisdiction issues affect admissibility of cloud evidence?</a:t>
            </a:r>
            <a:endParaRPr lang="en-US" sz="1200" dirty="0"/>
          </a:p>
        </p:txBody>
      </p:sp>
      <p:sp>
        <p:nvSpPr>
          <p:cNvPr id="19" name="Shape 17"/>
          <p:cNvSpPr/>
          <p:nvPr/>
        </p:nvSpPr>
        <p:spPr>
          <a:xfrm>
            <a:off x="6035040" y="3931920"/>
            <a:ext cx="5074920" cy="1965960"/>
          </a:xfrm>
          <a:prstGeom prst="roundRect">
            <a:avLst>
              <a:gd name="adj" fmla="val 4651"/>
            </a:avLst>
          </a:prstGeom>
          <a:solidFill>
            <a:srgbClr val="FFFFFF"/>
          </a:solidFill>
          <a:ln w="12700">
            <a:solidFill>
              <a:srgbClr val="E2E7F3"/>
            </a:solidFill>
            <a:prstDash val="solid"/>
          </a:ln>
          <a:effectLst>
            <a:outerShdw sx="100000" sy="100000" kx="0" ky="0" algn="bl" rotWithShape="0" blurRad="101600" dist="38100" dir="5400000">
              <a:srgbClr val="1A1F36">
                <a:alpha val="12000"/>
              </a:srgbClr>
            </a:outerShdw>
          </a:effectLst>
        </p:spPr>
      </p:sp>
      <p:sp>
        <p:nvSpPr>
          <p:cNvPr id="20" name="Shape 18"/>
          <p:cNvSpPr/>
          <p:nvPr/>
        </p:nvSpPr>
        <p:spPr>
          <a:xfrm>
            <a:off x="6291072" y="4169664"/>
            <a:ext cx="640080" cy="640080"/>
          </a:xfrm>
          <a:prstGeom prst="ellipse">
            <a:avLst/>
          </a:prstGeom>
          <a:solidFill>
            <a:srgbClr val="111C42"/>
          </a:solidFill>
          <a:ln/>
        </p:spPr>
      </p:sp>
      <p:sp>
        <p:nvSpPr>
          <p:cNvPr id="21" name="Text 19"/>
          <p:cNvSpPr/>
          <p:nvPr/>
        </p:nvSpPr>
        <p:spPr>
          <a:xfrm>
            <a:off x="6291072" y="4169664"/>
            <a:ext cx="640080" cy="640080"/>
          </a:xfrm>
          <a:prstGeom prst="rect">
            <a:avLst/>
          </a:prstGeom>
          <a:noFill/>
          <a:ln/>
        </p:spPr>
        <p:txBody>
          <a:bodyPr wrap="square" rtlCol="0" anchor="ctr"/>
          <a:lstStyle/>
          <a:p>
            <a:pPr algn="ctr" indent="0" marL="0">
              <a:buNone/>
            </a:pPr>
            <a:r>
              <a:rPr lang="en-US" sz="1500" b="1" dirty="0">
                <a:solidFill>
                  <a:srgbClr val="00C2A8"/>
                </a:solidFill>
                <a:latin typeface="Calibri" pitchFamily="34" charset="0"/>
                <a:ea typeface="Calibri" pitchFamily="34" charset="-122"/>
                <a:cs typeface="Calibri" pitchFamily="34" charset="-120"/>
              </a:rPr>
              <a:t>RQ4</a:t>
            </a:r>
            <a:endParaRPr lang="en-US" sz="1500" dirty="0"/>
          </a:p>
        </p:txBody>
      </p:sp>
      <p:sp>
        <p:nvSpPr>
          <p:cNvPr id="22" name="Text 20"/>
          <p:cNvSpPr/>
          <p:nvPr/>
        </p:nvSpPr>
        <p:spPr>
          <a:xfrm>
            <a:off x="7086600" y="4187952"/>
            <a:ext cx="3794760" cy="411480"/>
          </a:xfrm>
          <a:prstGeom prst="rect">
            <a:avLst/>
          </a:prstGeom>
          <a:noFill/>
          <a:ln/>
        </p:spPr>
        <p:txBody>
          <a:bodyPr wrap="square" rtlCol="0" anchor="ctr"/>
          <a:lstStyle/>
          <a:p>
            <a:pPr indent="0" marL="0">
              <a:buNone/>
            </a:pPr>
            <a:r>
              <a:rPr lang="en-US" sz="1550" b="1" dirty="0">
                <a:solidFill>
                  <a:srgbClr val="1A1F36"/>
                </a:solidFill>
                <a:latin typeface="Calibri" pitchFamily="34" charset="0"/>
                <a:ea typeface="Calibri" pitchFamily="34" charset="-122"/>
                <a:cs typeface="Calibri" pitchFamily="34" charset="-120"/>
              </a:rPr>
              <a:t>Standardization</a:t>
            </a:r>
            <a:endParaRPr lang="en-US" sz="1550" dirty="0"/>
          </a:p>
        </p:txBody>
      </p:sp>
      <p:sp>
        <p:nvSpPr>
          <p:cNvPr id="23" name="Text 21"/>
          <p:cNvSpPr/>
          <p:nvPr/>
        </p:nvSpPr>
        <p:spPr>
          <a:xfrm>
            <a:off x="6291072" y="4892040"/>
            <a:ext cx="4572000" cy="914400"/>
          </a:xfrm>
          <a:prstGeom prst="rect">
            <a:avLst/>
          </a:prstGeom>
          <a:noFill/>
          <a:ln/>
        </p:spPr>
        <p:txBody>
          <a:bodyPr wrap="square" rtlCol="0" anchor="t"/>
          <a:lstStyle/>
          <a:p>
            <a:pPr indent="0" marL="0">
              <a:buNone/>
            </a:pPr>
            <a:r>
              <a:rPr lang="en-US" sz="1200" dirty="0">
                <a:solidFill>
                  <a:srgbClr val="6B7280"/>
                </a:solidFill>
                <a:latin typeface="Calibri" pitchFamily="34" charset="0"/>
                <a:ea typeface="Calibri" pitchFamily="34" charset="-122"/>
                <a:cs typeface="Calibri" pitchFamily="34" charset="-120"/>
              </a:rPr>
              <a:t>How can standardized, interoperable frameworks improve cloud forensic investigations?</a:t>
            </a:r>
            <a:endParaRPr lang="en-US" sz="1200" dirty="0"/>
          </a:p>
        </p:txBody>
      </p:sp>
      <p:sp>
        <p:nvSpPr>
          <p:cNvPr id="24" name="Text 2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25" name="Text 23"/>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C42"/>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Methodology</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PRISMA-guided systematic review — transparent and reproducible</a:t>
            </a:r>
            <a:endParaRPr lang="en-US" sz="1500" dirty="0"/>
          </a:p>
        </p:txBody>
      </p:sp>
      <p:sp>
        <p:nvSpPr>
          <p:cNvPr id="4" name="Shape 2"/>
          <p:cNvSpPr/>
          <p:nvPr/>
        </p:nvSpPr>
        <p:spPr>
          <a:xfrm>
            <a:off x="586588" y="2331720"/>
            <a:ext cx="2514600" cy="2651760"/>
          </a:xfrm>
          <a:prstGeom prst="roundRect">
            <a:avLst>
              <a:gd name="adj" fmla="val 4364"/>
            </a:avLst>
          </a:prstGeom>
          <a:solidFill>
            <a:srgbClr val="1B2A5B"/>
          </a:solidFill>
          <a:ln w="12700">
            <a:solidFill>
              <a:srgbClr val="3E5C8A"/>
            </a:solidFill>
            <a:prstDash val="solid"/>
          </a:ln>
        </p:spPr>
      </p:sp>
      <p:sp>
        <p:nvSpPr>
          <p:cNvPr id="5" name="Shape 3"/>
          <p:cNvSpPr/>
          <p:nvPr/>
        </p:nvSpPr>
        <p:spPr>
          <a:xfrm>
            <a:off x="1432408" y="2651760"/>
            <a:ext cx="822960" cy="822960"/>
          </a:xfrm>
          <a:prstGeom prst="ellipse">
            <a:avLst/>
          </a:prstGeom>
          <a:solidFill>
            <a:srgbClr val="00C2A8"/>
          </a:solidFill>
          <a:ln/>
        </p:spPr>
      </p:sp>
      <p:pic>
        <p:nvPicPr>
          <p:cNvPr id="6" name="Image 0" descr="icon_search_111C42.png">    </p:cNvPr>
          <p:cNvPicPr>
            <a:picLocks noChangeAspect="1"/>
          </p:cNvPicPr>
          <p:nvPr/>
        </p:nvPicPr>
        <p:blipFill>
          <a:blip r:embed="rId1"/>
          <a:stretch>
            <a:fillRect/>
          </a:stretch>
        </p:blipFill>
        <p:spPr>
          <a:xfrm>
            <a:off x="1606144" y="2825496"/>
            <a:ext cx="475488" cy="475488"/>
          </a:xfrm>
          <a:prstGeom prst="rect">
            <a:avLst/>
          </a:prstGeom>
        </p:spPr>
      </p:pic>
      <p:sp>
        <p:nvSpPr>
          <p:cNvPr id="7" name="Text 4"/>
          <p:cNvSpPr/>
          <p:nvPr/>
        </p:nvSpPr>
        <p:spPr>
          <a:xfrm>
            <a:off x="2598268" y="2423160"/>
            <a:ext cx="411480" cy="365760"/>
          </a:xfrm>
          <a:prstGeom prst="rect">
            <a:avLst/>
          </a:prstGeom>
          <a:noFill/>
          <a:ln/>
        </p:spPr>
        <p:txBody>
          <a:bodyPr wrap="square" rtlCol="0" anchor="ctr"/>
          <a:lstStyle/>
          <a:p>
            <a:pPr algn="r" indent="0" marL="0">
              <a:buNone/>
            </a:pPr>
            <a:r>
              <a:rPr lang="en-US" sz="1400" b="1" dirty="0">
                <a:solidFill>
                  <a:srgbClr val="5A6690"/>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769468" y="3611880"/>
            <a:ext cx="214884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Identification</a:t>
            </a:r>
            <a:endParaRPr lang="en-US" sz="1600" dirty="0"/>
          </a:p>
        </p:txBody>
      </p:sp>
      <p:sp>
        <p:nvSpPr>
          <p:cNvPr id="9" name="Text 6"/>
          <p:cNvSpPr/>
          <p:nvPr/>
        </p:nvSpPr>
        <p:spPr>
          <a:xfrm>
            <a:off x="815188" y="4069080"/>
            <a:ext cx="2057400" cy="777240"/>
          </a:xfrm>
          <a:prstGeom prst="rect">
            <a:avLst/>
          </a:prstGeom>
          <a:noFill/>
          <a:ln/>
        </p:spPr>
        <p:txBody>
          <a:bodyPr wrap="square" rtlCol="0" anchor="t"/>
          <a:lstStyle/>
          <a:p>
            <a:pPr algn="ctr" indent="0" marL="0">
              <a:buNone/>
            </a:pPr>
            <a:r>
              <a:rPr lang="en-US" sz="1100" dirty="0">
                <a:solidFill>
                  <a:srgbClr val="AEB9DE"/>
                </a:solidFill>
                <a:latin typeface="Calibri" pitchFamily="34" charset="0"/>
                <a:ea typeface="Calibri" pitchFamily="34" charset="-122"/>
                <a:cs typeface="Calibri" pitchFamily="34" charset="-120"/>
              </a:rPr>
              <a:t>IEEE, ACM, ScienceDirect, Springer, Google Scholar</a:t>
            </a:r>
            <a:endParaRPr lang="en-US" sz="1100" dirty="0"/>
          </a:p>
        </p:txBody>
      </p:sp>
      <p:sp>
        <p:nvSpPr>
          <p:cNvPr id="10" name="Text 7"/>
          <p:cNvSpPr/>
          <p:nvPr/>
        </p:nvSpPr>
        <p:spPr>
          <a:xfrm>
            <a:off x="3101188" y="3337560"/>
            <a:ext cx="320040" cy="548640"/>
          </a:xfrm>
          <a:prstGeom prst="rect">
            <a:avLst/>
          </a:prstGeom>
          <a:noFill/>
          <a:ln/>
        </p:spPr>
        <p:txBody>
          <a:bodyPr wrap="square" rtlCol="0" anchor="ctr"/>
          <a:lstStyle/>
          <a:p>
            <a:pPr algn="ctr" indent="0" marL="0">
              <a:buNone/>
            </a:pPr>
            <a:r>
              <a:rPr lang="en-US" sz="2200" b="1" dirty="0">
                <a:solidFill>
                  <a:srgbClr val="00C2A8"/>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421228" y="2331720"/>
            <a:ext cx="2514600" cy="2651760"/>
          </a:xfrm>
          <a:prstGeom prst="roundRect">
            <a:avLst>
              <a:gd name="adj" fmla="val 4364"/>
            </a:avLst>
          </a:prstGeom>
          <a:solidFill>
            <a:srgbClr val="1B2A5B"/>
          </a:solidFill>
          <a:ln w="12700">
            <a:solidFill>
              <a:srgbClr val="3E5C8A"/>
            </a:solidFill>
            <a:prstDash val="solid"/>
          </a:ln>
        </p:spPr>
      </p:sp>
      <p:sp>
        <p:nvSpPr>
          <p:cNvPr id="12" name="Shape 9"/>
          <p:cNvSpPr/>
          <p:nvPr/>
        </p:nvSpPr>
        <p:spPr>
          <a:xfrm>
            <a:off x="4267048" y="2651760"/>
            <a:ext cx="822960" cy="822960"/>
          </a:xfrm>
          <a:prstGeom prst="ellipse">
            <a:avLst/>
          </a:prstGeom>
          <a:solidFill>
            <a:srgbClr val="00C2A8"/>
          </a:solidFill>
          <a:ln/>
        </p:spPr>
      </p:sp>
      <p:pic>
        <p:nvPicPr>
          <p:cNvPr id="13" name="Image 1" descr="icon_filter_111C42.png">    </p:cNvPr>
          <p:cNvPicPr>
            <a:picLocks noChangeAspect="1"/>
          </p:cNvPicPr>
          <p:nvPr/>
        </p:nvPicPr>
        <p:blipFill>
          <a:blip r:embed="rId2"/>
          <a:stretch>
            <a:fillRect/>
          </a:stretch>
        </p:blipFill>
        <p:spPr>
          <a:xfrm>
            <a:off x="4440784" y="2825496"/>
            <a:ext cx="475488" cy="475488"/>
          </a:xfrm>
          <a:prstGeom prst="rect">
            <a:avLst/>
          </a:prstGeom>
        </p:spPr>
      </p:pic>
      <p:sp>
        <p:nvSpPr>
          <p:cNvPr id="14" name="Text 10"/>
          <p:cNvSpPr/>
          <p:nvPr/>
        </p:nvSpPr>
        <p:spPr>
          <a:xfrm>
            <a:off x="5432908" y="2423160"/>
            <a:ext cx="411480" cy="365760"/>
          </a:xfrm>
          <a:prstGeom prst="rect">
            <a:avLst/>
          </a:prstGeom>
          <a:noFill/>
          <a:ln/>
        </p:spPr>
        <p:txBody>
          <a:bodyPr wrap="square" rtlCol="0" anchor="ctr"/>
          <a:lstStyle/>
          <a:p>
            <a:pPr algn="r" indent="0" marL="0">
              <a:buNone/>
            </a:pPr>
            <a:r>
              <a:rPr lang="en-US" sz="1400" b="1" dirty="0">
                <a:solidFill>
                  <a:srgbClr val="5A6690"/>
                </a:solidFill>
                <a:latin typeface="Calibri" pitchFamily="34" charset="0"/>
                <a:ea typeface="Calibri" pitchFamily="34" charset="-122"/>
                <a:cs typeface="Calibri" pitchFamily="34" charset="-120"/>
              </a:rPr>
              <a:t>2</a:t>
            </a:r>
            <a:endParaRPr lang="en-US" sz="1400" dirty="0"/>
          </a:p>
        </p:txBody>
      </p:sp>
      <p:sp>
        <p:nvSpPr>
          <p:cNvPr id="15" name="Text 11"/>
          <p:cNvSpPr/>
          <p:nvPr/>
        </p:nvSpPr>
        <p:spPr>
          <a:xfrm>
            <a:off x="3604108" y="3611880"/>
            <a:ext cx="214884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Screening</a:t>
            </a:r>
            <a:endParaRPr lang="en-US" sz="1600" dirty="0"/>
          </a:p>
        </p:txBody>
      </p:sp>
      <p:sp>
        <p:nvSpPr>
          <p:cNvPr id="16" name="Text 12"/>
          <p:cNvSpPr/>
          <p:nvPr/>
        </p:nvSpPr>
        <p:spPr>
          <a:xfrm>
            <a:off x="3649828" y="4069080"/>
            <a:ext cx="2057400" cy="777240"/>
          </a:xfrm>
          <a:prstGeom prst="rect">
            <a:avLst/>
          </a:prstGeom>
          <a:noFill/>
          <a:ln/>
        </p:spPr>
        <p:txBody>
          <a:bodyPr wrap="square" rtlCol="0" anchor="t"/>
          <a:lstStyle/>
          <a:p>
            <a:pPr algn="ctr" indent="0" marL="0">
              <a:buNone/>
            </a:pPr>
            <a:r>
              <a:rPr lang="en-US" sz="1100" dirty="0">
                <a:solidFill>
                  <a:srgbClr val="AEB9DE"/>
                </a:solidFill>
                <a:latin typeface="Calibri" pitchFamily="34" charset="0"/>
                <a:ea typeface="Calibri" pitchFamily="34" charset="-122"/>
                <a:cs typeface="Calibri" pitchFamily="34" charset="-120"/>
              </a:rPr>
              <a:t>Duplicates and off-topic works removed</a:t>
            </a:r>
            <a:endParaRPr lang="en-US" sz="1100" dirty="0"/>
          </a:p>
        </p:txBody>
      </p:sp>
      <p:sp>
        <p:nvSpPr>
          <p:cNvPr id="17" name="Text 13"/>
          <p:cNvSpPr/>
          <p:nvPr/>
        </p:nvSpPr>
        <p:spPr>
          <a:xfrm>
            <a:off x="5935828" y="3337560"/>
            <a:ext cx="320040" cy="548640"/>
          </a:xfrm>
          <a:prstGeom prst="rect">
            <a:avLst/>
          </a:prstGeom>
          <a:noFill/>
          <a:ln/>
        </p:spPr>
        <p:txBody>
          <a:bodyPr wrap="square" rtlCol="0" anchor="ctr"/>
          <a:lstStyle/>
          <a:p>
            <a:pPr algn="ctr" indent="0" marL="0">
              <a:buNone/>
            </a:pPr>
            <a:r>
              <a:rPr lang="en-US" sz="2200" b="1" dirty="0">
                <a:solidFill>
                  <a:srgbClr val="00C2A8"/>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6255868" y="2331720"/>
            <a:ext cx="2514600" cy="2651760"/>
          </a:xfrm>
          <a:prstGeom prst="roundRect">
            <a:avLst>
              <a:gd name="adj" fmla="val 4364"/>
            </a:avLst>
          </a:prstGeom>
          <a:solidFill>
            <a:srgbClr val="1B2A5B"/>
          </a:solidFill>
          <a:ln w="12700">
            <a:solidFill>
              <a:srgbClr val="3E5C8A"/>
            </a:solidFill>
            <a:prstDash val="solid"/>
          </a:ln>
        </p:spPr>
      </p:sp>
      <p:sp>
        <p:nvSpPr>
          <p:cNvPr id="19" name="Shape 15"/>
          <p:cNvSpPr/>
          <p:nvPr/>
        </p:nvSpPr>
        <p:spPr>
          <a:xfrm>
            <a:off x="7101688" y="2651760"/>
            <a:ext cx="822960" cy="822960"/>
          </a:xfrm>
          <a:prstGeom prst="ellipse">
            <a:avLst/>
          </a:prstGeom>
          <a:solidFill>
            <a:srgbClr val="00C2A8"/>
          </a:solidFill>
          <a:ln/>
        </p:spPr>
      </p:sp>
      <p:pic>
        <p:nvPicPr>
          <p:cNvPr id="20" name="Image 2" descr="icon_scale_111C42.png">    </p:cNvPr>
          <p:cNvPicPr>
            <a:picLocks noChangeAspect="1"/>
          </p:cNvPicPr>
          <p:nvPr/>
        </p:nvPicPr>
        <p:blipFill>
          <a:blip r:embed="rId3"/>
          <a:stretch>
            <a:fillRect/>
          </a:stretch>
        </p:blipFill>
        <p:spPr>
          <a:xfrm>
            <a:off x="7275424" y="2825496"/>
            <a:ext cx="475488" cy="475488"/>
          </a:xfrm>
          <a:prstGeom prst="rect">
            <a:avLst/>
          </a:prstGeom>
        </p:spPr>
      </p:pic>
      <p:sp>
        <p:nvSpPr>
          <p:cNvPr id="21" name="Text 16"/>
          <p:cNvSpPr/>
          <p:nvPr/>
        </p:nvSpPr>
        <p:spPr>
          <a:xfrm>
            <a:off x="8267548" y="2423160"/>
            <a:ext cx="411480" cy="365760"/>
          </a:xfrm>
          <a:prstGeom prst="rect">
            <a:avLst/>
          </a:prstGeom>
          <a:noFill/>
          <a:ln/>
        </p:spPr>
        <p:txBody>
          <a:bodyPr wrap="square" rtlCol="0" anchor="ctr"/>
          <a:lstStyle/>
          <a:p>
            <a:pPr algn="r" indent="0" marL="0">
              <a:buNone/>
            </a:pPr>
            <a:r>
              <a:rPr lang="en-US" sz="1400" b="1" dirty="0">
                <a:solidFill>
                  <a:srgbClr val="5A6690"/>
                </a:solidFill>
                <a:latin typeface="Calibri" pitchFamily="34" charset="0"/>
                <a:ea typeface="Calibri" pitchFamily="34" charset="-122"/>
                <a:cs typeface="Calibri" pitchFamily="34" charset="-120"/>
              </a:rPr>
              <a:t>3</a:t>
            </a:r>
            <a:endParaRPr lang="en-US" sz="1400" dirty="0"/>
          </a:p>
        </p:txBody>
      </p:sp>
      <p:sp>
        <p:nvSpPr>
          <p:cNvPr id="22" name="Text 17"/>
          <p:cNvSpPr/>
          <p:nvPr/>
        </p:nvSpPr>
        <p:spPr>
          <a:xfrm>
            <a:off x="6438748" y="3611880"/>
            <a:ext cx="214884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Eligibility</a:t>
            </a:r>
            <a:endParaRPr lang="en-US" sz="1600" dirty="0"/>
          </a:p>
        </p:txBody>
      </p:sp>
      <p:sp>
        <p:nvSpPr>
          <p:cNvPr id="23" name="Text 18"/>
          <p:cNvSpPr/>
          <p:nvPr/>
        </p:nvSpPr>
        <p:spPr>
          <a:xfrm>
            <a:off x="6484468" y="4069080"/>
            <a:ext cx="2057400" cy="777240"/>
          </a:xfrm>
          <a:prstGeom prst="rect">
            <a:avLst/>
          </a:prstGeom>
          <a:noFill/>
          <a:ln/>
        </p:spPr>
        <p:txBody>
          <a:bodyPr wrap="square" rtlCol="0" anchor="t"/>
          <a:lstStyle/>
          <a:p>
            <a:pPr algn="ctr" indent="0" marL="0">
              <a:buNone/>
            </a:pPr>
            <a:r>
              <a:rPr lang="en-US" sz="1100" dirty="0">
                <a:solidFill>
                  <a:srgbClr val="AEB9DE"/>
                </a:solidFill>
                <a:latin typeface="Calibri" pitchFamily="34" charset="0"/>
                <a:ea typeface="Calibri" pitchFamily="34" charset="-122"/>
                <a:cs typeface="Calibri" pitchFamily="34" charset="-120"/>
              </a:rPr>
              <a:t>Assessed for methodology, contribution, legal relevance</a:t>
            </a:r>
            <a:endParaRPr lang="en-US" sz="1100" dirty="0"/>
          </a:p>
        </p:txBody>
      </p:sp>
      <p:sp>
        <p:nvSpPr>
          <p:cNvPr id="24" name="Text 19"/>
          <p:cNvSpPr/>
          <p:nvPr/>
        </p:nvSpPr>
        <p:spPr>
          <a:xfrm>
            <a:off x="8770468" y="3337560"/>
            <a:ext cx="320040" cy="548640"/>
          </a:xfrm>
          <a:prstGeom prst="rect">
            <a:avLst/>
          </a:prstGeom>
          <a:noFill/>
          <a:ln/>
        </p:spPr>
        <p:txBody>
          <a:bodyPr wrap="square" rtlCol="0" anchor="ctr"/>
          <a:lstStyle/>
          <a:p>
            <a:pPr algn="ctr" indent="0" marL="0">
              <a:buNone/>
            </a:pPr>
            <a:r>
              <a:rPr lang="en-US" sz="2200" b="1" dirty="0">
                <a:solidFill>
                  <a:srgbClr val="00C2A8"/>
                </a:solidFill>
                <a:latin typeface="Calibri" pitchFamily="34" charset="0"/>
                <a:ea typeface="Calibri" pitchFamily="34" charset="-122"/>
                <a:cs typeface="Calibri" pitchFamily="34" charset="-120"/>
              </a:rPr>
              <a:t>→</a:t>
            </a:r>
            <a:endParaRPr lang="en-US" sz="2200" dirty="0"/>
          </a:p>
        </p:txBody>
      </p:sp>
      <p:sp>
        <p:nvSpPr>
          <p:cNvPr id="25" name="Shape 20"/>
          <p:cNvSpPr/>
          <p:nvPr/>
        </p:nvSpPr>
        <p:spPr>
          <a:xfrm>
            <a:off x="9090508" y="2331720"/>
            <a:ext cx="2514600" cy="2651760"/>
          </a:xfrm>
          <a:prstGeom prst="roundRect">
            <a:avLst>
              <a:gd name="adj" fmla="val 4364"/>
            </a:avLst>
          </a:prstGeom>
          <a:solidFill>
            <a:srgbClr val="1B2A5B"/>
          </a:solidFill>
          <a:ln w="12700">
            <a:solidFill>
              <a:srgbClr val="3E5C8A"/>
            </a:solidFill>
            <a:prstDash val="solid"/>
          </a:ln>
        </p:spPr>
      </p:sp>
      <p:sp>
        <p:nvSpPr>
          <p:cNvPr id="26" name="Shape 21"/>
          <p:cNvSpPr/>
          <p:nvPr/>
        </p:nvSpPr>
        <p:spPr>
          <a:xfrm>
            <a:off x="9936328" y="2651760"/>
            <a:ext cx="822960" cy="822960"/>
          </a:xfrm>
          <a:prstGeom prst="ellipse">
            <a:avLst/>
          </a:prstGeom>
          <a:solidFill>
            <a:srgbClr val="00C2A8"/>
          </a:solidFill>
          <a:ln/>
        </p:spPr>
      </p:sp>
      <p:pic>
        <p:nvPicPr>
          <p:cNvPr id="27" name="Image 3" descr="icon_check_111C42.png">    </p:cNvPr>
          <p:cNvPicPr>
            <a:picLocks noChangeAspect="1"/>
          </p:cNvPicPr>
          <p:nvPr/>
        </p:nvPicPr>
        <p:blipFill>
          <a:blip r:embed="rId4"/>
          <a:stretch>
            <a:fillRect/>
          </a:stretch>
        </p:blipFill>
        <p:spPr>
          <a:xfrm>
            <a:off x="10110064" y="2825496"/>
            <a:ext cx="475488" cy="475488"/>
          </a:xfrm>
          <a:prstGeom prst="rect">
            <a:avLst/>
          </a:prstGeom>
        </p:spPr>
      </p:pic>
      <p:sp>
        <p:nvSpPr>
          <p:cNvPr id="28" name="Text 22"/>
          <p:cNvSpPr/>
          <p:nvPr/>
        </p:nvSpPr>
        <p:spPr>
          <a:xfrm>
            <a:off x="11102188" y="2423160"/>
            <a:ext cx="411480" cy="365760"/>
          </a:xfrm>
          <a:prstGeom prst="rect">
            <a:avLst/>
          </a:prstGeom>
          <a:noFill/>
          <a:ln/>
        </p:spPr>
        <p:txBody>
          <a:bodyPr wrap="square" rtlCol="0" anchor="ctr"/>
          <a:lstStyle/>
          <a:p>
            <a:pPr algn="r" indent="0" marL="0">
              <a:buNone/>
            </a:pPr>
            <a:r>
              <a:rPr lang="en-US" sz="1400" b="1" dirty="0">
                <a:solidFill>
                  <a:srgbClr val="5A6690"/>
                </a:solidFill>
                <a:latin typeface="Calibri" pitchFamily="34" charset="0"/>
                <a:ea typeface="Calibri" pitchFamily="34" charset="-122"/>
                <a:cs typeface="Calibri" pitchFamily="34" charset="-120"/>
              </a:rPr>
              <a:t>4</a:t>
            </a:r>
            <a:endParaRPr lang="en-US" sz="1400" dirty="0"/>
          </a:p>
        </p:txBody>
      </p:sp>
      <p:sp>
        <p:nvSpPr>
          <p:cNvPr id="29" name="Text 23"/>
          <p:cNvSpPr/>
          <p:nvPr/>
        </p:nvSpPr>
        <p:spPr>
          <a:xfrm>
            <a:off x="9273388" y="3611880"/>
            <a:ext cx="214884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Inclusion</a:t>
            </a:r>
            <a:endParaRPr lang="en-US" sz="1600" dirty="0"/>
          </a:p>
        </p:txBody>
      </p:sp>
      <p:sp>
        <p:nvSpPr>
          <p:cNvPr id="30" name="Text 24"/>
          <p:cNvSpPr/>
          <p:nvPr/>
        </p:nvSpPr>
        <p:spPr>
          <a:xfrm>
            <a:off x="9319108" y="4069080"/>
            <a:ext cx="2057400" cy="777240"/>
          </a:xfrm>
          <a:prstGeom prst="rect">
            <a:avLst/>
          </a:prstGeom>
          <a:noFill/>
          <a:ln/>
        </p:spPr>
        <p:txBody>
          <a:bodyPr wrap="square" rtlCol="0" anchor="t"/>
          <a:lstStyle/>
          <a:p>
            <a:pPr algn="ctr" indent="0" marL="0">
              <a:buNone/>
            </a:pPr>
            <a:r>
              <a:rPr lang="en-US" sz="1100" dirty="0">
                <a:solidFill>
                  <a:srgbClr val="AEB9DE"/>
                </a:solidFill>
                <a:latin typeface="Calibri" pitchFamily="34" charset="0"/>
                <a:ea typeface="Calibri" pitchFamily="34" charset="-122"/>
                <a:cs typeface="Calibri" pitchFamily="34" charset="-120"/>
              </a:rPr>
              <a:t>Final corpus mapped to RQ1–RQ4</a:t>
            </a:r>
            <a:endParaRPr lang="en-US" sz="1100" dirty="0"/>
          </a:p>
        </p:txBody>
      </p:sp>
      <p:sp>
        <p:nvSpPr>
          <p:cNvPr id="31" name="Text 25"/>
          <p:cNvSpPr/>
          <p:nvPr/>
        </p:nvSpPr>
        <p:spPr>
          <a:xfrm>
            <a:off x="914400" y="5349240"/>
            <a:ext cx="10332720" cy="457200"/>
          </a:xfrm>
          <a:prstGeom prst="rect">
            <a:avLst/>
          </a:prstGeom>
          <a:noFill/>
          <a:ln/>
        </p:spPr>
        <p:txBody>
          <a:bodyPr wrap="square" rtlCol="0" anchor="ctr"/>
          <a:lstStyle/>
          <a:p>
            <a:pPr algn="ctr" indent="0" marL="0">
              <a:buNone/>
            </a:pPr>
            <a:r>
              <a:rPr lang="en-US" sz="1300" i="1" dirty="0">
                <a:solidFill>
                  <a:srgbClr val="AEB9DE"/>
                </a:solidFill>
                <a:latin typeface="Calibri" pitchFamily="34" charset="0"/>
                <a:ea typeface="Calibri" pitchFamily="34" charset="-122"/>
                <a:cs typeface="Calibri" pitchFamily="34" charset="-120"/>
              </a:rPr>
              <a:t>Qualitative synthesis chosen over meta-analysis — sources are too heterogeneous in method, dataset, and purpose.</a:t>
            </a:r>
            <a:endParaRPr lang="en-US" sz="1300" dirty="0"/>
          </a:p>
        </p:txBody>
      </p:sp>
      <p:sp>
        <p:nvSpPr>
          <p:cNvPr id="32" name="Text 26"/>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33" name="Text 27"/>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Literature Review</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Existing work clusters into four recurring themes</a:t>
            </a:r>
            <a:endParaRPr lang="en-US" sz="1500" dirty="0"/>
          </a:p>
        </p:txBody>
      </p:sp>
      <p:sp>
        <p:nvSpPr>
          <p:cNvPr id="4" name="Shape 2"/>
          <p:cNvSpPr/>
          <p:nvPr/>
        </p:nvSpPr>
        <p:spPr>
          <a:xfrm>
            <a:off x="640080" y="1691640"/>
            <a:ext cx="2514600" cy="3657600"/>
          </a:xfrm>
          <a:prstGeom prst="roundRect">
            <a:avLst>
              <a:gd name="adj" fmla="val 3636"/>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5" name="Shape 3"/>
          <p:cNvSpPr/>
          <p:nvPr/>
        </p:nvSpPr>
        <p:spPr>
          <a:xfrm>
            <a:off x="1531620" y="2011680"/>
            <a:ext cx="731520" cy="731520"/>
          </a:xfrm>
          <a:prstGeom prst="ellipse">
            <a:avLst/>
          </a:prstGeom>
          <a:solidFill>
            <a:srgbClr val="111C42"/>
          </a:solidFill>
          <a:ln/>
        </p:spPr>
      </p:sp>
      <p:pic>
        <p:nvPicPr>
          <p:cNvPr id="6" name="Image 0" descr="icon_upload_00C2A8.png">    </p:cNvPr>
          <p:cNvPicPr>
            <a:picLocks noChangeAspect="1"/>
          </p:cNvPicPr>
          <p:nvPr/>
        </p:nvPicPr>
        <p:blipFill>
          <a:blip r:embed="rId1"/>
          <a:stretch>
            <a:fillRect/>
          </a:stretch>
        </p:blipFill>
        <p:spPr>
          <a:xfrm>
            <a:off x="1677924" y="2157984"/>
            <a:ext cx="438912" cy="438912"/>
          </a:xfrm>
          <a:prstGeom prst="rect">
            <a:avLst/>
          </a:prstGeom>
        </p:spPr>
      </p:pic>
      <p:sp>
        <p:nvSpPr>
          <p:cNvPr id="7" name="Text 4"/>
          <p:cNvSpPr/>
          <p:nvPr/>
        </p:nvSpPr>
        <p:spPr>
          <a:xfrm>
            <a:off x="822960" y="2926080"/>
            <a:ext cx="2148840" cy="640080"/>
          </a:xfrm>
          <a:prstGeom prst="rect">
            <a:avLst/>
          </a:prstGeom>
          <a:noFill/>
          <a:ln/>
        </p:spPr>
        <p:txBody>
          <a:bodyPr wrap="square" rtlCol="0" anchor="ctr"/>
          <a:lstStyle/>
          <a:p>
            <a:pPr algn="ctr" indent="0" marL="0">
              <a:buNone/>
            </a:pPr>
            <a:r>
              <a:rPr lang="en-US" sz="1450" b="1" dirty="0">
                <a:solidFill>
                  <a:srgbClr val="1A1F36"/>
                </a:solidFill>
                <a:latin typeface="Calibri" pitchFamily="34" charset="0"/>
                <a:ea typeface="Calibri" pitchFamily="34" charset="-122"/>
                <a:cs typeface="Calibri" pitchFamily="34" charset="-120"/>
              </a:rPr>
              <a:t>Evidence Acquisition</a:t>
            </a:r>
            <a:endParaRPr lang="en-US" sz="1450" dirty="0"/>
          </a:p>
        </p:txBody>
      </p:sp>
      <p:sp>
        <p:nvSpPr>
          <p:cNvPr id="8" name="Text 5"/>
          <p:cNvSpPr/>
          <p:nvPr/>
        </p:nvSpPr>
        <p:spPr>
          <a:xfrm>
            <a:off x="841248" y="3566160"/>
            <a:ext cx="2112264" cy="164592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SaaS/PaaS/IaaS visibility gaps; IaaS most mature, SaaS most CSP-dependent.</a:t>
            </a:r>
            <a:endParaRPr lang="en-US" sz="1150" dirty="0"/>
          </a:p>
        </p:txBody>
      </p:sp>
      <p:sp>
        <p:nvSpPr>
          <p:cNvPr id="9" name="Shape 6"/>
          <p:cNvSpPr/>
          <p:nvPr/>
        </p:nvSpPr>
        <p:spPr>
          <a:xfrm>
            <a:off x="3410712" y="1691640"/>
            <a:ext cx="2514600" cy="3657600"/>
          </a:xfrm>
          <a:prstGeom prst="roundRect">
            <a:avLst>
              <a:gd name="adj" fmla="val 3636"/>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10" name="Shape 7"/>
          <p:cNvSpPr/>
          <p:nvPr/>
        </p:nvSpPr>
        <p:spPr>
          <a:xfrm>
            <a:off x="4302252" y="2011680"/>
            <a:ext cx="731520" cy="731520"/>
          </a:xfrm>
          <a:prstGeom prst="ellipse">
            <a:avLst/>
          </a:prstGeom>
          <a:solidFill>
            <a:srgbClr val="111C42"/>
          </a:solidFill>
          <a:ln/>
        </p:spPr>
      </p:sp>
      <p:pic>
        <p:nvPicPr>
          <p:cNvPr id="11" name="Image 1" descr="icon_shield_00C2A8.png">    </p:cNvPr>
          <p:cNvPicPr>
            <a:picLocks noChangeAspect="1"/>
          </p:cNvPicPr>
          <p:nvPr/>
        </p:nvPicPr>
        <p:blipFill>
          <a:blip r:embed="rId2"/>
          <a:stretch>
            <a:fillRect/>
          </a:stretch>
        </p:blipFill>
        <p:spPr>
          <a:xfrm>
            <a:off x="4448556" y="2157984"/>
            <a:ext cx="438912" cy="438912"/>
          </a:xfrm>
          <a:prstGeom prst="rect">
            <a:avLst/>
          </a:prstGeom>
        </p:spPr>
      </p:pic>
      <p:sp>
        <p:nvSpPr>
          <p:cNvPr id="12" name="Text 8"/>
          <p:cNvSpPr/>
          <p:nvPr/>
        </p:nvSpPr>
        <p:spPr>
          <a:xfrm>
            <a:off x="3593592" y="2926080"/>
            <a:ext cx="2148840" cy="640080"/>
          </a:xfrm>
          <a:prstGeom prst="rect">
            <a:avLst/>
          </a:prstGeom>
          <a:noFill/>
          <a:ln/>
        </p:spPr>
        <p:txBody>
          <a:bodyPr wrap="square" rtlCol="0" anchor="ctr"/>
          <a:lstStyle/>
          <a:p>
            <a:pPr algn="ctr" indent="0" marL="0">
              <a:buNone/>
            </a:pPr>
            <a:r>
              <a:rPr lang="en-US" sz="1450" b="1" dirty="0">
                <a:solidFill>
                  <a:srgbClr val="1A1F36"/>
                </a:solidFill>
                <a:latin typeface="Calibri" pitchFamily="34" charset="0"/>
                <a:ea typeface="Calibri" pitchFamily="34" charset="-122"/>
                <a:cs typeface="Calibri" pitchFamily="34" charset="-120"/>
              </a:rPr>
              <a:t>Integrity &amp; Trust</a:t>
            </a:r>
            <a:endParaRPr lang="en-US" sz="1450" dirty="0"/>
          </a:p>
        </p:txBody>
      </p:sp>
      <p:sp>
        <p:nvSpPr>
          <p:cNvPr id="13" name="Text 9"/>
          <p:cNvSpPr/>
          <p:nvPr/>
        </p:nvSpPr>
        <p:spPr>
          <a:xfrm>
            <a:off x="3611880" y="3566160"/>
            <a:ext cx="2112264" cy="164592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Blockchain provenance, cryptographic hashing, and trusted logging dominate.</a:t>
            </a:r>
            <a:endParaRPr lang="en-US" sz="1150" dirty="0"/>
          </a:p>
        </p:txBody>
      </p:sp>
      <p:sp>
        <p:nvSpPr>
          <p:cNvPr id="14" name="Shape 10"/>
          <p:cNvSpPr/>
          <p:nvPr/>
        </p:nvSpPr>
        <p:spPr>
          <a:xfrm>
            <a:off x="6181344" y="1691640"/>
            <a:ext cx="2514600" cy="3657600"/>
          </a:xfrm>
          <a:prstGeom prst="roundRect">
            <a:avLst>
              <a:gd name="adj" fmla="val 3636"/>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15" name="Shape 11"/>
          <p:cNvSpPr/>
          <p:nvPr/>
        </p:nvSpPr>
        <p:spPr>
          <a:xfrm>
            <a:off x="7072884" y="2011680"/>
            <a:ext cx="731520" cy="731520"/>
          </a:xfrm>
          <a:prstGeom prst="ellipse">
            <a:avLst/>
          </a:prstGeom>
          <a:solidFill>
            <a:srgbClr val="111C42"/>
          </a:solidFill>
          <a:ln/>
        </p:spPr>
      </p:sp>
      <p:pic>
        <p:nvPicPr>
          <p:cNvPr id="16" name="Image 2" descr="icon_gavel_00C2A8.png">    </p:cNvPr>
          <p:cNvPicPr>
            <a:picLocks noChangeAspect="1"/>
          </p:cNvPicPr>
          <p:nvPr/>
        </p:nvPicPr>
        <p:blipFill>
          <a:blip r:embed="rId3"/>
          <a:stretch>
            <a:fillRect/>
          </a:stretch>
        </p:blipFill>
        <p:spPr>
          <a:xfrm>
            <a:off x="7219188" y="2157984"/>
            <a:ext cx="438912" cy="438912"/>
          </a:xfrm>
          <a:prstGeom prst="rect">
            <a:avLst/>
          </a:prstGeom>
        </p:spPr>
      </p:pic>
      <p:sp>
        <p:nvSpPr>
          <p:cNvPr id="17" name="Text 12"/>
          <p:cNvSpPr/>
          <p:nvPr/>
        </p:nvSpPr>
        <p:spPr>
          <a:xfrm>
            <a:off x="6364224" y="2926080"/>
            <a:ext cx="2148840" cy="640080"/>
          </a:xfrm>
          <a:prstGeom prst="rect">
            <a:avLst/>
          </a:prstGeom>
          <a:noFill/>
          <a:ln/>
        </p:spPr>
        <p:txBody>
          <a:bodyPr wrap="square" rtlCol="0" anchor="ctr"/>
          <a:lstStyle/>
          <a:p>
            <a:pPr algn="ctr" indent="0" marL="0">
              <a:buNone/>
            </a:pPr>
            <a:r>
              <a:rPr lang="en-US" sz="1450" b="1" dirty="0">
                <a:solidFill>
                  <a:srgbClr val="1A1F36"/>
                </a:solidFill>
                <a:latin typeface="Calibri" pitchFamily="34" charset="0"/>
                <a:ea typeface="Calibri" pitchFamily="34" charset="-122"/>
                <a:cs typeface="Calibri" pitchFamily="34" charset="-120"/>
              </a:rPr>
              <a:t>Jurisdiction &amp; Law</a:t>
            </a:r>
            <a:endParaRPr lang="en-US" sz="1450" dirty="0"/>
          </a:p>
        </p:txBody>
      </p:sp>
      <p:sp>
        <p:nvSpPr>
          <p:cNvPr id="18" name="Text 13"/>
          <p:cNvSpPr/>
          <p:nvPr/>
        </p:nvSpPr>
        <p:spPr>
          <a:xfrm>
            <a:off x="6382512" y="3566160"/>
            <a:ext cx="2112264" cy="164592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GDPR, MLATs, and the CLOUD Act create unresolved cross-border tension.</a:t>
            </a:r>
            <a:endParaRPr lang="en-US" sz="1150" dirty="0"/>
          </a:p>
        </p:txBody>
      </p:sp>
      <p:sp>
        <p:nvSpPr>
          <p:cNvPr id="19" name="Shape 14"/>
          <p:cNvSpPr/>
          <p:nvPr/>
        </p:nvSpPr>
        <p:spPr>
          <a:xfrm>
            <a:off x="8951976" y="1691640"/>
            <a:ext cx="2514600" cy="3657600"/>
          </a:xfrm>
          <a:prstGeom prst="roundRect">
            <a:avLst>
              <a:gd name="adj" fmla="val 3636"/>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20" name="Shape 15"/>
          <p:cNvSpPr/>
          <p:nvPr/>
        </p:nvSpPr>
        <p:spPr>
          <a:xfrm>
            <a:off x="9843516" y="2011680"/>
            <a:ext cx="731520" cy="731520"/>
          </a:xfrm>
          <a:prstGeom prst="ellipse">
            <a:avLst/>
          </a:prstGeom>
          <a:solidFill>
            <a:srgbClr val="111C42"/>
          </a:solidFill>
          <a:ln/>
        </p:spPr>
      </p:sp>
      <p:pic>
        <p:nvPicPr>
          <p:cNvPr id="21" name="Image 3" descr="icon_clipboard_00C2A8.png">    </p:cNvPr>
          <p:cNvPicPr>
            <a:picLocks noChangeAspect="1"/>
          </p:cNvPicPr>
          <p:nvPr/>
        </p:nvPicPr>
        <p:blipFill>
          <a:blip r:embed="rId4"/>
          <a:stretch>
            <a:fillRect/>
          </a:stretch>
        </p:blipFill>
        <p:spPr>
          <a:xfrm>
            <a:off x="9989820" y="2157984"/>
            <a:ext cx="438912" cy="438912"/>
          </a:xfrm>
          <a:prstGeom prst="rect">
            <a:avLst/>
          </a:prstGeom>
        </p:spPr>
      </p:pic>
      <p:sp>
        <p:nvSpPr>
          <p:cNvPr id="22" name="Text 16"/>
          <p:cNvSpPr/>
          <p:nvPr/>
        </p:nvSpPr>
        <p:spPr>
          <a:xfrm>
            <a:off x="9134856" y="2926080"/>
            <a:ext cx="2148840" cy="640080"/>
          </a:xfrm>
          <a:prstGeom prst="rect">
            <a:avLst/>
          </a:prstGeom>
          <a:noFill/>
          <a:ln/>
        </p:spPr>
        <p:txBody>
          <a:bodyPr wrap="square" rtlCol="0" anchor="ctr"/>
          <a:lstStyle/>
          <a:p>
            <a:pPr algn="ctr" indent="0" marL="0">
              <a:buNone/>
            </a:pPr>
            <a:r>
              <a:rPr lang="en-US" sz="1450" b="1" dirty="0">
                <a:solidFill>
                  <a:srgbClr val="1A1F36"/>
                </a:solidFill>
                <a:latin typeface="Calibri" pitchFamily="34" charset="0"/>
                <a:ea typeface="Calibri" pitchFamily="34" charset="-122"/>
                <a:cs typeface="Calibri" pitchFamily="34" charset="-120"/>
              </a:rPr>
              <a:t>Standardization</a:t>
            </a:r>
            <a:endParaRPr lang="en-US" sz="1450" dirty="0"/>
          </a:p>
        </p:txBody>
      </p:sp>
      <p:sp>
        <p:nvSpPr>
          <p:cNvPr id="23" name="Text 17"/>
          <p:cNvSpPr/>
          <p:nvPr/>
        </p:nvSpPr>
        <p:spPr>
          <a:xfrm>
            <a:off x="9153144" y="3566160"/>
            <a:ext cx="2112264" cy="1645920"/>
          </a:xfrm>
          <a:prstGeom prst="rect">
            <a:avLst/>
          </a:prstGeom>
          <a:noFill/>
          <a:ln/>
        </p:spPr>
        <p:txBody>
          <a:bodyPr wrap="square" rtlCol="0" anchor="t"/>
          <a:lstStyle/>
          <a:p>
            <a:pPr algn="ctr" indent="0" marL="0">
              <a:buNone/>
            </a:pPr>
            <a:r>
              <a:rPr lang="en-US" sz="1150" dirty="0">
                <a:solidFill>
                  <a:srgbClr val="6B7280"/>
                </a:solidFill>
                <a:latin typeface="Calibri" pitchFamily="34" charset="0"/>
                <a:ea typeface="Calibri" pitchFamily="34" charset="-122"/>
                <a:cs typeface="Calibri" pitchFamily="34" charset="-120"/>
              </a:rPr>
              <a:t>ISO/IEC 27037/27043 and NIST guidance exist, but adoption stays voluntary.</a:t>
            </a:r>
            <a:endParaRPr lang="en-US" sz="115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25" name="Text 19"/>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Notable Recent Work</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Six 2024–2026 papers that shape this survey's direction</a:t>
            </a:r>
            <a:endParaRPr lang="en-US" sz="1500" dirty="0"/>
          </a:p>
        </p:txBody>
      </p:sp>
      <p:sp>
        <p:nvSpPr>
          <p:cNvPr id="4" name="Shape 2"/>
          <p:cNvSpPr/>
          <p:nvPr/>
        </p:nvSpPr>
        <p:spPr>
          <a:xfrm>
            <a:off x="640080" y="1691640"/>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5" name="Shape 3"/>
          <p:cNvSpPr/>
          <p:nvPr/>
        </p:nvSpPr>
        <p:spPr>
          <a:xfrm>
            <a:off x="841248" y="1892808"/>
            <a:ext cx="502920" cy="502920"/>
          </a:xfrm>
          <a:prstGeom prst="ellipse">
            <a:avLst/>
          </a:prstGeom>
          <a:solidFill>
            <a:srgbClr val="111C42"/>
          </a:solidFill>
          <a:ln/>
        </p:spPr>
      </p:sp>
      <p:pic>
        <p:nvPicPr>
          <p:cNvPr id="6" name="Image 0" descr="icon_clipboard_00C2A8.png">    </p:cNvPr>
          <p:cNvPicPr>
            <a:picLocks noChangeAspect="1"/>
          </p:cNvPicPr>
          <p:nvPr/>
        </p:nvPicPr>
        <p:blipFill>
          <a:blip r:embed="rId1"/>
          <a:stretch>
            <a:fillRect/>
          </a:stretch>
        </p:blipFill>
        <p:spPr>
          <a:xfrm>
            <a:off x="946404" y="1997964"/>
            <a:ext cx="292608" cy="292608"/>
          </a:xfrm>
          <a:prstGeom prst="rect">
            <a:avLst/>
          </a:prstGeom>
        </p:spPr>
      </p:pic>
      <p:sp>
        <p:nvSpPr>
          <p:cNvPr id="7" name="Text 4"/>
          <p:cNvSpPr/>
          <p:nvPr/>
        </p:nvSpPr>
        <p:spPr>
          <a:xfrm>
            <a:off x="3456432" y="1874520"/>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[37]</a:t>
            </a:r>
            <a:endParaRPr lang="en-US" sz="1100" dirty="0"/>
          </a:p>
        </p:txBody>
      </p:sp>
      <p:sp>
        <p:nvSpPr>
          <p:cNvPr id="8" name="Text 5"/>
          <p:cNvSpPr/>
          <p:nvPr/>
        </p:nvSpPr>
        <p:spPr>
          <a:xfrm>
            <a:off x="841248" y="2514600"/>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NIST SP 800-201 (2024)</a:t>
            </a:r>
            <a:endParaRPr lang="en-US" sz="1350" dirty="0"/>
          </a:p>
        </p:txBody>
      </p:sp>
      <p:sp>
        <p:nvSpPr>
          <p:cNvPr id="9" name="Text 6"/>
          <p:cNvSpPr/>
          <p:nvPr/>
        </p:nvSpPr>
        <p:spPr>
          <a:xfrm>
            <a:off x="841248" y="2880360"/>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Cloud Computing Forensic Reference Architecture — the closest thing to a common baseline.</a:t>
            </a:r>
            <a:endParaRPr lang="en-US" sz="1080" dirty="0"/>
          </a:p>
        </p:txBody>
      </p:sp>
      <p:sp>
        <p:nvSpPr>
          <p:cNvPr id="10" name="Shape 7"/>
          <p:cNvSpPr/>
          <p:nvPr/>
        </p:nvSpPr>
        <p:spPr>
          <a:xfrm>
            <a:off x="4398264" y="1691640"/>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11" name="Shape 8"/>
          <p:cNvSpPr/>
          <p:nvPr/>
        </p:nvSpPr>
        <p:spPr>
          <a:xfrm>
            <a:off x="4599432" y="1892808"/>
            <a:ext cx="502920" cy="502920"/>
          </a:xfrm>
          <a:prstGeom prst="ellipse">
            <a:avLst/>
          </a:prstGeom>
          <a:solidFill>
            <a:srgbClr val="111C42"/>
          </a:solidFill>
          <a:ln/>
        </p:spPr>
      </p:sp>
      <p:pic>
        <p:nvPicPr>
          <p:cNvPr id="12" name="Image 1" descr="icon_upload_00C2A8.png">    </p:cNvPr>
          <p:cNvPicPr>
            <a:picLocks noChangeAspect="1"/>
          </p:cNvPicPr>
          <p:nvPr/>
        </p:nvPicPr>
        <p:blipFill>
          <a:blip r:embed="rId2"/>
          <a:stretch>
            <a:fillRect/>
          </a:stretch>
        </p:blipFill>
        <p:spPr>
          <a:xfrm>
            <a:off x="4704588" y="1997964"/>
            <a:ext cx="292608" cy="292608"/>
          </a:xfrm>
          <a:prstGeom prst="rect">
            <a:avLst/>
          </a:prstGeom>
        </p:spPr>
      </p:pic>
      <p:sp>
        <p:nvSpPr>
          <p:cNvPr id="13" name="Text 9"/>
          <p:cNvSpPr/>
          <p:nvPr/>
        </p:nvSpPr>
        <p:spPr>
          <a:xfrm>
            <a:off x="7214616" y="1874520"/>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[46]</a:t>
            </a:r>
            <a:endParaRPr lang="en-US" sz="1100" dirty="0"/>
          </a:p>
        </p:txBody>
      </p:sp>
      <p:sp>
        <p:nvSpPr>
          <p:cNvPr id="14" name="Text 10"/>
          <p:cNvSpPr/>
          <p:nvPr/>
        </p:nvSpPr>
        <p:spPr>
          <a:xfrm>
            <a:off x="4599432" y="2514600"/>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Mukti &amp; Hanif (2025)</a:t>
            </a:r>
            <a:endParaRPr lang="en-US" sz="1350" dirty="0"/>
          </a:p>
        </p:txBody>
      </p:sp>
      <p:sp>
        <p:nvSpPr>
          <p:cNvPr id="15" name="Text 11"/>
          <p:cNvSpPr/>
          <p:nvPr/>
        </p:nvSpPr>
        <p:spPr>
          <a:xfrm>
            <a:off x="4599432" y="2880360"/>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AI in Cloud Forensics — automates evidence acquisition and anomaly detection.</a:t>
            </a:r>
            <a:endParaRPr lang="en-US" sz="1080" dirty="0"/>
          </a:p>
        </p:txBody>
      </p:sp>
      <p:sp>
        <p:nvSpPr>
          <p:cNvPr id="16" name="Shape 12"/>
          <p:cNvSpPr/>
          <p:nvPr/>
        </p:nvSpPr>
        <p:spPr>
          <a:xfrm>
            <a:off x="8156448" y="1691640"/>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17" name="Shape 13"/>
          <p:cNvSpPr/>
          <p:nvPr/>
        </p:nvSpPr>
        <p:spPr>
          <a:xfrm>
            <a:off x="8357616" y="1892808"/>
            <a:ext cx="502920" cy="502920"/>
          </a:xfrm>
          <a:prstGeom prst="ellipse">
            <a:avLst/>
          </a:prstGeom>
          <a:solidFill>
            <a:srgbClr val="111C42"/>
          </a:solidFill>
          <a:ln/>
        </p:spPr>
      </p:sp>
      <p:pic>
        <p:nvPicPr>
          <p:cNvPr id="18" name="Image 2" descr="icon_shield_00C2A8.png">    </p:cNvPr>
          <p:cNvPicPr>
            <a:picLocks noChangeAspect="1"/>
          </p:cNvPicPr>
          <p:nvPr/>
        </p:nvPicPr>
        <p:blipFill>
          <a:blip r:embed="rId3"/>
          <a:stretch>
            <a:fillRect/>
          </a:stretch>
        </p:blipFill>
        <p:spPr>
          <a:xfrm>
            <a:off x="8462772" y="1997964"/>
            <a:ext cx="292608" cy="292608"/>
          </a:xfrm>
          <a:prstGeom prst="rect">
            <a:avLst/>
          </a:prstGeom>
        </p:spPr>
      </p:pic>
      <p:sp>
        <p:nvSpPr>
          <p:cNvPr id="19" name="Text 14"/>
          <p:cNvSpPr/>
          <p:nvPr/>
        </p:nvSpPr>
        <p:spPr>
          <a:xfrm>
            <a:off x="10972800" y="1874520"/>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[47]</a:t>
            </a:r>
            <a:endParaRPr lang="en-US" sz="1100" dirty="0"/>
          </a:p>
        </p:txBody>
      </p:sp>
      <p:sp>
        <p:nvSpPr>
          <p:cNvPr id="20" name="Text 15"/>
          <p:cNvSpPr/>
          <p:nvPr/>
        </p:nvSpPr>
        <p:spPr>
          <a:xfrm>
            <a:off x="8357616" y="2514600"/>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Vucha &amp; Kamarapu (2025)</a:t>
            </a:r>
            <a:endParaRPr lang="en-US" sz="1350" dirty="0"/>
          </a:p>
        </p:txBody>
      </p:sp>
      <p:sp>
        <p:nvSpPr>
          <p:cNvPr id="21" name="Text 16"/>
          <p:cNvSpPr/>
          <p:nvPr/>
        </p:nvSpPr>
        <p:spPr>
          <a:xfrm>
            <a:off x="8357616" y="2880360"/>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AI-Driven Cloud Forensics — combines NLP log analysis with blockchain integrity.</a:t>
            </a:r>
            <a:endParaRPr lang="en-US" sz="1080" dirty="0"/>
          </a:p>
        </p:txBody>
      </p:sp>
      <p:sp>
        <p:nvSpPr>
          <p:cNvPr id="22" name="Shape 17"/>
          <p:cNvSpPr/>
          <p:nvPr/>
        </p:nvSpPr>
        <p:spPr>
          <a:xfrm>
            <a:off x="640080" y="4279392"/>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23" name="Shape 18"/>
          <p:cNvSpPr/>
          <p:nvPr/>
        </p:nvSpPr>
        <p:spPr>
          <a:xfrm>
            <a:off x="841248" y="4480560"/>
            <a:ext cx="502920" cy="502920"/>
          </a:xfrm>
          <a:prstGeom prst="ellipse">
            <a:avLst/>
          </a:prstGeom>
          <a:solidFill>
            <a:srgbClr val="111C42"/>
          </a:solidFill>
          <a:ln/>
        </p:spPr>
      </p:sp>
      <p:pic>
        <p:nvPicPr>
          <p:cNvPr id="24" name="Image 3" descr="icon_flow_00C2A8.png">    </p:cNvPr>
          <p:cNvPicPr>
            <a:picLocks noChangeAspect="1"/>
          </p:cNvPicPr>
          <p:nvPr/>
        </p:nvPicPr>
        <p:blipFill>
          <a:blip r:embed="rId4"/>
          <a:stretch>
            <a:fillRect/>
          </a:stretch>
        </p:blipFill>
        <p:spPr>
          <a:xfrm>
            <a:off x="946404" y="4585716"/>
            <a:ext cx="292608" cy="292608"/>
          </a:xfrm>
          <a:prstGeom prst="rect">
            <a:avLst/>
          </a:prstGeom>
        </p:spPr>
      </p:pic>
      <p:sp>
        <p:nvSpPr>
          <p:cNvPr id="25" name="Text 19"/>
          <p:cNvSpPr/>
          <p:nvPr/>
        </p:nvSpPr>
        <p:spPr>
          <a:xfrm>
            <a:off x="3456432" y="4462272"/>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[48]</a:t>
            </a:r>
            <a:endParaRPr lang="en-US" sz="1100" dirty="0"/>
          </a:p>
        </p:txBody>
      </p:sp>
      <p:sp>
        <p:nvSpPr>
          <p:cNvPr id="26" name="Text 20"/>
          <p:cNvSpPr/>
          <p:nvPr/>
        </p:nvSpPr>
        <p:spPr>
          <a:xfrm>
            <a:off x="841248" y="5102352"/>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Chourasiya et al. (2025)</a:t>
            </a:r>
            <a:endParaRPr lang="en-US" sz="1350" dirty="0"/>
          </a:p>
        </p:txBody>
      </p:sp>
      <p:sp>
        <p:nvSpPr>
          <p:cNvPr id="27" name="Text 21"/>
          <p:cNvSpPr/>
          <p:nvPr/>
        </p:nvSpPr>
        <p:spPr>
          <a:xfrm>
            <a:off x="841248" y="5468112"/>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LSTM/Transformer/GNN log analyzer — 98%+ anomaly-detection accuracy.</a:t>
            </a:r>
            <a:endParaRPr lang="en-US" sz="1080" dirty="0"/>
          </a:p>
        </p:txBody>
      </p:sp>
      <p:sp>
        <p:nvSpPr>
          <p:cNvPr id="28" name="Shape 22"/>
          <p:cNvSpPr/>
          <p:nvPr/>
        </p:nvSpPr>
        <p:spPr>
          <a:xfrm>
            <a:off x="4398264" y="4279392"/>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29" name="Shape 23"/>
          <p:cNvSpPr/>
          <p:nvPr/>
        </p:nvSpPr>
        <p:spPr>
          <a:xfrm>
            <a:off x="4599432" y="4480560"/>
            <a:ext cx="502920" cy="502920"/>
          </a:xfrm>
          <a:prstGeom prst="ellipse">
            <a:avLst/>
          </a:prstGeom>
          <a:solidFill>
            <a:srgbClr val="111C42"/>
          </a:solidFill>
          <a:ln/>
        </p:spPr>
      </p:sp>
      <p:pic>
        <p:nvPicPr>
          <p:cNvPr id="30" name="Image 4" descr="icon_search_00C2A8.png">    </p:cNvPr>
          <p:cNvPicPr>
            <a:picLocks noChangeAspect="1"/>
          </p:cNvPicPr>
          <p:nvPr/>
        </p:nvPicPr>
        <p:blipFill>
          <a:blip r:embed="rId5"/>
          <a:stretch>
            <a:fillRect/>
          </a:stretch>
        </p:blipFill>
        <p:spPr>
          <a:xfrm>
            <a:off x="4704588" y="4585716"/>
            <a:ext cx="292608" cy="292608"/>
          </a:xfrm>
          <a:prstGeom prst="rect">
            <a:avLst/>
          </a:prstGeom>
        </p:spPr>
      </p:pic>
      <p:sp>
        <p:nvSpPr>
          <p:cNvPr id="31" name="Text 24"/>
          <p:cNvSpPr/>
          <p:nvPr/>
        </p:nvSpPr>
        <p:spPr>
          <a:xfrm>
            <a:off x="7214616" y="4462272"/>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[39]</a:t>
            </a:r>
            <a:endParaRPr lang="en-US" sz="1100" dirty="0"/>
          </a:p>
        </p:txBody>
      </p:sp>
      <p:sp>
        <p:nvSpPr>
          <p:cNvPr id="32" name="Text 25"/>
          <p:cNvSpPr/>
          <p:nvPr/>
        </p:nvSpPr>
        <p:spPr>
          <a:xfrm>
            <a:off x="4599432" y="5102352"/>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Dhital et al. (2026)</a:t>
            </a:r>
            <a:endParaRPr lang="en-US" sz="1350" dirty="0"/>
          </a:p>
        </p:txBody>
      </p:sp>
      <p:sp>
        <p:nvSpPr>
          <p:cNvPr id="33" name="Text 26"/>
          <p:cNvSpPr/>
          <p:nvPr/>
        </p:nvSpPr>
        <p:spPr>
          <a:xfrm>
            <a:off x="4599432" y="5468112"/>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Shows AWS-native monitoring misses transient attacker activity in ephemeral VMs.</a:t>
            </a:r>
            <a:endParaRPr lang="en-US" sz="1080" dirty="0"/>
          </a:p>
        </p:txBody>
      </p:sp>
      <p:sp>
        <p:nvSpPr>
          <p:cNvPr id="34" name="Shape 27"/>
          <p:cNvSpPr/>
          <p:nvPr/>
        </p:nvSpPr>
        <p:spPr>
          <a:xfrm>
            <a:off x="8156448" y="4279392"/>
            <a:ext cx="3502152" cy="2331720"/>
          </a:xfrm>
          <a:prstGeom prst="roundRect">
            <a:avLst>
              <a:gd name="adj" fmla="val 3529"/>
            </a:avLst>
          </a:prstGeom>
          <a:solidFill>
            <a:srgbClr val="FFFFFF"/>
          </a:solidFill>
          <a:ln w="12700">
            <a:solidFill>
              <a:srgbClr val="E2E7F3"/>
            </a:solidFill>
            <a:prstDash val="solid"/>
          </a:ln>
          <a:effectLst>
            <a:outerShdw sx="100000" sy="100000" kx="0" ky="0" algn="bl" rotWithShape="0" blurRad="76200" dist="25400" dir="5400000">
              <a:srgbClr val="1A1F36">
                <a:alpha val="10000"/>
              </a:srgbClr>
            </a:outerShdw>
          </a:effectLst>
        </p:spPr>
      </p:sp>
      <p:sp>
        <p:nvSpPr>
          <p:cNvPr id="35" name="Shape 28"/>
          <p:cNvSpPr/>
          <p:nvPr/>
        </p:nvSpPr>
        <p:spPr>
          <a:xfrm>
            <a:off x="8357616" y="4480560"/>
            <a:ext cx="502920" cy="502920"/>
          </a:xfrm>
          <a:prstGeom prst="ellipse">
            <a:avLst/>
          </a:prstGeom>
          <a:solidFill>
            <a:srgbClr val="111C42"/>
          </a:solidFill>
          <a:ln/>
        </p:spPr>
      </p:sp>
      <p:pic>
        <p:nvPicPr>
          <p:cNvPr id="36" name="Image 5" descr="icon_gavel_00C2A8.png">    </p:cNvPr>
          <p:cNvPicPr>
            <a:picLocks noChangeAspect="1"/>
          </p:cNvPicPr>
          <p:nvPr/>
        </p:nvPicPr>
        <p:blipFill>
          <a:blip r:embed="rId6"/>
          <a:stretch>
            <a:fillRect/>
          </a:stretch>
        </p:blipFill>
        <p:spPr>
          <a:xfrm>
            <a:off x="8462772" y="4585716"/>
            <a:ext cx="292608" cy="292608"/>
          </a:xfrm>
          <a:prstGeom prst="rect">
            <a:avLst/>
          </a:prstGeom>
        </p:spPr>
      </p:pic>
      <p:sp>
        <p:nvSpPr>
          <p:cNvPr id="37" name="Text 29"/>
          <p:cNvSpPr/>
          <p:nvPr/>
        </p:nvSpPr>
        <p:spPr>
          <a:xfrm>
            <a:off x="10972800" y="4462272"/>
            <a:ext cx="548640" cy="320040"/>
          </a:xfrm>
          <a:prstGeom prst="rect">
            <a:avLst/>
          </a:prstGeom>
          <a:noFill/>
          <a:ln/>
        </p:spPr>
        <p:txBody>
          <a:bodyPr wrap="square" rtlCol="0" anchor="ctr"/>
          <a:lstStyle/>
          <a:p>
            <a:pPr algn="r" indent="0" marL="0">
              <a:buNone/>
            </a:pPr>
            <a:r>
              <a:rPr lang="en-US" sz="1100" b="1" dirty="0">
                <a:solidFill>
                  <a:srgbClr val="00C2A8"/>
                </a:solidFill>
                <a:latin typeface="Calibri" pitchFamily="34" charset="0"/>
                <a:ea typeface="Calibri" pitchFamily="34" charset="-122"/>
                <a:cs typeface="Calibri" pitchFamily="34" charset="-120"/>
              </a:rPr>
              <a:t>[42]</a:t>
            </a:r>
            <a:endParaRPr lang="en-US" sz="1100" dirty="0"/>
          </a:p>
        </p:txBody>
      </p:sp>
      <p:sp>
        <p:nvSpPr>
          <p:cNvPr id="38" name="Text 30"/>
          <p:cNvSpPr/>
          <p:nvPr/>
        </p:nvSpPr>
        <p:spPr>
          <a:xfrm>
            <a:off x="8357616" y="5102352"/>
            <a:ext cx="3099816" cy="365760"/>
          </a:xfrm>
          <a:prstGeom prst="rect">
            <a:avLst/>
          </a:prstGeom>
          <a:noFill/>
          <a:ln/>
        </p:spPr>
        <p:txBody>
          <a:bodyPr wrap="square" rtlCol="0" anchor="ctr"/>
          <a:lstStyle/>
          <a:p>
            <a:pPr indent="0" marL="0">
              <a:buNone/>
            </a:pPr>
            <a:r>
              <a:rPr lang="en-US" sz="1350" b="1" dirty="0">
                <a:solidFill>
                  <a:srgbClr val="1A1F36"/>
                </a:solidFill>
                <a:latin typeface="Calibri" pitchFamily="34" charset="0"/>
                <a:ea typeface="Calibri" pitchFamily="34" charset="-122"/>
                <a:cs typeface="Calibri" pitchFamily="34" charset="-120"/>
              </a:rPr>
              <a:t>Ekwempu (2026)</a:t>
            </a:r>
            <a:endParaRPr lang="en-US" sz="1350" dirty="0"/>
          </a:p>
        </p:txBody>
      </p:sp>
      <p:sp>
        <p:nvSpPr>
          <p:cNvPr id="39" name="Text 31"/>
          <p:cNvSpPr/>
          <p:nvPr/>
        </p:nvSpPr>
        <p:spPr>
          <a:xfrm>
            <a:off x="8357616" y="5468112"/>
            <a:ext cx="3099816" cy="1051560"/>
          </a:xfrm>
          <a:prstGeom prst="rect">
            <a:avLst/>
          </a:prstGeom>
          <a:noFill/>
          <a:ln/>
        </p:spPr>
        <p:txBody>
          <a:bodyPr wrap="square" rtlCol="0" anchor="t"/>
          <a:lstStyle/>
          <a:p>
            <a:pPr indent="0" marL="0">
              <a:buNone/>
            </a:pPr>
            <a:r>
              <a:rPr lang="en-US" sz="1080" dirty="0">
                <a:solidFill>
                  <a:srgbClr val="6B7280"/>
                </a:solidFill>
                <a:latin typeface="Calibri" pitchFamily="34" charset="0"/>
                <a:ea typeface="Calibri" pitchFamily="34" charset="-122"/>
                <a:cs typeface="Calibri" pitchFamily="34" charset="-120"/>
              </a:rPr>
              <a:t>Maps jurisdictional fragmentation and CLOUD Act tension in cross-border cases.</a:t>
            </a:r>
            <a:endParaRPr lang="en-US" sz="1080" dirty="0"/>
          </a:p>
        </p:txBody>
      </p:sp>
      <p:sp>
        <p:nvSpPr>
          <p:cNvPr id="40" name="Text 3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41" name="Text 33"/>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C42"/>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1B2A5B"/>
          </a:solidFill>
          <a:ln/>
        </p:spPr>
      </p:sp>
      <p:sp>
        <p:nvSpPr>
          <p:cNvPr id="3" name="Text 1"/>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What's Next</a:t>
            </a:r>
            <a:endParaRPr lang="en-US" sz="3000" dirty="0"/>
          </a:p>
        </p:txBody>
      </p:sp>
      <p:sp>
        <p:nvSpPr>
          <p:cNvPr id="4" name="Text 2"/>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This review sets up the rest of the research pipeline</a:t>
            </a:r>
            <a:endParaRPr lang="en-US" sz="1500" dirty="0"/>
          </a:p>
        </p:txBody>
      </p:sp>
      <p:sp>
        <p:nvSpPr>
          <p:cNvPr id="5" name="Shape 3"/>
          <p:cNvSpPr/>
          <p:nvPr/>
        </p:nvSpPr>
        <p:spPr>
          <a:xfrm>
            <a:off x="640080" y="2103120"/>
            <a:ext cx="2514600" cy="2377440"/>
          </a:xfrm>
          <a:prstGeom prst="roundRect">
            <a:avLst>
              <a:gd name="adj" fmla="val 3846"/>
            </a:avLst>
          </a:prstGeom>
          <a:solidFill>
            <a:srgbClr val="1B2A5B"/>
          </a:solidFill>
          <a:ln w="12700">
            <a:solidFill>
              <a:srgbClr val="3E5C8A"/>
            </a:solidFill>
            <a:prstDash val="solid"/>
          </a:ln>
        </p:spPr>
      </p:sp>
      <p:sp>
        <p:nvSpPr>
          <p:cNvPr id="6" name="Shape 4"/>
          <p:cNvSpPr/>
          <p:nvPr/>
        </p:nvSpPr>
        <p:spPr>
          <a:xfrm>
            <a:off x="1568196" y="2331720"/>
            <a:ext cx="658368" cy="658368"/>
          </a:xfrm>
          <a:prstGeom prst="ellipse">
            <a:avLst/>
          </a:prstGeom>
          <a:solidFill>
            <a:srgbClr val="00C2A8"/>
          </a:solidFill>
          <a:ln/>
        </p:spPr>
      </p:sp>
      <p:pic>
        <p:nvPicPr>
          <p:cNvPr id="7" name="Image 0" descr="icon_layers_111C42.png">    </p:cNvPr>
          <p:cNvPicPr>
            <a:picLocks noChangeAspect="1"/>
          </p:cNvPicPr>
          <p:nvPr/>
        </p:nvPicPr>
        <p:blipFill>
          <a:blip r:embed="rId1"/>
          <a:stretch>
            <a:fillRect/>
          </a:stretch>
        </p:blipFill>
        <p:spPr>
          <a:xfrm>
            <a:off x="1705356" y="2468880"/>
            <a:ext cx="384048" cy="384048"/>
          </a:xfrm>
          <a:prstGeom prst="rect">
            <a:avLst/>
          </a:prstGeom>
        </p:spPr>
      </p:pic>
      <p:sp>
        <p:nvSpPr>
          <p:cNvPr id="8" name="Text 5"/>
          <p:cNvSpPr/>
          <p:nvPr/>
        </p:nvSpPr>
        <p:spPr>
          <a:xfrm>
            <a:off x="804672" y="3108960"/>
            <a:ext cx="218541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Decompose</a:t>
            </a:r>
            <a:endParaRPr lang="en-US" sz="1450" dirty="0"/>
          </a:p>
        </p:txBody>
      </p:sp>
      <p:sp>
        <p:nvSpPr>
          <p:cNvPr id="9" name="Text 6"/>
          <p:cNvSpPr/>
          <p:nvPr/>
        </p:nvSpPr>
        <p:spPr>
          <a:xfrm>
            <a:off x="822960" y="3520440"/>
            <a:ext cx="2148840" cy="822960"/>
          </a:xfrm>
          <a:prstGeom prst="rect">
            <a:avLst/>
          </a:prstGeom>
          <a:noFill/>
          <a:ln/>
        </p:spPr>
        <p:txBody>
          <a:bodyPr wrap="square" rtlCol="0" anchor="t"/>
          <a:lstStyle/>
          <a:p>
            <a:pPr algn="ctr" indent="0" marL="0">
              <a:buNone/>
            </a:pPr>
            <a:r>
              <a:rPr lang="en-US" sz="1080" dirty="0">
                <a:solidFill>
                  <a:srgbClr val="AEB9DE"/>
                </a:solidFill>
                <a:latin typeface="Calibri" pitchFamily="34" charset="0"/>
                <a:ea typeface="Calibri" pitchFamily="34" charset="-122"/>
                <a:cs typeface="Calibri" pitchFamily="34" charset="-120"/>
              </a:rPr>
              <a:t>Build a four-dimensional taxonomy of cloud forensic approaches</a:t>
            </a:r>
            <a:endParaRPr lang="en-US" sz="1080" dirty="0"/>
          </a:p>
        </p:txBody>
      </p:sp>
      <p:sp>
        <p:nvSpPr>
          <p:cNvPr id="10" name="Shape 7"/>
          <p:cNvSpPr/>
          <p:nvPr/>
        </p:nvSpPr>
        <p:spPr>
          <a:xfrm>
            <a:off x="3410712" y="2103120"/>
            <a:ext cx="2514600" cy="2377440"/>
          </a:xfrm>
          <a:prstGeom prst="roundRect">
            <a:avLst>
              <a:gd name="adj" fmla="val 3846"/>
            </a:avLst>
          </a:prstGeom>
          <a:solidFill>
            <a:srgbClr val="1B2A5B"/>
          </a:solidFill>
          <a:ln w="12700">
            <a:solidFill>
              <a:srgbClr val="3E5C8A"/>
            </a:solidFill>
            <a:prstDash val="solid"/>
          </a:ln>
        </p:spPr>
      </p:sp>
      <p:sp>
        <p:nvSpPr>
          <p:cNvPr id="11" name="Shape 8"/>
          <p:cNvSpPr/>
          <p:nvPr/>
        </p:nvSpPr>
        <p:spPr>
          <a:xfrm>
            <a:off x="4338828" y="2331720"/>
            <a:ext cx="658368" cy="658368"/>
          </a:xfrm>
          <a:prstGeom prst="ellipse">
            <a:avLst/>
          </a:prstGeom>
          <a:solidFill>
            <a:srgbClr val="00C2A8"/>
          </a:solidFill>
          <a:ln/>
        </p:spPr>
      </p:sp>
      <p:pic>
        <p:nvPicPr>
          <p:cNvPr id="12" name="Image 1" descr="icon_chart_111C42.png">    </p:cNvPr>
          <p:cNvPicPr>
            <a:picLocks noChangeAspect="1"/>
          </p:cNvPicPr>
          <p:nvPr/>
        </p:nvPicPr>
        <p:blipFill>
          <a:blip r:embed="rId2"/>
          <a:stretch>
            <a:fillRect/>
          </a:stretch>
        </p:blipFill>
        <p:spPr>
          <a:xfrm>
            <a:off x="4475988" y="2468880"/>
            <a:ext cx="384048" cy="384048"/>
          </a:xfrm>
          <a:prstGeom prst="rect">
            <a:avLst/>
          </a:prstGeom>
        </p:spPr>
      </p:pic>
      <p:sp>
        <p:nvSpPr>
          <p:cNvPr id="13" name="Text 9"/>
          <p:cNvSpPr/>
          <p:nvPr/>
        </p:nvSpPr>
        <p:spPr>
          <a:xfrm>
            <a:off x="3575304" y="3108960"/>
            <a:ext cx="218541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Analyze</a:t>
            </a:r>
            <a:endParaRPr lang="en-US" sz="1450" dirty="0"/>
          </a:p>
        </p:txBody>
      </p:sp>
      <p:sp>
        <p:nvSpPr>
          <p:cNvPr id="14" name="Text 10"/>
          <p:cNvSpPr/>
          <p:nvPr/>
        </p:nvSpPr>
        <p:spPr>
          <a:xfrm>
            <a:off x="3593592" y="3520440"/>
            <a:ext cx="2148840" cy="822960"/>
          </a:xfrm>
          <a:prstGeom prst="rect">
            <a:avLst/>
          </a:prstGeom>
          <a:noFill/>
          <a:ln/>
        </p:spPr>
        <p:txBody>
          <a:bodyPr wrap="square" rtlCol="0" anchor="t"/>
          <a:lstStyle/>
          <a:p>
            <a:pPr algn="ctr" indent="0" marL="0">
              <a:buNone/>
            </a:pPr>
            <a:r>
              <a:rPr lang="en-US" sz="1080" dirty="0">
                <a:solidFill>
                  <a:srgbClr val="AEB9DE"/>
                </a:solidFill>
                <a:latin typeface="Calibri" pitchFamily="34" charset="0"/>
                <a:ea typeface="Calibri" pitchFamily="34" charset="-122"/>
                <a:cs typeface="Calibri" pitchFamily="34" charset="-120"/>
              </a:rPr>
              <a:t>Compare selected studies by methodology, environment, and contribution</a:t>
            </a:r>
            <a:endParaRPr lang="en-US" sz="1080" dirty="0"/>
          </a:p>
        </p:txBody>
      </p:sp>
      <p:sp>
        <p:nvSpPr>
          <p:cNvPr id="15" name="Shape 11"/>
          <p:cNvSpPr/>
          <p:nvPr/>
        </p:nvSpPr>
        <p:spPr>
          <a:xfrm>
            <a:off x="6181344" y="2103120"/>
            <a:ext cx="2514600" cy="2377440"/>
          </a:xfrm>
          <a:prstGeom prst="roundRect">
            <a:avLst>
              <a:gd name="adj" fmla="val 3846"/>
            </a:avLst>
          </a:prstGeom>
          <a:solidFill>
            <a:srgbClr val="1B2A5B"/>
          </a:solidFill>
          <a:ln w="12700">
            <a:solidFill>
              <a:srgbClr val="3E5C8A"/>
            </a:solidFill>
            <a:prstDash val="solid"/>
          </a:ln>
        </p:spPr>
      </p:sp>
      <p:sp>
        <p:nvSpPr>
          <p:cNvPr id="16" name="Shape 12"/>
          <p:cNvSpPr/>
          <p:nvPr/>
        </p:nvSpPr>
        <p:spPr>
          <a:xfrm>
            <a:off x="7109460" y="2331720"/>
            <a:ext cx="658368" cy="658368"/>
          </a:xfrm>
          <a:prstGeom prst="ellipse">
            <a:avLst/>
          </a:prstGeom>
          <a:solidFill>
            <a:srgbClr val="00C2A8"/>
          </a:solidFill>
          <a:ln/>
        </p:spPr>
      </p:sp>
      <p:pic>
        <p:nvPicPr>
          <p:cNvPr id="17" name="Image 2" descr="icon_bulb_111C42.png">    </p:cNvPr>
          <p:cNvPicPr>
            <a:picLocks noChangeAspect="1"/>
          </p:cNvPicPr>
          <p:nvPr/>
        </p:nvPicPr>
        <p:blipFill>
          <a:blip r:embed="rId3"/>
          <a:stretch>
            <a:fillRect/>
          </a:stretch>
        </p:blipFill>
        <p:spPr>
          <a:xfrm>
            <a:off x="7246620" y="2468880"/>
            <a:ext cx="384048" cy="384048"/>
          </a:xfrm>
          <a:prstGeom prst="rect">
            <a:avLst/>
          </a:prstGeom>
        </p:spPr>
      </p:pic>
      <p:sp>
        <p:nvSpPr>
          <p:cNvPr id="18" name="Text 13"/>
          <p:cNvSpPr/>
          <p:nvPr/>
        </p:nvSpPr>
        <p:spPr>
          <a:xfrm>
            <a:off x="6345936" y="3108960"/>
            <a:ext cx="218541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Propose</a:t>
            </a:r>
            <a:endParaRPr lang="en-US" sz="1450" dirty="0"/>
          </a:p>
        </p:txBody>
      </p:sp>
      <p:sp>
        <p:nvSpPr>
          <p:cNvPr id="19" name="Text 14"/>
          <p:cNvSpPr/>
          <p:nvPr/>
        </p:nvSpPr>
        <p:spPr>
          <a:xfrm>
            <a:off x="6364224" y="3520440"/>
            <a:ext cx="2148840" cy="822960"/>
          </a:xfrm>
          <a:prstGeom prst="rect">
            <a:avLst/>
          </a:prstGeom>
          <a:noFill/>
          <a:ln/>
        </p:spPr>
        <p:txBody>
          <a:bodyPr wrap="square" rtlCol="0" anchor="t"/>
          <a:lstStyle/>
          <a:p>
            <a:pPr algn="ctr" indent="0" marL="0">
              <a:buNone/>
            </a:pPr>
            <a:r>
              <a:rPr lang="en-US" sz="1080" dirty="0">
                <a:solidFill>
                  <a:srgbClr val="AEB9DE"/>
                </a:solidFill>
                <a:latin typeface="Calibri" pitchFamily="34" charset="0"/>
                <a:ea typeface="Calibri" pitchFamily="34" charset="-122"/>
                <a:cs typeface="Calibri" pitchFamily="34" charset="-120"/>
              </a:rPr>
              <a:t>Design an innovative, explainable, standards-aligned acquisition framework</a:t>
            </a:r>
            <a:endParaRPr lang="en-US" sz="1080" dirty="0"/>
          </a:p>
        </p:txBody>
      </p:sp>
      <p:sp>
        <p:nvSpPr>
          <p:cNvPr id="20" name="Shape 15"/>
          <p:cNvSpPr/>
          <p:nvPr/>
        </p:nvSpPr>
        <p:spPr>
          <a:xfrm>
            <a:off x="8951976" y="2103120"/>
            <a:ext cx="2514600" cy="2377440"/>
          </a:xfrm>
          <a:prstGeom prst="roundRect">
            <a:avLst>
              <a:gd name="adj" fmla="val 3846"/>
            </a:avLst>
          </a:prstGeom>
          <a:solidFill>
            <a:srgbClr val="1B2A5B"/>
          </a:solidFill>
          <a:ln w="12700">
            <a:solidFill>
              <a:srgbClr val="3E5C8A"/>
            </a:solidFill>
            <a:prstDash val="solid"/>
          </a:ln>
        </p:spPr>
      </p:sp>
      <p:sp>
        <p:nvSpPr>
          <p:cNvPr id="21" name="Shape 16"/>
          <p:cNvSpPr/>
          <p:nvPr/>
        </p:nvSpPr>
        <p:spPr>
          <a:xfrm>
            <a:off x="9880092" y="2331720"/>
            <a:ext cx="658368" cy="658368"/>
          </a:xfrm>
          <a:prstGeom prst="ellipse">
            <a:avLst/>
          </a:prstGeom>
          <a:solidFill>
            <a:srgbClr val="00C2A8"/>
          </a:solidFill>
          <a:ln/>
        </p:spPr>
      </p:sp>
      <p:pic>
        <p:nvPicPr>
          <p:cNvPr id="22" name="Image 3" descr="icon_flag_111C42.png">    </p:cNvPr>
          <p:cNvPicPr>
            <a:picLocks noChangeAspect="1"/>
          </p:cNvPicPr>
          <p:nvPr/>
        </p:nvPicPr>
        <p:blipFill>
          <a:blip r:embed="rId4"/>
          <a:stretch>
            <a:fillRect/>
          </a:stretch>
        </p:blipFill>
        <p:spPr>
          <a:xfrm>
            <a:off x="10017252" y="2468880"/>
            <a:ext cx="384048" cy="384048"/>
          </a:xfrm>
          <a:prstGeom prst="rect">
            <a:avLst/>
          </a:prstGeom>
        </p:spPr>
      </p:pic>
      <p:sp>
        <p:nvSpPr>
          <p:cNvPr id="23" name="Text 17"/>
          <p:cNvSpPr/>
          <p:nvPr/>
        </p:nvSpPr>
        <p:spPr>
          <a:xfrm>
            <a:off x="9116568" y="3108960"/>
            <a:ext cx="218541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Pilot &amp; Report</a:t>
            </a:r>
            <a:endParaRPr lang="en-US" sz="1450" dirty="0"/>
          </a:p>
        </p:txBody>
      </p:sp>
      <p:sp>
        <p:nvSpPr>
          <p:cNvPr id="24" name="Text 18"/>
          <p:cNvSpPr/>
          <p:nvPr/>
        </p:nvSpPr>
        <p:spPr>
          <a:xfrm>
            <a:off x="9134856" y="3520440"/>
            <a:ext cx="2148840" cy="822960"/>
          </a:xfrm>
          <a:prstGeom prst="rect">
            <a:avLst/>
          </a:prstGeom>
          <a:noFill/>
          <a:ln/>
        </p:spPr>
        <p:txBody>
          <a:bodyPr wrap="square" rtlCol="0" anchor="t"/>
          <a:lstStyle/>
          <a:p>
            <a:pPr algn="ctr" indent="0" marL="0">
              <a:buNone/>
            </a:pPr>
            <a:r>
              <a:rPr lang="en-US" sz="1080" dirty="0">
                <a:solidFill>
                  <a:srgbClr val="AEB9DE"/>
                </a:solidFill>
                <a:latin typeface="Calibri" pitchFamily="34" charset="0"/>
                <a:ea typeface="Calibri" pitchFamily="34" charset="-122"/>
                <a:cs typeface="Calibri" pitchFamily="34" charset="-120"/>
              </a:rPr>
              <a:t>Test against real cloud-native scenarios, then write the full article</a:t>
            </a:r>
            <a:endParaRPr lang="en-US" sz="1080" dirty="0"/>
          </a:p>
        </p:txBody>
      </p:sp>
      <p:sp>
        <p:nvSpPr>
          <p:cNvPr id="25" name="Text 19"/>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26"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References (1/2)</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Foundational studies — 10 of 20 shown here</a:t>
            </a:r>
            <a:endParaRPr lang="en-US" sz="1500" dirty="0"/>
          </a:p>
        </p:txBody>
      </p:sp>
      <p:sp>
        <p:nvSpPr>
          <p:cNvPr id="4" name="Text 2"/>
          <p:cNvSpPr/>
          <p:nvPr/>
        </p:nvSpPr>
        <p:spPr>
          <a:xfrm>
            <a:off x="685800" y="1691640"/>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[1] Alshabibi et al. 2024. Forensic Investigation, Challenges, and Issues of Cloud Data. Computers.</a:t>
            </a:r>
            <a:endParaRPr lang="en-US" sz="1200" dirty="0"/>
          </a:p>
        </p:txBody>
      </p:sp>
      <p:sp>
        <p:nvSpPr>
          <p:cNvPr id="5" name="Text 3"/>
          <p:cNvSpPr/>
          <p:nvPr/>
        </p:nvSpPr>
        <p:spPr>
          <a:xfrm>
            <a:off x="685800" y="2112264"/>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[2] Malik et al. 2024. Cloud Digital Forensics: Beyond Tools, Techniques, and Challenges. Sensors.</a:t>
            </a:r>
            <a:endParaRPr lang="en-US" sz="1200" dirty="0"/>
          </a:p>
        </p:txBody>
      </p:sp>
      <p:sp>
        <p:nvSpPr>
          <p:cNvPr id="6" name="Text 4"/>
          <p:cNvSpPr/>
          <p:nvPr/>
        </p:nvSpPr>
        <p:spPr>
          <a:xfrm>
            <a:off x="685800" y="2532888"/>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[6] Bai &amp; Sudha. 2023. A Systematic Literature Review on Cloud Forensics. IJISAE.</a:t>
            </a:r>
            <a:endParaRPr lang="en-US" sz="1200" dirty="0"/>
          </a:p>
        </p:txBody>
      </p:sp>
      <p:sp>
        <p:nvSpPr>
          <p:cNvPr id="7" name="Text 5"/>
          <p:cNvSpPr/>
          <p:nvPr/>
        </p:nvSpPr>
        <p:spPr>
          <a:xfrm>
            <a:off x="685800" y="2953512"/>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[8] Fraser &amp; Portillo-Dominguez. 2022. Cloud Infrastructure and GDPR in Digital Investigations.</a:t>
            </a:r>
            <a:endParaRPr lang="en-US" sz="1200" dirty="0"/>
          </a:p>
        </p:txBody>
      </p:sp>
      <p:sp>
        <p:nvSpPr>
          <p:cNvPr id="8" name="Text 6"/>
          <p:cNvSpPr/>
          <p:nvPr/>
        </p:nvSpPr>
        <p:spPr>
          <a:xfrm>
            <a:off x="685800" y="3374136"/>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[13] Alharthi &amp; Garcia. 2025. CIAF: An AI-Driven Approach to Cloud Forensics. ICDF2C.</a:t>
            </a:r>
            <a:endParaRPr lang="en-US" sz="1200" dirty="0"/>
          </a:p>
        </p:txBody>
      </p:sp>
      <p:sp>
        <p:nvSpPr>
          <p:cNvPr id="9" name="Text 7"/>
          <p:cNvSpPr/>
          <p:nvPr/>
        </p:nvSpPr>
        <p:spPr>
          <a:xfrm>
            <a:off x="685800" y="3794760"/>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[15] Manral et al. 2019. A Systematic Survey on Cloud Forensics. ACM Computing Surveys.</a:t>
            </a:r>
            <a:endParaRPr lang="en-US" sz="1200" dirty="0"/>
          </a:p>
        </p:txBody>
      </p:sp>
      <p:sp>
        <p:nvSpPr>
          <p:cNvPr id="10" name="Text 8"/>
          <p:cNvSpPr/>
          <p:nvPr/>
        </p:nvSpPr>
        <p:spPr>
          <a:xfrm>
            <a:off x="685800" y="4215384"/>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[19] Aktera et al. 2020. Cloud Forensics: Challenges and Blockchain-Based Solutions. IJWMT.</a:t>
            </a:r>
            <a:endParaRPr lang="en-US" sz="1200" dirty="0"/>
          </a:p>
        </p:txBody>
      </p:sp>
      <p:sp>
        <p:nvSpPr>
          <p:cNvPr id="11" name="Text 9"/>
          <p:cNvSpPr/>
          <p:nvPr/>
        </p:nvSpPr>
        <p:spPr>
          <a:xfrm>
            <a:off x="685800" y="4636008"/>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[20] Pourvahab &amp; Ekbatanifard. 2019. DF Architecture Using SDN and Blockchain. IEEE Access.</a:t>
            </a:r>
            <a:endParaRPr lang="en-US" sz="1200" dirty="0"/>
          </a:p>
        </p:txBody>
      </p:sp>
      <p:sp>
        <p:nvSpPr>
          <p:cNvPr id="12" name="Text 10"/>
          <p:cNvSpPr/>
          <p:nvPr/>
        </p:nvSpPr>
        <p:spPr>
          <a:xfrm>
            <a:off x="685800" y="5056632"/>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[26] ISO/IEC 27037:2012. Guidelines for Identification, Collection, and Preservation of Evidence.</a:t>
            </a:r>
            <a:endParaRPr lang="en-US" sz="1200" dirty="0"/>
          </a:p>
        </p:txBody>
      </p:sp>
      <p:sp>
        <p:nvSpPr>
          <p:cNvPr id="13" name="Text 11"/>
          <p:cNvSpPr/>
          <p:nvPr/>
        </p:nvSpPr>
        <p:spPr>
          <a:xfrm>
            <a:off x="685800" y="5477256"/>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[28] Herman et al. 2020. NISTIR 8006: NIST Cloud Computing Forensic Science Challenges.</a:t>
            </a:r>
            <a:endParaRPr lang="en-US" sz="1200" dirty="0"/>
          </a:p>
        </p:txBody>
      </p:sp>
      <p:sp>
        <p:nvSpPr>
          <p:cNvPr id="14" name="Text 12"/>
          <p:cNvSpPr/>
          <p:nvPr/>
        </p:nvSpPr>
        <p:spPr>
          <a:xfrm>
            <a:off x="640080" y="6053328"/>
            <a:ext cx="10058400" cy="27432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Selected 20 of 48 total references — full list in the complete survey paper.</a:t>
            </a:r>
            <a:endParaRPr lang="en-US" sz="1000" dirty="0"/>
          </a:p>
        </p:txBody>
      </p:sp>
      <p:sp>
        <p:nvSpPr>
          <p:cNvPr id="15" name="Text 1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640080" y="457200"/>
            <a:ext cx="9601200" cy="640080"/>
          </a:xfrm>
          <a:prstGeom prst="rect">
            <a:avLst/>
          </a:prstGeom>
          <a:noFill/>
          <a:ln/>
        </p:spPr>
        <p:txBody>
          <a:bodyPr wrap="square"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References (2/2)</a:t>
            </a:r>
            <a:endParaRPr lang="en-US" sz="3000" dirty="0"/>
          </a:p>
        </p:txBody>
      </p:sp>
      <p:sp>
        <p:nvSpPr>
          <p:cNvPr id="3" name="Text 1"/>
          <p:cNvSpPr/>
          <p:nvPr/>
        </p:nvSpPr>
        <p:spPr>
          <a:xfrm>
            <a:off x="640080" y="1024128"/>
            <a:ext cx="9875520" cy="36576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Recent cloud-specific work — 10 of 20 shown here</a:t>
            </a:r>
            <a:endParaRPr lang="en-US" sz="1500" dirty="0"/>
          </a:p>
        </p:txBody>
      </p:sp>
      <p:sp>
        <p:nvSpPr>
          <p:cNvPr id="4" name="Text 2"/>
          <p:cNvSpPr/>
          <p:nvPr/>
        </p:nvSpPr>
        <p:spPr>
          <a:xfrm>
            <a:off x="685800" y="1691640"/>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[37] Herman et al. 2024. NIST SP 800-201: Cloud Computing Forensic Reference Architecture.</a:t>
            </a:r>
            <a:endParaRPr lang="en-US" sz="1200" dirty="0"/>
          </a:p>
        </p:txBody>
      </p:sp>
      <p:sp>
        <p:nvSpPr>
          <p:cNvPr id="5" name="Text 3"/>
          <p:cNvSpPr/>
          <p:nvPr/>
        </p:nvSpPr>
        <p:spPr>
          <a:xfrm>
            <a:off x="685800" y="2112264"/>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[38] ISO/IEC 27043:2015. Incident Investigation Principles and Processes.</a:t>
            </a:r>
            <a:endParaRPr lang="en-US" sz="1200" dirty="0"/>
          </a:p>
        </p:txBody>
      </p:sp>
      <p:sp>
        <p:nvSpPr>
          <p:cNvPr id="6" name="Text 4"/>
          <p:cNvSpPr/>
          <p:nvPr/>
        </p:nvSpPr>
        <p:spPr>
          <a:xfrm>
            <a:off x="685800" y="2532888"/>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[39] Dhital et al. 2026. Forensic Blind Spots in Ephemeral Cloud VMs. APIT 2026.</a:t>
            </a:r>
            <a:endParaRPr lang="en-US" sz="1200" dirty="0"/>
          </a:p>
        </p:txBody>
      </p:sp>
      <p:sp>
        <p:nvSpPr>
          <p:cNvPr id="7" name="Text 5"/>
          <p:cNvSpPr/>
          <p:nvPr/>
        </p:nvSpPr>
        <p:spPr>
          <a:xfrm>
            <a:off x="685800" y="2953512"/>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[42] Ekwempu. 2026. Legal Complexities of Cloud Forensic Investigations Cross-Border. IJRIAS.</a:t>
            </a:r>
            <a:endParaRPr lang="en-US" sz="1200" dirty="0"/>
          </a:p>
        </p:txBody>
      </p:sp>
      <p:sp>
        <p:nvSpPr>
          <p:cNvPr id="8" name="Text 6"/>
          <p:cNvSpPr/>
          <p:nvPr/>
        </p:nvSpPr>
        <p:spPr>
          <a:xfrm>
            <a:off x="685800" y="3374136"/>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[43] Congressional Research Service. 2018. Cross-Border Data Sharing Under the CLOUD Act.</a:t>
            </a:r>
            <a:endParaRPr lang="en-US" sz="1200" dirty="0"/>
          </a:p>
        </p:txBody>
      </p:sp>
      <p:sp>
        <p:nvSpPr>
          <p:cNvPr id="9" name="Text 7"/>
          <p:cNvSpPr/>
          <p:nvPr/>
        </p:nvSpPr>
        <p:spPr>
          <a:xfrm>
            <a:off x="685800" y="3794760"/>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[44] Rajaa &amp; Wasan. 2026. Forensic Readiness Framework for Multi-Tenant Edge-Cloud. ICAIIT.</a:t>
            </a:r>
            <a:endParaRPr lang="en-US" sz="1200" dirty="0"/>
          </a:p>
        </p:txBody>
      </p:sp>
      <p:sp>
        <p:nvSpPr>
          <p:cNvPr id="10" name="Text 8"/>
          <p:cNvSpPr/>
          <p:nvPr/>
        </p:nvSpPr>
        <p:spPr>
          <a:xfrm>
            <a:off x="685800" y="4215384"/>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[45] Ahmed et al. 2024. IoT Forensics: Current Perspectives and Future Directions. Sensors.</a:t>
            </a:r>
            <a:endParaRPr lang="en-US" sz="1200" dirty="0"/>
          </a:p>
        </p:txBody>
      </p:sp>
      <p:sp>
        <p:nvSpPr>
          <p:cNvPr id="11" name="Text 9"/>
          <p:cNvSpPr/>
          <p:nvPr/>
        </p:nvSpPr>
        <p:spPr>
          <a:xfrm>
            <a:off x="685800" y="4636008"/>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[46] Mukti &amp; Hanif. 2025. AI in Cloud Forensics: Automating Evidence Acquisition. Forensics &amp; Security J.</a:t>
            </a:r>
            <a:endParaRPr lang="en-US" sz="1200" dirty="0"/>
          </a:p>
        </p:txBody>
      </p:sp>
      <p:sp>
        <p:nvSpPr>
          <p:cNvPr id="12" name="Text 10"/>
          <p:cNvSpPr/>
          <p:nvPr/>
        </p:nvSpPr>
        <p:spPr>
          <a:xfrm>
            <a:off x="685800" y="5056632"/>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[47] Vucha &amp; Kamarapu. 2025. AI-Driven Cloud Forensics: A Novel Framework. IRJET.</a:t>
            </a:r>
            <a:endParaRPr lang="en-US" sz="1200" dirty="0"/>
          </a:p>
        </p:txBody>
      </p:sp>
      <p:sp>
        <p:nvSpPr>
          <p:cNvPr id="13" name="Text 11"/>
          <p:cNvSpPr/>
          <p:nvPr/>
        </p:nvSpPr>
        <p:spPr>
          <a:xfrm>
            <a:off x="685800" y="5477256"/>
            <a:ext cx="10881360" cy="384048"/>
          </a:xfrm>
          <a:prstGeom prst="rect">
            <a:avLst/>
          </a:prstGeom>
          <a:noFill/>
          <a:ln/>
        </p:spPr>
        <p:txBody>
          <a:bodyPr wrap="square" rtlCol="0" anchor="t"/>
          <a:lstStyle/>
          <a:p>
            <a:pPr indent="0" marL="0">
              <a:buNone/>
            </a:pPr>
            <a:r>
              <a:rPr lang="en-US" sz="1200" dirty="0">
                <a:solidFill>
                  <a:srgbClr val="1A1F36"/>
                </a:solidFill>
                <a:latin typeface="Calibri" pitchFamily="34" charset="0"/>
                <a:ea typeface="Calibri" pitchFamily="34" charset="-122"/>
                <a:cs typeface="Calibri" pitchFamily="34" charset="-120"/>
              </a:rPr>
              <a:t>[48] Chourasiya et al. 2025. Advanced System Log Analyzer Using LSTM and Transformer. J. Cloud Computing.</a:t>
            </a:r>
            <a:endParaRPr lang="en-US" sz="1200" dirty="0"/>
          </a:p>
        </p:txBody>
      </p:sp>
      <p:sp>
        <p:nvSpPr>
          <p:cNvPr id="14" name="Text 12"/>
          <p:cNvSpPr/>
          <p:nvPr/>
        </p:nvSpPr>
        <p:spPr>
          <a:xfrm>
            <a:off x="640080" y="6053328"/>
            <a:ext cx="10058400" cy="27432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Selected 20 of 48 total references — full list in the complete survey paper.</a:t>
            </a:r>
            <a:endParaRPr lang="en-US" sz="1000" dirty="0"/>
          </a:p>
        </p:txBody>
      </p:sp>
      <p:sp>
        <p:nvSpPr>
          <p:cNvPr id="15" name="Text 1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Modern Cloud Forensics — 1st Presentation: Literature Review</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C42"/>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B2A5B"/>
          </a:solidFill>
          <a:ln/>
        </p:spPr>
      </p:sp>
      <p:sp>
        <p:nvSpPr>
          <p:cNvPr id="3" name="Shape 1"/>
          <p:cNvSpPr/>
          <p:nvPr/>
        </p:nvSpPr>
        <p:spPr>
          <a:xfrm>
            <a:off x="10332720" y="-822960"/>
            <a:ext cx="3291840" cy="3291840"/>
          </a:xfrm>
          <a:prstGeom prst="ellipse">
            <a:avLst/>
          </a:prstGeom>
          <a:solidFill>
            <a:srgbClr val="3E5C8A">
              <a:alpha val="45000"/>
            </a:srgbClr>
          </a:solidFill>
          <a:ln/>
        </p:spPr>
      </p:sp>
      <p:pic>
        <p:nvPicPr>
          <p:cNvPr id="4" name="Image 0" descr="icon_book_00C2A8.png">    </p:cNvPr>
          <p:cNvPicPr>
            <a:picLocks noChangeAspect="1"/>
          </p:cNvPicPr>
          <p:nvPr/>
        </p:nvPicPr>
        <p:blipFill>
          <a:blip r:embed="rId1"/>
          <a:stretch>
            <a:fillRect/>
          </a:stretch>
        </p:blipFill>
        <p:spPr>
          <a:xfrm>
            <a:off x="640080" y="1965960"/>
            <a:ext cx="822960" cy="822960"/>
          </a:xfrm>
          <a:prstGeom prst="rect">
            <a:avLst/>
          </a:prstGeom>
        </p:spPr>
      </p:pic>
      <p:sp>
        <p:nvSpPr>
          <p:cNvPr id="5" name="Text 2"/>
          <p:cNvSpPr/>
          <p:nvPr/>
        </p:nvSpPr>
        <p:spPr>
          <a:xfrm>
            <a:off x="1645920" y="2011680"/>
            <a:ext cx="731520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6" name="Text 3"/>
          <p:cNvSpPr/>
          <p:nvPr/>
        </p:nvSpPr>
        <p:spPr>
          <a:xfrm>
            <a:off x="1645920" y="2834640"/>
            <a:ext cx="7315200" cy="45720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Questions welcome</a:t>
            </a:r>
            <a:endParaRPr lang="en-US" sz="1700" dirty="0"/>
          </a:p>
        </p:txBody>
      </p:sp>
      <p:sp>
        <p:nvSpPr>
          <p:cNvPr id="7" name="Text 4"/>
          <p:cNvSpPr/>
          <p:nvPr/>
        </p:nvSpPr>
        <p:spPr>
          <a:xfrm>
            <a:off x="640080" y="4206240"/>
            <a:ext cx="10515600" cy="457200"/>
          </a:xfrm>
          <a:prstGeom prst="rect">
            <a:avLst/>
          </a:prstGeom>
          <a:noFill/>
          <a:ln/>
        </p:spPr>
        <p:txBody>
          <a:bodyPr wrap="square" rtlCol="0" anchor="ctr"/>
          <a:lstStyle/>
          <a:p>
            <a:pPr indent="0" marL="0">
              <a:buNone/>
            </a:pPr>
            <a:r>
              <a:rPr lang="en-US" sz="1400" dirty="0">
                <a:solidFill>
                  <a:srgbClr val="AEB9DE"/>
                </a:solidFill>
                <a:latin typeface="Calibri" pitchFamily="34" charset="0"/>
                <a:ea typeface="Calibri" pitchFamily="34" charset="-122"/>
                <a:cs typeface="Calibri" pitchFamily="34" charset="-120"/>
              </a:rPr>
              <a:t>Next milestone: taxonomy and comparative analysis (mid-term presentation)</a:t>
            </a:r>
            <a:endParaRPr lang="en-US" sz="1400" dirty="0"/>
          </a:p>
        </p:txBody>
      </p:sp>
      <p:sp>
        <p:nvSpPr>
          <p:cNvPr id="8" name="Text 5"/>
          <p:cNvSpPr/>
          <p:nvPr/>
        </p:nvSpPr>
        <p:spPr>
          <a:xfrm>
            <a:off x="640080" y="5943600"/>
            <a:ext cx="10058400" cy="365760"/>
          </a:xfrm>
          <a:prstGeom prst="rect">
            <a:avLst/>
          </a:prstGeom>
          <a:noFill/>
          <a:ln/>
        </p:spPr>
        <p:txBody>
          <a:bodyPr wrap="square" rtlCol="0" anchor="ctr"/>
          <a:lstStyle/>
          <a:p>
            <a:pPr indent="0" marL="0">
              <a:buNone/>
            </a:pPr>
            <a:r>
              <a:rPr lang="en-US" sz="1200" dirty="0">
                <a:solidFill>
                  <a:srgbClr val="7C89B5"/>
                </a:solidFill>
                <a:latin typeface="Calibri" pitchFamily="34" charset="0"/>
                <a:ea typeface="Calibri" pitchFamily="34" charset="-122"/>
                <a:cs typeface="Calibri" pitchFamily="34" charset="-120"/>
              </a:rPr>
              <a:t>MD. Ahsan Kabir  ·  0122520016  ·  mkabir2520016@mscse.uiu.ac.bd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2026-07-30T13:02:39Z</dcterms:created>
  <dcterms:modified xsi:type="dcterms:W3CDTF">2026-07-30T13:02:39Z</dcterms:modified>
</cp:coreProperties>
</file>