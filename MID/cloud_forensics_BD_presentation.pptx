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My presentation is on Cloud Forensics in Bangladesh — specifically a PRISMA-guided systematic review of the challenges, investigative frameworks, and legal considerations. This is my mid-term research report for CSE 6093 RMTW. The study addresses a significant gap: Bangladesh is rapidly adopting cloud computing but lacks both the investigative tools and legal framework to handle cloud-based digital evidence effectively.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Bangladesh's digital landscape is growing fast. Over 40 million active internet users, a government pushing cloud-first services, yet a 2016 bank heist that cost USD 81 million exposed just how unprepared the country's forensic and legal infrastructure is. Cybercrime cases have quadrupled between 2018 and 2023. There is almost no peer-reviewed literature on cloud forensics in this specific Bangladeshi context — which is precisely why this systematic review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formulated three research questions. RQ1 asks what the main challenges are — technical, organizational, and legal — with emphasis on how they play out in a developing-country context like Bangladesh. RQ2 examines the proposed forensic frameworks: are they actually applicable given Bangladesh's limited infrastructure? RQ3 looks at the legal side — specifically Bangladesh's ICT Act 2006 and the new Cyber Security Act 2023 — and maps where the legal gaps are most severe.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methodology follows PRISMA 2020 — the gold standard for systematic reviews. I formulate research questions, execute a structured Boolean search across four major databases from 2010 to 2026, screen records in two stages, apply MMAT quality appraisal, and then extract and synthesize using inductive thematic analysis. The search string is built around three logical clusters: cloud forensics domain terms, technical/methodological terms, and legal/geographic terms including Bangladesh-specific legislation.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Following the PRISMA flow: We started with 756 records across 4 databases. After removing 233 duplicates, 523 unique records remained. Two reviewers independently screened titles and abstracts — inter-rater agreement was strong at κ=0.83. That eliminated 436 records, leaving 87 for full-text assessment. After applying the full eligibility criteria, 69 more were excluded — 35 for insufficient relevance, 19 for methodological concerns, 15 inaccessible. Final included set: 18 peer-reviewed studies.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summarizes the 8 most important papers from our included set. Alshabibi et al. provides our PRISMA methodology model. Bai &amp; Sudha gives us the framework taxonomy. Ekwempu and Ibrahim et al. cover the legal complexity and framework gaps respectively. The four Bangladesh-focused papers — Hossain &amp; Mallika, Momtaz, Uzzal, and Hasan — form our country-specific evidence base. Together they show that Bangladesh's legal framework lacks explicit cloud provisions, forensic labs are under-resourced, and conviction rates suffer because of evidence handling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literature reveals three primary challenge categories. Technical challenges account for 42% and include multi-tenancy (where multiple customers share the same hardware), volatile data in virtual machines that can be wiped between investigation stages, and encryption making logs inaccessible. Legal and jurisdictional challenges at 28% are particularly acute in Bangladesh — the ICT Act and Cyber Security Act simply do not address cloud-specific evidence procedures. Organizational capacity challenges at 30% are the most visible in Bangladesh: CID lacks trained personnel, there's no dedicated cyber police, and no formal CERT.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Bangladesh has four major cyber laws. The foundational ICT Act of 2006, the Digital Security Act of 2018, the Evidence Act Amendment in 2022, and the new Cyber Security Act of 2023. However — none of these contain cloud forensics provisions. On the right you see the 8 critical gaps: there's no definition of cloud evidence, no mandated CSP cooperation, no chain-of-custody protocol, and no mutual legal assistance treaties with major cloud hosting countries like the US, Ireland (where many AWS and Azure servers are located), or Singapore. The consequence is that Bangladesh's courts cannot reliably admit cloud-sourced evidence, and investigation is stalled at every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compares four key forensic frameworks against Bangladesh's reality. NIST SP 800-86 is the most widely used — but has a 54.9% coverage gap in cloud environments as shown by Ibrahim et al.'s Indonesian study, which mirrors Bangladesh's situation. ISO/IEC 27037 covers evidence handling internationally but is not legally binding in Bangladesh. Cloud-specific frameworks like CLASS and CFLOG require either CSP cooperation or blockchain infrastructure — both absent in Bangladesh's current forensic architecture. The bottom line: no existing framework is directly deployable in Bangladesh without substantial institutional adaptation.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synthesizes findings across our three research questions. For RQ1: challenges are compounded in Bangladesh by institutional gaps — there is effectively no specialized cloud forensic unit in the country. For RQ2: even the best available framework (NIST SP 800-86) covers less than half of what modern cloud environments require. For RQ3: the legal gaps are fundamental — without a definition of cloud evidence in law, without mandated CSP cooperation, and without cross-border agreements, no investigative framework can be operationally effective.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our synthesis, I propose both short-term policy actions and a future research agenda. In the short term: Bangladesh needs to amend the CSA 2023 to define cloud evidence, establish mandatory CSP cooperation agreements, create a dedicated CID cloud forensics unit, and adapt NIST SP 800-86 to the local environment. For future research: an empirical study of actual forensic readiness in BD agencies is essential. A comparative legal study with India and Sri Lanka would contextualize the gaps. Ultimately, the goal is a Bangladesh Cloud Forensics Framework — BCFF — that is legally grounded, institutionally feasible, and regionally coordinated.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this systematic review synthesized 18 peer-reviewed studies following PRISMA 2020 guidelines. The key takeaway is that Bangladesh stands at a critical juncture. Cloud adoption is surging — but forensic readiness, legal infrastructure, and institutional capacity have not kept up. Technical challenges in cloud forensics are universal, but Bangladesh's legal gaps are uniquely severe given the complete absence of cloud evidence provisions in any of its three major cyber laws. No existing global framework is directly deployable without adaptation. The path forward requires legislative amendment, institutional investment, and regional cooperation — and this review provides the evidence base to argue for exactly that. Thank you —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2C39A"/>
          </a:solidFill>
          <a:ln w="12700">
            <a:solidFill>
              <a:srgbClr val="02C39A"/>
            </a:solidFill>
            <a:prstDash val="solid"/>
          </a:ln>
        </p:spPr>
      </p:sp>
      <p:sp>
        <p:nvSpPr>
          <p:cNvPr id="3" name="Text 1"/>
          <p:cNvSpPr/>
          <p:nvPr/>
        </p:nvSpPr>
        <p:spPr>
          <a:xfrm>
            <a:off x="457200" y="731520"/>
            <a:ext cx="8229600" cy="1005840"/>
          </a:xfrm>
          <a:prstGeom prst="rect">
            <a:avLst/>
          </a:prstGeom>
          <a:noFill/>
          <a:ln/>
        </p:spPr>
        <p:txBody>
          <a:bodyPr wrap="square"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Cloud Forensics in Bangladesh</a:t>
            </a:r>
            <a:endParaRPr lang="en-US" sz="4000" dirty="0"/>
          </a:p>
        </p:txBody>
      </p:sp>
      <p:sp>
        <p:nvSpPr>
          <p:cNvPr id="4" name="Text 2"/>
          <p:cNvSpPr/>
          <p:nvPr/>
        </p:nvSpPr>
        <p:spPr>
          <a:xfrm>
            <a:off x="457200" y="1737360"/>
            <a:ext cx="8229600" cy="1005840"/>
          </a:xfrm>
          <a:prstGeom prst="rect">
            <a:avLst/>
          </a:prstGeom>
          <a:noFill/>
          <a:ln/>
        </p:spPr>
        <p:txBody>
          <a:bodyPr wrap="square" rtlCol="0" anchor="ctr"/>
          <a:lstStyle/>
          <a:p>
            <a:pPr algn="ctr" indent="0" marL="0">
              <a:buNone/>
            </a:pPr>
            <a:r>
              <a:rPr lang="en-US" sz="2200" i="1" dirty="0">
                <a:solidFill>
                  <a:srgbClr val="CADCFC"/>
                </a:solidFill>
                <a:latin typeface="Cambria" pitchFamily="34" charset="0"/>
                <a:ea typeface="Cambria" pitchFamily="34" charset="-122"/>
                <a:cs typeface="Cambria" pitchFamily="34" charset="-120"/>
              </a:rPr>
              <a:t>A PRISMA-Guided Systematic Review of</a:t>
            </a:r>
            <a:endParaRPr lang="en-US" sz="2200" dirty="0"/>
          </a:p>
          <a:p>
            <a:pPr algn="ctr" indent="0" marL="0">
              <a:buNone/>
            </a:pPr>
            <a:r>
              <a:rPr lang="en-US" sz="2200" i="1" dirty="0">
                <a:solidFill>
                  <a:srgbClr val="CADCFC"/>
                </a:solidFill>
                <a:latin typeface="Cambria" pitchFamily="34" charset="0"/>
                <a:ea typeface="Cambria" pitchFamily="34" charset="-122"/>
                <a:cs typeface="Cambria" pitchFamily="34" charset="-120"/>
              </a:rPr>
              <a:t>Challenges, Frameworks, and Legal Considerations</a:t>
            </a:r>
            <a:endParaRPr lang="en-US" sz="2200" dirty="0"/>
          </a:p>
        </p:txBody>
      </p:sp>
      <p:sp>
        <p:nvSpPr>
          <p:cNvPr id="5" name="Shape 3"/>
          <p:cNvSpPr/>
          <p:nvPr/>
        </p:nvSpPr>
        <p:spPr>
          <a:xfrm>
            <a:off x="3200400" y="2834640"/>
            <a:ext cx="2743200" cy="36576"/>
          </a:xfrm>
          <a:prstGeom prst="rect">
            <a:avLst/>
          </a:prstGeom>
          <a:solidFill>
            <a:srgbClr val="028090"/>
          </a:solidFill>
          <a:ln w="12700">
            <a:solidFill>
              <a:srgbClr val="028090"/>
            </a:solidFill>
            <a:prstDash val="solid"/>
          </a:ln>
        </p:spPr>
      </p:sp>
      <p:sp>
        <p:nvSpPr>
          <p:cNvPr id="6" name="Text 4"/>
          <p:cNvSpPr/>
          <p:nvPr/>
        </p:nvSpPr>
        <p:spPr>
          <a:xfrm>
            <a:off x="457200" y="3017520"/>
            <a:ext cx="8229600" cy="36576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Md. Ahsan Kabir</a:t>
            </a:r>
            <a:endParaRPr lang="en-US" sz="1800" dirty="0"/>
          </a:p>
        </p:txBody>
      </p:sp>
      <p:sp>
        <p:nvSpPr>
          <p:cNvPr id="7" name="Text 5"/>
          <p:cNvSpPr/>
          <p:nvPr/>
        </p:nvSpPr>
        <p:spPr>
          <a:xfrm>
            <a:off x="457200" y="3429000"/>
            <a:ext cx="8229600" cy="320040"/>
          </a:xfrm>
          <a:prstGeom prst="rect">
            <a:avLst/>
          </a:prstGeom>
          <a:noFill/>
          <a:ln/>
        </p:spPr>
        <p:txBody>
          <a:bodyPr wrap="square" rtlCol="0" anchor="ctr"/>
          <a:lstStyle/>
          <a:p>
            <a:pPr algn="ctr" indent="0" marL="0">
              <a:buNone/>
            </a:pPr>
            <a:r>
              <a:rPr lang="en-US" sz="1300" dirty="0">
                <a:solidFill>
                  <a:srgbClr val="CADCFC"/>
                </a:solidFill>
                <a:latin typeface="Calibri" pitchFamily="34" charset="0"/>
                <a:ea typeface="Calibri" pitchFamily="34" charset="-122"/>
                <a:cs typeface="Calibri" pitchFamily="34" charset="-120"/>
              </a:rPr>
              <a:t>Department of CSE  |  BJIT Limited, Dhaka, Bangladesh</a:t>
            </a:r>
            <a:endParaRPr lang="en-US" sz="1300" dirty="0"/>
          </a:p>
        </p:txBody>
      </p:sp>
      <p:sp>
        <p:nvSpPr>
          <p:cNvPr id="8" name="Text 6"/>
          <p:cNvSpPr/>
          <p:nvPr/>
        </p:nvSpPr>
        <p:spPr>
          <a:xfrm>
            <a:off x="457200" y="3840480"/>
            <a:ext cx="8229600" cy="320040"/>
          </a:xfrm>
          <a:prstGeom prst="rect">
            <a:avLst/>
          </a:prstGeom>
          <a:noFill/>
          <a:ln/>
        </p:spPr>
        <p:txBody>
          <a:bodyPr wrap="square" rtlCol="0" anchor="ctr"/>
          <a:lstStyle/>
          <a:p>
            <a:pPr algn="ctr" indent="0" marL="0">
              <a:buNone/>
            </a:pPr>
            <a:r>
              <a:rPr lang="en-US" sz="1300" dirty="0">
                <a:solidFill>
                  <a:srgbClr val="CADCFC"/>
                </a:solidFill>
                <a:latin typeface="Calibri" pitchFamily="34" charset="0"/>
                <a:ea typeface="Calibri" pitchFamily="34" charset="-122"/>
                <a:cs typeface="Calibri" pitchFamily="34" charset="-120"/>
              </a:rPr>
              <a:t>CSE 6093 — Research Methodology &amp; Technical Writing (RMTW)</a:t>
            </a:r>
            <a:endParaRPr lang="en-US" sz="1300" dirty="0"/>
          </a:p>
        </p:txBody>
      </p:sp>
      <p:sp>
        <p:nvSpPr>
          <p:cNvPr id="9" name="Text 7"/>
          <p:cNvSpPr/>
          <p:nvPr/>
        </p:nvSpPr>
        <p:spPr>
          <a:xfrm>
            <a:off x="457200" y="4224528"/>
            <a:ext cx="8229600" cy="320040"/>
          </a:xfrm>
          <a:prstGeom prst="rect">
            <a:avLst/>
          </a:prstGeom>
          <a:noFill/>
          <a:ln/>
        </p:spPr>
        <p:txBody>
          <a:bodyPr wrap="square" rtlCol="0" anchor="ctr"/>
          <a:lstStyle/>
          <a:p>
            <a:pPr algn="ctr" indent="0" marL="0">
              <a:buNone/>
            </a:pPr>
            <a:r>
              <a:rPr lang="en-US" sz="1200" dirty="0">
                <a:solidFill>
                  <a:srgbClr val="02C39A"/>
                </a:solidFill>
                <a:latin typeface="Calibri" pitchFamily="34" charset="0"/>
                <a:ea typeface="Calibri" pitchFamily="34" charset="-122"/>
                <a:cs typeface="Calibri" pitchFamily="34" charset="-120"/>
              </a:rPr>
              <a:t>Mid-Term Examination  |  August 2026</a:t>
            </a:r>
            <a:endParaRPr lang="en-US" sz="1200" dirty="0"/>
          </a:p>
        </p:txBody>
      </p:sp>
      <p:sp>
        <p:nvSpPr>
          <p:cNvPr id="10" name="Shape 8"/>
          <p:cNvSpPr/>
          <p:nvPr/>
        </p:nvSpPr>
        <p:spPr>
          <a:xfrm>
            <a:off x="0" y="5074920"/>
            <a:ext cx="9144000" cy="64008"/>
          </a:xfrm>
          <a:prstGeom prst="rect">
            <a:avLst/>
          </a:prstGeom>
          <a:solidFill>
            <a:srgbClr val="028090"/>
          </a:solidFill>
          <a:ln w="12700">
            <a:solidFill>
              <a:srgbClr val="028090"/>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E2761"/>
          </a:solidFill>
          <a:ln w="12700">
            <a:solidFill>
              <a:srgbClr val="1E2761"/>
            </a:solidFill>
            <a:prstDash val="solid"/>
          </a:ln>
        </p:spPr>
      </p:sp>
      <p:sp>
        <p:nvSpPr>
          <p:cNvPr id="3" name="Text 1"/>
          <p:cNvSpPr/>
          <p:nvPr/>
        </p:nvSpPr>
        <p:spPr>
          <a:xfrm>
            <a:off x="365760" y="137160"/>
            <a:ext cx="8412480" cy="54864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Why Bangladesh? Research Motivation</a:t>
            </a:r>
            <a:endParaRPr lang="en-US" sz="2800" dirty="0"/>
          </a:p>
        </p:txBody>
      </p:sp>
      <p:sp>
        <p:nvSpPr>
          <p:cNvPr id="4" name="Shape 2"/>
          <p:cNvSpPr/>
          <p:nvPr/>
        </p:nvSpPr>
        <p:spPr>
          <a:xfrm>
            <a:off x="365760" y="658368"/>
            <a:ext cx="2011680" cy="36576"/>
          </a:xfrm>
          <a:prstGeom prst="rect">
            <a:avLst/>
          </a:prstGeom>
          <a:solidFill>
            <a:srgbClr val="028090"/>
          </a:solidFill>
          <a:ln w="12700">
            <a:solidFill>
              <a:srgbClr val="028090"/>
            </a:solidFill>
            <a:prstDash val="solid"/>
          </a:ln>
        </p:spPr>
      </p:sp>
      <p:sp>
        <p:nvSpPr>
          <p:cNvPr id="5" name="Shape 3"/>
          <p:cNvSpPr/>
          <p:nvPr/>
        </p:nvSpPr>
        <p:spPr>
          <a:xfrm>
            <a:off x="365760" y="822960"/>
            <a:ext cx="2651760" cy="1554480"/>
          </a:xfrm>
          <a:prstGeom prst="rect">
            <a:avLst/>
          </a:prstGeom>
          <a:solidFill>
            <a:srgbClr val="F4F7FB"/>
          </a:solidFill>
          <a:ln w="12700">
            <a:solidFill>
              <a:srgbClr val="D6E4F7"/>
            </a:solidFill>
            <a:prstDash val="solid"/>
          </a:ln>
        </p:spPr>
      </p:sp>
      <p:sp>
        <p:nvSpPr>
          <p:cNvPr id="6" name="Text 4"/>
          <p:cNvSpPr/>
          <p:nvPr/>
        </p:nvSpPr>
        <p:spPr>
          <a:xfrm>
            <a:off x="365760" y="868680"/>
            <a:ext cx="265176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365760" y="1298448"/>
            <a:ext cx="2651760" cy="502920"/>
          </a:xfrm>
          <a:prstGeom prst="rect">
            <a:avLst/>
          </a:prstGeom>
          <a:noFill/>
          <a:ln/>
        </p:spPr>
        <p:txBody>
          <a:bodyPr wrap="square" rtlCol="0" anchor="ctr"/>
          <a:lstStyle/>
          <a:p>
            <a:pPr algn="ctr" indent="0" marL="0">
              <a:buNone/>
            </a:pPr>
            <a:r>
              <a:rPr lang="en-US" sz="2600" b="1" dirty="0">
                <a:solidFill>
                  <a:srgbClr val="1E2761"/>
                </a:solidFill>
                <a:latin typeface="Cambria" pitchFamily="34" charset="0"/>
                <a:ea typeface="Cambria" pitchFamily="34" charset="-122"/>
                <a:cs typeface="Cambria" pitchFamily="34" charset="-120"/>
              </a:rPr>
              <a:t>40M+</a:t>
            </a:r>
            <a:endParaRPr lang="en-US" sz="2600" dirty="0"/>
          </a:p>
        </p:txBody>
      </p:sp>
      <p:sp>
        <p:nvSpPr>
          <p:cNvPr id="8" name="Text 6"/>
          <p:cNvSpPr/>
          <p:nvPr/>
        </p:nvSpPr>
        <p:spPr>
          <a:xfrm>
            <a:off x="365760" y="1801368"/>
            <a:ext cx="2651760" cy="502920"/>
          </a:xfrm>
          <a:prstGeom prst="rect">
            <a:avLst/>
          </a:prstGeom>
          <a:noFill/>
          <a:ln/>
        </p:spPr>
        <p:txBody>
          <a:bodyPr wrap="square" rtlCol="0" anchor="ctr"/>
          <a:lstStyle/>
          <a:p>
            <a:pPr algn="ctr" indent="0" marL="0">
              <a:buNone/>
            </a:pPr>
            <a:r>
              <a:rPr lang="en-US" sz="1150" dirty="0">
                <a:solidFill>
                  <a:srgbClr val="374151"/>
                </a:solidFill>
                <a:latin typeface="Calibri" pitchFamily="34" charset="0"/>
                <a:ea typeface="Calibri" pitchFamily="34" charset="-122"/>
                <a:cs typeface="Calibri" pitchFamily="34" charset="-120"/>
              </a:rPr>
              <a:t>Active internet users</a:t>
            </a:r>
            <a:endParaRPr lang="en-US" sz="1150" dirty="0"/>
          </a:p>
          <a:p>
            <a:pPr algn="ctr" indent="0" marL="0">
              <a:buNone/>
            </a:pPr>
            <a:r>
              <a:rPr lang="en-US" sz="1150" dirty="0">
                <a:solidFill>
                  <a:srgbClr val="374151"/>
                </a:solidFill>
                <a:latin typeface="Calibri" pitchFamily="34" charset="0"/>
                <a:ea typeface="Calibri" pitchFamily="34" charset="-122"/>
                <a:cs typeface="Calibri" pitchFamily="34" charset="-120"/>
              </a:rPr>
              <a:t>in Bangladesh (2024)</a:t>
            </a:r>
            <a:endParaRPr lang="en-US" sz="1150" dirty="0"/>
          </a:p>
        </p:txBody>
      </p:sp>
      <p:sp>
        <p:nvSpPr>
          <p:cNvPr id="9" name="Shape 7"/>
          <p:cNvSpPr/>
          <p:nvPr/>
        </p:nvSpPr>
        <p:spPr>
          <a:xfrm>
            <a:off x="3291840" y="822960"/>
            <a:ext cx="2651760" cy="1554480"/>
          </a:xfrm>
          <a:prstGeom prst="rect">
            <a:avLst/>
          </a:prstGeom>
          <a:solidFill>
            <a:srgbClr val="F4F7FB"/>
          </a:solidFill>
          <a:ln w="12700">
            <a:solidFill>
              <a:srgbClr val="D6E4F7"/>
            </a:solidFill>
            <a:prstDash val="solid"/>
          </a:ln>
        </p:spPr>
      </p:sp>
      <p:sp>
        <p:nvSpPr>
          <p:cNvPr id="10" name="Text 8"/>
          <p:cNvSpPr/>
          <p:nvPr/>
        </p:nvSpPr>
        <p:spPr>
          <a:xfrm>
            <a:off x="3291840" y="868680"/>
            <a:ext cx="265176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1" name="Text 9"/>
          <p:cNvSpPr/>
          <p:nvPr/>
        </p:nvSpPr>
        <p:spPr>
          <a:xfrm>
            <a:off x="3291840" y="1298448"/>
            <a:ext cx="2651760" cy="502920"/>
          </a:xfrm>
          <a:prstGeom prst="rect">
            <a:avLst/>
          </a:prstGeom>
          <a:noFill/>
          <a:ln/>
        </p:spPr>
        <p:txBody>
          <a:bodyPr wrap="square" rtlCol="0" anchor="ctr"/>
          <a:lstStyle/>
          <a:p>
            <a:pPr algn="ctr" indent="0" marL="0">
              <a:buNone/>
            </a:pPr>
            <a:r>
              <a:rPr lang="en-US" sz="2600" b="1" dirty="0">
                <a:solidFill>
                  <a:srgbClr val="1E2761"/>
                </a:solidFill>
                <a:latin typeface="Cambria" pitchFamily="34" charset="0"/>
                <a:ea typeface="Cambria" pitchFamily="34" charset="-122"/>
                <a:cs typeface="Cambria" pitchFamily="34" charset="-120"/>
              </a:rPr>
              <a:t>USD 81M</a:t>
            </a:r>
            <a:endParaRPr lang="en-US" sz="2600" dirty="0"/>
          </a:p>
        </p:txBody>
      </p:sp>
      <p:sp>
        <p:nvSpPr>
          <p:cNvPr id="12" name="Text 10"/>
          <p:cNvSpPr/>
          <p:nvPr/>
        </p:nvSpPr>
        <p:spPr>
          <a:xfrm>
            <a:off x="3291840" y="1801368"/>
            <a:ext cx="2651760" cy="502920"/>
          </a:xfrm>
          <a:prstGeom prst="rect">
            <a:avLst/>
          </a:prstGeom>
          <a:noFill/>
          <a:ln/>
        </p:spPr>
        <p:txBody>
          <a:bodyPr wrap="square" rtlCol="0" anchor="ctr"/>
          <a:lstStyle/>
          <a:p>
            <a:pPr algn="ctr" indent="0" marL="0">
              <a:buNone/>
            </a:pPr>
            <a:r>
              <a:rPr lang="en-US" sz="1150" dirty="0">
                <a:solidFill>
                  <a:srgbClr val="374151"/>
                </a:solidFill>
                <a:latin typeface="Calibri" pitchFamily="34" charset="0"/>
                <a:ea typeface="Calibri" pitchFamily="34" charset="-122"/>
                <a:cs typeface="Calibri" pitchFamily="34" charset="-120"/>
              </a:rPr>
              <a:t>Stolen in Bangladesh</a:t>
            </a:r>
            <a:endParaRPr lang="en-US" sz="1150" dirty="0"/>
          </a:p>
          <a:p>
            <a:pPr algn="ctr" indent="0" marL="0">
              <a:buNone/>
            </a:pPr>
            <a:r>
              <a:rPr lang="en-US" sz="1150" dirty="0">
                <a:solidFill>
                  <a:srgbClr val="374151"/>
                </a:solidFill>
                <a:latin typeface="Calibri" pitchFamily="34" charset="0"/>
                <a:ea typeface="Calibri" pitchFamily="34" charset="-122"/>
                <a:cs typeface="Calibri" pitchFamily="34" charset="-120"/>
              </a:rPr>
              <a:t>Bank SWIFT heist (2016)</a:t>
            </a:r>
            <a:endParaRPr lang="en-US" sz="1150" dirty="0"/>
          </a:p>
        </p:txBody>
      </p:sp>
      <p:sp>
        <p:nvSpPr>
          <p:cNvPr id="13" name="Shape 11"/>
          <p:cNvSpPr/>
          <p:nvPr/>
        </p:nvSpPr>
        <p:spPr>
          <a:xfrm>
            <a:off x="6217920" y="822960"/>
            <a:ext cx="2651760" cy="1554480"/>
          </a:xfrm>
          <a:prstGeom prst="rect">
            <a:avLst/>
          </a:prstGeom>
          <a:solidFill>
            <a:srgbClr val="F4F7FB"/>
          </a:solidFill>
          <a:ln w="12700">
            <a:solidFill>
              <a:srgbClr val="D6E4F7"/>
            </a:solidFill>
            <a:prstDash val="solid"/>
          </a:ln>
        </p:spPr>
      </p:sp>
      <p:sp>
        <p:nvSpPr>
          <p:cNvPr id="14" name="Text 12"/>
          <p:cNvSpPr/>
          <p:nvPr/>
        </p:nvSpPr>
        <p:spPr>
          <a:xfrm>
            <a:off x="6217920" y="868680"/>
            <a:ext cx="265176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5" name="Text 13"/>
          <p:cNvSpPr/>
          <p:nvPr/>
        </p:nvSpPr>
        <p:spPr>
          <a:xfrm>
            <a:off x="6217920" y="1298448"/>
            <a:ext cx="2651760" cy="502920"/>
          </a:xfrm>
          <a:prstGeom prst="rect">
            <a:avLst/>
          </a:prstGeom>
          <a:noFill/>
          <a:ln/>
        </p:spPr>
        <p:txBody>
          <a:bodyPr wrap="square" rtlCol="0" anchor="ctr"/>
          <a:lstStyle/>
          <a:p>
            <a:pPr algn="ctr" indent="0" marL="0">
              <a:buNone/>
            </a:pPr>
            <a:r>
              <a:rPr lang="en-US" sz="2600" b="1" dirty="0">
                <a:solidFill>
                  <a:srgbClr val="1E2761"/>
                </a:solidFill>
                <a:latin typeface="Cambria" pitchFamily="34" charset="0"/>
                <a:ea typeface="Cambria" pitchFamily="34" charset="-122"/>
                <a:cs typeface="Cambria" pitchFamily="34" charset="-120"/>
              </a:rPr>
              <a:t>4×</a:t>
            </a:r>
            <a:endParaRPr lang="en-US" sz="2600" dirty="0"/>
          </a:p>
        </p:txBody>
      </p:sp>
      <p:sp>
        <p:nvSpPr>
          <p:cNvPr id="16" name="Text 14"/>
          <p:cNvSpPr/>
          <p:nvPr/>
        </p:nvSpPr>
        <p:spPr>
          <a:xfrm>
            <a:off x="6217920" y="1801368"/>
            <a:ext cx="2651760" cy="502920"/>
          </a:xfrm>
          <a:prstGeom prst="rect">
            <a:avLst/>
          </a:prstGeom>
          <a:noFill/>
          <a:ln/>
        </p:spPr>
        <p:txBody>
          <a:bodyPr wrap="square" rtlCol="0" anchor="ctr"/>
          <a:lstStyle/>
          <a:p>
            <a:pPr algn="ctr" indent="0" marL="0">
              <a:buNone/>
            </a:pPr>
            <a:r>
              <a:rPr lang="en-US" sz="1150" dirty="0">
                <a:solidFill>
                  <a:srgbClr val="374151"/>
                </a:solidFill>
                <a:latin typeface="Calibri" pitchFamily="34" charset="0"/>
                <a:ea typeface="Calibri" pitchFamily="34" charset="-122"/>
                <a:cs typeface="Calibri" pitchFamily="34" charset="-120"/>
              </a:rPr>
              <a:t>Rise in cybercrime</a:t>
            </a:r>
            <a:endParaRPr lang="en-US" sz="1150" dirty="0"/>
          </a:p>
          <a:p>
            <a:pPr algn="ctr" indent="0" marL="0">
              <a:buNone/>
            </a:pPr>
            <a:r>
              <a:rPr lang="en-US" sz="1150" dirty="0">
                <a:solidFill>
                  <a:srgbClr val="374151"/>
                </a:solidFill>
                <a:latin typeface="Calibri" pitchFamily="34" charset="0"/>
                <a:ea typeface="Calibri" pitchFamily="34" charset="-122"/>
                <a:cs typeface="Calibri" pitchFamily="34" charset="-120"/>
              </a:rPr>
              <a:t>cases (2018–2023)</a:t>
            </a:r>
            <a:endParaRPr lang="en-US" sz="1150" dirty="0"/>
          </a:p>
        </p:txBody>
      </p:sp>
      <p:sp>
        <p:nvSpPr>
          <p:cNvPr id="17" name="Shape 15"/>
          <p:cNvSpPr/>
          <p:nvPr/>
        </p:nvSpPr>
        <p:spPr>
          <a:xfrm>
            <a:off x="365760" y="2560320"/>
            <a:ext cx="8412480" cy="36576"/>
          </a:xfrm>
          <a:prstGeom prst="rect">
            <a:avLst/>
          </a:prstGeom>
          <a:solidFill>
            <a:srgbClr val="E5E7EB"/>
          </a:solidFill>
          <a:ln w="12700">
            <a:solidFill>
              <a:srgbClr val="E5E7EB"/>
            </a:solidFill>
            <a:prstDash val="solid"/>
          </a:ln>
        </p:spPr>
      </p:sp>
      <p:sp>
        <p:nvSpPr>
          <p:cNvPr id="18" name="Text 16"/>
          <p:cNvSpPr/>
          <p:nvPr/>
        </p:nvSpPr>
        <p:spPr>
          <a:xfrm>
            <a:off x="365760" y="2670048"/>
            <a:ext cx="8412480" cy="347472"/>
          </a:xfrm>
          <a:prstGeom prst="rect">
            <a:avLst/>
          </a:prstGeom>
          <a:noFill/>
          <a:ln/>
        </p:spPr>
        <p:txBody>
          <a:bodyPr wrap="square"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The Core Problem</a:t>
            </a:r>
            <a:endParaRPr lang="en-US" sz="1600" dirty="0"/>
          </a:p>
        </p:txBody>
      </p:sp>
      <p:sp>
        <p:nvSpPr>
          <p:cNvPr id="19" name="Text 17"/>
          <p:cNvSpPr/>
          <p:nvPr/>
        </p:nvSpPr>
        <p:spPr>
          <a:xfrm>
            <a:off x="457200" y="3090672"/>
            <a:ext cx="8229600" cy="411480"/>
          </a:xfrm>
          <a:prstGeom prst="rect">
            <a:avLst/>
          </a:prstGeom>
          <a:noFill/>
          <a:ln/>
        </p:spPr>
        <p:txBody>
          <a:bodyPr wrap="square" rtlCol="0" anchor="ctr"/>
          <a:lstStyle/>
          <a:p>
            <a:pPr indent="0" marL="0">
              <a:buNone/>
            </a:pPr>
            <a:r>
              <a:rPr lang="en-US" sz="1300" dirty="0">
                <a:solidFill>
                  <a:srgbClr val="374151"/>
                </a:solidFill>
                <a:latin typeface="Calibri" pitchFamily="34" charset="0"/>
                <a:ea typeface="Calibri" pitchFamily="34" charset="-122"/>
                <a:cs typeface="Calibri" pitchFamily="34" charset="-120"/>
              </a:rPr>
              <a:t>• Smart Bangladesh 2041 mandates cloud-first public service delivery — yet investigative infrastructure has not kept pace</a:t>
            </a:r>
            <a:endParaRPr lang="en-US" sz="1300" dirty="0"/>
          </a:p>
        </p:txBody>
      </p:sp>
      <p:sp>
        <p:nvSpPr>
          <p:cNvPr id="20" name="Text 18"/>
          <p:cNvSpPr/>
          <p:nvPr/>
        </p:nvSpPr>
        <p:spPr>
          <a:xfrm>
            <a:off x="457200" y="3547872"/>
            <a:ext cx="8229600" cy="411480"/>
          </a:xfrm>
          <a:prstGeom prst="rect">
            <a:avLst/>
          </a:prstGeom>
          <a:noFill/>
          <a:ln/>
        </p:spPr>
        <p:txBody>
          <a:bodyPr wrap="square" rtlCol="0" anchor="ctr"/>
          <a:lstStyle/>
          <a:p>
            <a:pPr indent="0" marL="0">
              <a:buNone/>
            </a:pPr>
            <a:r>
              <a:rPr lang="en-US" sz="1300" dirty="0">
                <a:solidFill>
                  <a:srgbClr val="374151"/>
                </a:solidFill>
                <a:latin typeface="Calibri" pitchFamily="34" charset="0"/>
                <a:ea typeface="Calibri" pitchFamily="34" charset="-122"/>
                <a:cs typeface="Calibri" pitchFamily="34" charset="-120"/>
              </a:rPr>
              <a:t>• Law enforcement agencies (CID, CTTC) lack dedicated cloud forensic tooling and trained personnel</a:t>
            </a:r>
            <a:endParaRPr lang="en-US" sz="1300" dirty="0"/>
          </a:p>
        </p:txBody>
      </p:sp>
      <p:sp>
        <p:nvSpPr>
          <p:cNvPr id="21" name="Text 19"/>
          <p:cNvSpPr/>
          <p:nvPr/>
        </p:nvSpPr>
        <p:spPr>
          <a:xfrm>
            <a:off x="457200" y="4005072"/>
            <a:ext cx="8229600" cy="411480"/>
          </a:xfrm>
          <a:prstGeom prst="rect">
            <a:avLst/>
          </a:prstGeom>
          <a:noFill/>
          <a:ln/>
        </p:spPr>
        <p:txBody>
          <a:bodyPr wrap="square" rtlCol="0" anchor="ctr"/>
          <a:lstStyle/>
          <a:p>
            <a:pPr indent="0" marL="0">
              <a:buNone/>
            </a:pPr>
            <a:r>
              <a:rPr lang="en-US" sz="1300" dirty="0">
                <a:solidFill>
                  <a:srgbClr val="374151"/>
                </a:solidFill>
                <a:latin typeface="Calibri" pitchFamily="34" charset="0"/>
                <a:ea typeface="Calibri" pitchFamily="34" charset="-122"/>
                <a:cs typeface="Calibri" pitchFamily="34" charset="-120"/>
              </a:rPr>
              <a:t>• Legal instruments (ICT Act 2006, Cyber Security Act 2023) contain no explicit cloud evidence provisions</a:t>
            </a:r>
            <a:endParaRPr lang="en-US" sz="1300" dirty="0"/>
          </a:p>
        </p:txBody>
      </p:sp>
      <p:sp>
        <p:nvSpPr>
          <p:cNvPr id="22" name="Text 20"/>
          <p:cNvSpPr/>
          <p:nvPr/>
        </p:nvSpPr>
        <p:spPr>
          <a:xfrm>
            <a:off x="457200" y="4462272"/>
            <a:ext cx="8229600" cy="411480"/>
          </a:xfrm>
          <a:prstGeom prst="rect">
            <a:avLst/>
          </a:prstGeom>
          <a:noFill/>
          <a:ln/>
        </p:spPr>
        <p:txBody>
          <a:bodyPr wrap="square" rtlCol="0" anchor="ctr"/>
          <a:lstStyle/>
          <a:p>
            <a:pPr indent="0" marL="0">
              <a:buNone/>
            </a:pPr>
            <a:r>
              <a:rPr lang="en-US" sz="1300" dirty="0">
                <a:solidFill>
                  <a:srgbClr val="374151"/>
                </a:solidFill>
                <a:latin typeface="Calibri" pitchFamily="34" charset="0"/>
                <a:ea typeface="Calibri" pitchFamily="34" charset="-122"/>
                <a:cs typeface="Calibri" pitchFamily="34" charset="-120"/>
              </a:rPr>
              <a:t>• Published research on cloud forensics from a Bangladeshi perspective is scarce — this review addresses that gap</a:t>
            </a:r>
            <a:endParaRPr lang="en-US" sz="1300" dirty="0"/>
          </a:p>
        </p:txBody>
      </p:sp>
      <p:sp>
        <p:nvSpPr>
          <p:cNvPr id="23" name="Shape 21"/>
          <p:cNvSpPr/>
          <p:nvPr/>
        </p:nvSpPr>
        <p:spPr>
          <a:xfrm>
            <a:off x="0" y="5074920"/>
            <a:ext cx="9144000" cy="64008"/>
          </a:xfrm>
          <a:prstGeom prst="rect">
            <a:avLst/>
          </a:prstGeom>
          <a:solidFill>
            <a:srgbClr val="1E2761"/>
          </a:solidFill>
          <a:ln w="12700">
            <a:solidFill>
              <a:srgbClr val="1E2761"/>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28090"/>
          </a:solidFill>
          <a:ln w="12700">
            <a:solidFill>
              <a:srgbClr val="028090"/>
            </a:solidFill>
            <a:prstDash val="solid"/>
          </a:ln>
        </p:spPr>
      </p:sp>
      <p:sp>
        <p:nvSpPr>
          <p:cNvPr id="3" name="Text 1"/>
          <p:cNvSpPr/>
          <p:nvPr/>
        </p:nvSpPr>
        <p:spPr>
          <a:xfrm>
            <a:off x="365760" y="137160"/>
            <a:ext cx="8412480" cy="54864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Three Guiding Research Questions</a:t>
            </a:r>
            <a:endParaRPr lang="en-US" sz="2800" dirty="0"/>
          </a:p>
        </p:txBody>
      </p:sp>
      <p:sp>
        <p:nvSpPr>
          <p:cNvPr id="4" name="Shape 2"/>
          <p:cNvSpPr/>
          <p:nvPr/>
        </p:nvSpPr>
        <p:spPr>
          <a:xfrm>
            <a:off x="365760" y="658368"/>
            <a:ext cx="2194560" cy="36576"/>
          </a:xfrm>
          <a:prstGeom prst="rect">
            <a:avLst/>
          </a:prstGeom>
          <a:solidFill>
            <a:srgbClr val="028090"/>
          </a:solidFill>
          <a:ln w="12700">
            <a:solidFill>
              <a:srgbClr val="028090"/>
            </a:solidFill>
            <a:prstDash val="solid"/>
          </a:ln>
        </p:spPr>
      </p:sp>
      <p:sp>
        <p:nvSpPr>
          <p:cNvPr id="5" name="Shape 3"/>
          <p:cNvSpPr/>
          <p:nvPr/>
        </p:nvSpPr>
        <p:spPr>
          <a:xfrm>
            <a:off x="365760" y="868680"/>
            <a:ext cx="8412480" cy="1325880"/>
          </a:xfrm>
          <a:prstGeom prst="rect">
            <a:avLst/>
          </a:prstGeom>
          <a:solidFill>
            <a:srgbClr val="EEF2FF"/>
          </a:solidFill>
          <a:ln w="12700">
            <a:solidFill>
              <a:srgbClr val="1E2761"/>
            </a:solidFill>
            <a:prstDash val="solid"/>
          </a:ln>
        </p:spPr>
      </p:sp>
      <p:sp>
        <p:nvSpPr>
          <p:cNvPr id="6" name="Shape 4"/>
          <p:cNvSpPr/>
          <p:nvPr/>
        </p:nvSpPr>
        <p:spPr>
          <a:xfrm>
            <a:off x="365760" y="868680"/>
            <a:ext cx="658368" cy="1325880"/>
          </a:xfrm>
          <a:prstGeom prst="rect">
            <a:avLst/>
          </a:prstGeom>
          <a:solidFill>
            <a:srgbClr val="1E2761"/>
          </a:solidFill>
          <a:ln w="12700">
            <a:solidFill>
              <a:srgbClr val="1E2761"/>
            </a:solidFill>
            <a:prstDash val="solid"/>
          </a:ln>
        </p:spPr>
      </p:sp>
      <p:sp>
        <p:nvSpPr>
          <p:cNvPr id="7" name="Text 5"/>
          <p:cNvSpPr/>
          <p:nvPr/>
        </p:nvSpPr>
        <p:spPr>
          <a:xfrm>
            <a:off x="365760" y="1280160"/>
            <a:ext cx="658368" cy="50292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RQ1</a:t>
            </a:r>
            <a:endParaRPr lang="en-US" sz="1400" dirty="0"/>
          </a:p>
        </p:txBody>
      </p:sp>
      <p:sp>
        <p:nvSpPr>
          <p:cNvPr id="8" name="Text 6"/>
          <p:cNvSpPr/>
          <p:nvPr/>
        </p:nvSpPr>
        <p:spPr>
          <a:xfrm>
            <a:off x="1115568" y="941832"/>
            <a:ext cx="7498080" cy="320040"/>
          </a:xfrm>
          <a:prstGeom prst="rect">
            <a:avLst/>
          </a:prstGeom>
          <a:noFill/>
          <a:ln/>
        </p:spPr>
        <p:txBody>
          <a:bodyPr wrap="square"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Technical &amp; Organizational Challenges</a:t>
            </a:r>
            <a:endParaRPr lang="en-US" sz="1400" dirty="0"/>
          </a:p>
        </p:txBody>
      </p:sp>
      <p:sp>
        <p:nvSpPr>
          <p:cNvPr id="9" name="Text 7"/>
          <p:cNvSpPr/>
          <p:nvPr/>
        </p:nvSpPr>
        <p:spPr>
          <a:xfrm>
            <a:off x="1115568" y="1280160"/>
            <a:ext cx="7498080" cy="804672"/>
          </a:xfrm>
          <a:prstGeom prst="rect">
            <a:avLst/>
          </a:prstGeom>
          <a:noFill/>
          <a:ln/>
        </p:spPr>
        <p:txBody>
          <a:bodyPr wrap="square" rtlCol="0" anchor="ctr"/>
          <a:lstStyle/>
          <a:p>
            <a:pPr indent="0" marL="0">
              <a:buNone/>
            </a:pPr>
            <a:r>
              <a:rPr lang="en-US" sz="1250" dirty="0">
                <a:solidFill>
                  <a:srgbClr val="374151"/>
                </a:solidFill>
                <a:latin typeface="Calibri" pitchFamily="34" charset="0"/>
                <a:ea typeface="Calibri" pitchFamily="34" charset="-122"/>
                <a:cs typeface="Calibri" pitchFamily="34" charset="-120"/>
              </a:rPr>
              <a:t>What are the primary technical, organizational, and legal challenges confronting cloud forensic investigators, and how do these challenges manifest in developing-country contexts such as Bangladesh?</a:t>
            </a:r>
            <a:endParaRPr lang="en-US" sz="1250" dirty="0"/>
          </a:p>
        </p:txBody>
      </p:sp>
      <p:sp>
        <p:nvSpPr>
          <p:cNvPr id="10" name="Shape 8"/>
          <p:cNvSpPr/>
          <p:nvPr/>
        </p:nvSpPr>
        <p:spPr>
          <a:xfrm>
            <a:off x="365760" y="2331720"/>
            <a:ext cx="8412480" cy="1325880"/>
          </a:xfrm>
          <a:prstGeom prst="rect">
            <a:avLst/>
          </a:prstGeom>
          <a:solidFill>
            <a:srgbClr val="E8FAF7"/>
          </a:solidFill>
          <a:ln w="12700">
            <a:solidFill>
              <a:srgbClr val="028090"/>
            </a:solidFill>
            <a:prstDash val="solid"/>
          </a:ln>
        </p:spPr>
      </p:sp>
      <p:sp>
        <p:nvSpPr>
          <p:cNvPr id="11" name="Shape 9"/>
          <p:cNvSpPr/>
          <p:nvPr/>
        </p:nvSpPr>
        <p:spPr>
          <a:xfrm>
            <a:off x="365760" y="2331720"/>
            <a:ext cx="658368" cy="1325880"/>
          </a:xfrm>
          <a:prstGeom prst="rect">
            <a:avLst/>
          </a:prstGeom>
          <a:solidFill>
            <a:srgbClr val="028090"/>
          </a:solidFill>
          <a:ln w="12700">
            <a:solidFill>
              <a:srgbClr val="028090"/>
            </a:solidFill>
            <a:prstDash val="solid"/>
          </a:ln>
        </p:spPr>
      </p:sp>
      <p:sp>
        <p:nvSpPr>
          <p:cNvPr id="12" name="Text 10"/>
          <p:cNvSpPr/>
          <p:nvPr/>
        </p:nvSpPr>
        <p:spPr>
          <a:xfrm>
            <a:off x="365760" y="2743200"/>
            <a:ext cx="658368" cy="50292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RQ2</a:t>
            </a:r>
            <a:endParaRPr lang="en-US" sz="1400" dirty="0"/>
          </a:p>
        </p:txBody>
      </p:sp>
      <p:sp>
        <p:nvSpPr>
          <p:cNvPr id="13" name="Text 11"/>
          <p:cNvSpPr/>
          <p:nvPr/>
        </p:nvSpPr>
        <p:spPr>
          <a:xfrm>
            <a:off x="1115568" y="2404872"/>
            <a:ext cx="7498080" cy="320040"/>
          </a:xfrm>
          <a:prstGeom prst="rect">
            <a:avLst/>
          </a:prstGeom>
          <a:noFill/>
          <a:ln/>
        </p:spPr>
        <p:txBody>
          <a:bodyPr wrap="square" rtlCol="0" anchor="ctr"/>
          <a:lstStyle/>
          <a:p>
            <a:pPr indent="0" marL="0">
              <a:buNone/>
            </a:pPr>
            <a:r>
              <a:rPr lang="en-US" sz="1400" b="1" dirty="0">
                <a:solidFill>
                  <a:srgbClr val="028090"/>
                </a:solidFill>
                <a:latin typeface="Cambria" pitchFamily="34" charset="0"/>
                <a:ea typeface="Cambria" pitchFamily="34" charset="-122"/>
                <a:cs typeface="Cambria" pitchFamily="34" charset="-120"/>
              </a:rPr>
              <a:t>Frameworks &amp; Applicability</a:t>
            </a:r>
            <a:endParaRPr lang="en-US" sz="1400" dirty="0"/>
          </a:p>
        </p:txBody>
      </p:sp>
      <p:sp>
        <p:nvSpPr>
          <p:cNvPr id="14" name="Text 12"/>
          <p:cNvSpPr/>
          <p:nvPr/>
        </p:nvSpPr>
        <p:spPr>
          <a:xfrm>
            <a:off x="1115568" y="2743200"/>
            <a:ext cx="7498080" cy="804672"/>
          </a:xfrm>
          <a:prstGeom prst="rect">
            <a:avLst/>
          </a:prstGeom>
          <a:noFill/>
          <a:ln/>
        </p:spPr>
        <p:txBody>
          <a:bodyPr wrap="square" rtlCol="0" anchor="ctr"/>
          <a:lstStyle/>
          <a:p>
            <a:pPr indent="0" marL="0">
              <a:buNone/>
            </a:pPr>
            <a:r>
              <a:rPr lang="en-US" sz="1250" dirty="0">
                <a:solidFill>
                  <a:srgbClr val="374151"/>
                </a:solidFill>
                <a:latin typeface="Calibri" pitchFamily="34" charset="0"/>
                <a:ea typeface="Calibri" pitchFamily="34" charset="-122"/>
                <a:cs typeface="Calibri" pitchFamily="34" charset="-120"/>
              </a:rPr>
              <a:t>Which frameworks for cloud forensic investigation have been proposed, and how adequately do they address identified challenges within the constraints of Bangladesh's cloud infrastructure and institutional capacity?</a:t>
            </a:r>
            <a:endParaRPr lang="en-US" sz="1250" dirty="0"/>
          </a:p>
        </p:txBody>
      </p:sp>
      <p:sp>
        <p:nvSpPr>
          <p:cNvPr id="15" name="Shape 13"/>
          <p:cNvSpPr/>
          <p:nvPr/>
        </p:nvSpPr>
        <p:spPr>
          <a:xfrm>
            <a:off x="365760" y="3794760"/>
            <a:ext cx="8412480" cy="1325880"/>
          </a:xfrm>
          <a:prstGeom prst="rect">
            <a:avLst/>
          </a:prstGeom>
          <a:solidFill>
            <a:srgbClr val="FFF0F0"/>
          </a:solidFill>
          <a:ln w="12700">
            <a:solidFill>
              <a:srgbClr val="8B3A3A"/>
            </a:solidFill>
            <a:prstDash val="solid"/>
          </a:ln>
        </p:spPr>
      </p:sp>
      <p:sp>
        <p:nvSpPr>
          <p:cNvPr id="16" name="Shape 14"/>
          <p:cNvSpPr/>
          <p:nvPr/>
        </p:nvSpPr>
        <p:spPr>
          <a:xfrm>
            <a:off x="365760" y="3794760"/>
            <a:ext cx="658368" cy="1325880"/>
          </a:xfrm>
          <a:prstGeom prst="rect">
            <a:avLst/>
          </a:prstGeom>
          <a:solidFill>
            <a:srgbClr val="8B3A3A"/>
          </a:solidFill>
          <a:ln w="12700">
            <a:solidFill>
              <a:srgbClr val="8B3A3A"/>
            </a:solidFill>
            <a:prstDash val="solid"/>
          </a:ln>
        </p:spPr>
      </p:sp>
      <p:sp>
        <p:nvSpPr>
          <p:cNvPr id="17" name="Text 15"/>
          <p:cNvSpPr/>
          <p:nvPr/>
        </p:nvSpPr>
        <p:spPr>
          <a:xfrm>
            <a:off x="365760" y="4206240"/>
            <a:ext cx="658368" cy="50292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RQ3</a:t>
            </a:r>
            <a:endParaRPr lang="en-US" sz="1400" dirty="0"/>
          </a:p>
        </p:txBody>
      </p:sp>
      <p:sp>
        <p:nvSpPr>
          <p:cNvPr id="18" name="Text 16"/>
          <p:cNvSpPr/>
          <p:nvPr/>
        </p:nvSpPr>
        <p:spPr>
          <a:xfrm>
            <a:off x="1115568" y="3867912"/>
            <a:ext cx="7498080" cy="320040"/>
          </a:xfrm>
          <a:prstGeom prst="rect">
            <a:avLst/>
          </a:prstGeom>
          <a:noFill/>
          <a:ln/>
        </p:spPr>
        <p:txBody>
          <a:bodyPr wrap="square" rtlCol="0" anchor="ctr"/>
          <a:lstStyle/>
          <a:p>
            <a:pPr indent="0" marL="0">
              <a:buNone/>
            </a:pPr>
            <a:r>
              <a:rPr lang="en-US" sz="1400" b="1" dirty="0">
                <a:solidFill>
                  <a:srgbClr val="8B3A3A"/>
                </a:solidFill>
                <a:latin typeface="Cambria" pitchFamily="34" charset="0"/>
                <a:ea typeface="Cambria" pitchFamily="34" charset="-122"/>
                <a:cs typeface="Cambria" pitchFamily="34" charset="-120"/>
              </a:rPr>
              <a:t>Legal &amp; Jurisdictional Gaps</a:t>
            </a:r>
            <a:endParaRPr lang="en-US" sz="1400" dirty="0"/>
          </a:p>
        </p:txBody>
      </p:sp>
      <p:sp>
        <p:nvSpPr>
          <p:cNvPr id="19" name="Text 17"/>
          <p:cNvSpPr/>
          <p:nvPr/>
        </p:nvSpPr>
        <p:spPr>
          <a:xfrm>
            <a:off x="1115568" y="4206240"/>
            <a:ext cx="7498080" cy="804672"/>
          </a:xfrm>
          <a:prstGeom prst="rect">
            <a:avLst/>
          </a:prstGeom>
          <a:noFill/>
          <a:ln/>
        </p:spPr>
        <p:txBody>
          <a:bodyPr wrap="square" rtlCol="0" anchor="ctr"/>
          <a:lstStyle/>
          <a:p>
            <a:pPr indent="0" marL="0">
              <a:buNone/>
            </a:pPr>
            <a:r>
              <a:rPr lang="en-US" sz="1250" dirty="0">
                <a:solidFill>
                  <a:srgbClr val="374151"/>
                </a:solidFill>
                <a:latin typeface="Calibri" pitchFamily="34" charset="0"/>
                <a:ea typeface="Calibri" pitchFamily="34" charset="-122"/>
                <a:cs typeface="Calibri" pitchFamily="34" charset="-120"/>
              </a:rPr>
              <a:t>What legal and jurisdictional considerations govern cloud forensic investigations under Bangladesh's existing cyber law regime (ICT Act 2006, CSA 2023), and where do the most critical normative gaps remain?</a:t>
            </a:r>
            <a:endParaRPr lang="en-US" sz="1250" dirty="0"/>
          </a:p>
        </p:txBody>
      </p:sp>
      <p:sp>
        <p:nvSpPr>
          <p:cNvPr id="20" name="Shape 18"/>
          <p:cNvSpPr/>
          <p:nvPr/>
        </p:nvSpPr>
        <p:spPr>
          <a:xfrm>
            <a:off x="0" y="5074920"/>
            <a:ext cx="9144000" cy="64008"/>
          </a:xfrm>
          <a:prstGeom prst="rect">
            <a:avLst/>
          </a:prstGeom>
          <a:solidFill>
            <a:srgbClr val="028090"/>
          </a:solidFill>
          <a:ln w="12700">
            <a:solidFill>
              <a:srgbClr val="028090"/>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E2761"/>
          </a:solidFill>
          <a:ln w="12700">
            <a:solidFill>
              <a:srgbClr val="1E2761"/>
            </a:solidFill>
            <a:prstDash val="solid"/>
          </a:ln>
        </p:spPr>
      </p:sp>
      <p:sp>
        <p:nvSpPr>
          <p:cNvPr id="3" name="Text 1"/>
          <p:cNvSpPr/>
          <p:nvPr/>
        </p:nvSpPr>
        <p:spPr>
          <a:xfrm>
            <a:off x="365760" y="137160"/>
            <a:ext cx="8412480" cy="54864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Methodology: PRISMA 2020 Systematic Review</a:t>
            </a:r>
            <a:endParaRPr lang="en-US" sz="2600" dirty="0"/>
          </a:p>
        </p:txBody>
      </p:sp>
      <p:sp>
        <p:nvSpPr>
          <p:cNvPr id="4" name="Shape 2"/>
          <p:cNvSpPr/>
          <p:nvPr/>
        </p:nvSpPr>
        <p:spPr>
          <a:xfrm>
            <a:off x="365760" y="658368"/>
            <a:ext cx="2468880" cy="36576"/>
          </a:xfrm>
          <a:prstGeom prst="rect">
            <a:avLst/>
          </a:prstGeom>
          <a:solidFill>
            <a:srgbClr val="1E2761"/>
          </a:solidFill>
          <a:ln w="12700">
            <a:solidFill>
              <a:srgbClr val="1E2761"/>
            </a:solidFill>
            <a:prstDash val="solid"/>
          </a:ln>
        </p:spPr>
      </p:sp>
      <p:sp>
        <p:nvSpPr>
          <p:cNvPr id="5" name="Shape 3"/>
          <p:cNvSpPr/>
          <p:nvPr/>
        </p:nvSpPr>
        <p:spPr>
          <a:xfrm>
            <a:off x="365760" y="822960"/>
            <a:ext cx="457200" cy="457200"/>
          </a:xfrm>
          <a:prstGeom prst="rect">
            <a:avLst/>
          </a:prstGeom>
          <a:solidFill>
            <a:srgbClr val="028090"/>
          </a:solidFill>
          <a:ln w="12700">
            <a:solidFill>
              <a:srgbClr val="028090"/>
            </a:solidFill>
            <a:prstDash val="solid"/>
          </a:ln>
        </p:spPr>
      </p:sp>
      <p:sp>
        <p:nvSpPr>
          <p:cNvPr id="6" name="Text 4"/>
          <p:cNvSpPr/>
          <p:nvPr/>
        </p:nvSpPr>
        <p:spPr>
          <a:xfrm>
            <a:off x="365760" y="896112"/>
            <a:ext cx="45720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7" name="Text 5"/>
          <p:cNvSpPr/>
          <p:nvPr/>
        </p:nvSpPr>
        <p:spPr>
          <a:xfrm>
            <a:off x="960120" y="822960"/>
            <a:ext cx="3931920" cy="256032"/>
          </a:xfrm>
          <a:prstGeom prst="rect">
            <a:avLst/>
          </a:prstGeom>
          <a:noFill/>
          <a:ln/>
        </p:spPr>
        <p:txBody>
          <a:bodyPr wrap="square"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Formulate RQs</a:t>
            </a:r>
            <a:endParaRPr lang="en-US" sz="1300" dirty="0"/>
          </a:p>
        </p:txBody>
      </p:sp>
      <p:sp>
        <p:nvSpPr>
          <p:cNvPr id="8" name="Text 6"/>
          <p:cNvSpPr/>
          <p:nvPr/>
        </p:nvSpPr>
        <p:spPr>
          <a:xfrm>
            <a:off x="960120" y="1060704"/>
            <a:ext cx="3931920" cy="41148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Three inter-related questions covering challenges, frameworks, and Bangladeshi legal context</a:t>
            </a:r>
            <a:endParaRPr lang="en-US" sz="1100" dirty="0"/>
          </a:p>
        </p:txBody>
      </p:sp>
      <p:sp>
        <p:nvSpPr>
          <p:cNvPr id="9" name="Shape 7"/>
          <p:cNvSpPr/>
          <p:nvPr/>
        </p:nvSpPr>
        <p:spPr>
          <a:xfrm>
            <a:off x="365760" y="1645920"/>
            <a:ext cx="457200" cy="457200"/>
          </a:xfrm>
          <a:prstGeom prst="rect">
            <a:avLst/>
          </a:prstGeom>
          <a:solidFill>
            <a:srgbClr val="028090"/>
          </a:solidFill>
          <a:ln w="12700">
            <a:solidFill>
              <a:srgbClr val="028090"/>
            </a:solidFill>
            <a:prstDash val="solid"/>
          </a:ln>
        </p:spPr>
      </p:sp>
      <p:sp>
        <p:nvSpPr>
          <p:cNvPr id="10" name="Text 8"/>
          <p:cNvSpPr/>
          <p:nvPr/>
        </p:nvSpPr>
        <p:spPr>
          <a:xfrm>
            <a:off x="365760" y="1719072"/>
            <a:ext cx="45720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1" name="Text 9"/>
          <p:cNvSpPr/>
          <p:nvPr/>
        </p:nvSpPr>
        <p:spPr>
          <a:xfrm>
            <a:off x="960120" y="1645920"/>
            <a:ext cx="3931920" cy="256032"/>
          </a:xfrm>
          <a:prstGeom prst="rect">
            <a:avLst/>
          </a:prstGeom>
          <a:noFill/>
          <a:ln/>
        </p:spPr>
        <p:txBody>
          <a:bodyPr wrap="square"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Database Search</a:t>
            </a:r>
            <a:endParaRPr lang="en-US" sz="1300" dirty="0"/>
          </a:p>
        </p:txBody>
      </p:sp>
      <p:sp>
        <p:nvSpPr>
          <p:cNvPr id="12" name="Text 10"/>
          <p:cNvSpPr/>
          <p:nvPr/>
        </p:nvSpPr>
        <p:spPr>
          <a:xfrm>
            <a:off x="960120" y="1883664"/>
            <a:ext cx="3931920" cy="41148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IEEE Xplore · Scopus · Google Scholar · ACM Digital Library (2010–2026)</a:t>
            </a:r>
            <a:endParaRPr lang="en-US" sz="1100" dirty="0"/>
          </a:p>
        </p:txBody>
      </p:sp>
      <p:sp>
        <p:nvSpPr>
          <p:cNvPr id="13" name="Shape 11"/>
          <p:cNvSpPr/>
          <p:nvPr/>
        </p:nvSpPr>
        <p:spPr>
          <a:xfrm>
            <a:off x="365760" y="2468880"/>
            <a:ext cx="457200" cy="457200"/>
          </a:xfrm>
          <a:prstGeom prst="rect">
            <a:avLst/>
          </a:prstGeom>
          <a:solidFill>
            <a:srgbClr val="028090"/>
          </a:solidFill>
          <a:ln w="12700">
            <a:solidFill>
              <a:srgbClr val="028090"/>
            </a:solidFill>
            <a:prstDash val="solid"/>
          </a:ln>
        </p:spPr>
      </p:sp>
      <p:sp>
        <p:nvSpPr>
          <p:cNvPr id="14" name="Text 12"/>
          <p:cNvSpPr/>
          <p:nvPr/>
        </p:nvSpPr>
        <p:spPr>
          <a:xfrm>
            <a:off x="365760" y="2542032"/>
            <a:ext cx="45720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5" name="Text 13"/>
          <p:cNvSpPr/>
          <p:nvPr/>
        </p:nvSpPr>
        <p:spPr>
          <a:xfrm>
            <a:off x="960120" y="2468880"/>
            <a:ext cx="3931920" cy="256032"/>
          </a:xfrm>
          <a:prstGeom prst="rect">
            <a:avLst/>
          </a:prstGeom>
          <a:noFill/>
          <a:ln/>
        </p:spPr>
        <p:txBody>
          <a:bodyPr wrap="square"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Screen &amp; Filter</a:t>
            </a:r>
            <a:endParaRPr lang="en-US" sz="1300" dirty="0"/>
          </a:p>
        </p:txBody>
      </p:sp>
      <p:sp>
        <p:nvSpPr>
          <p:cNvPr id="16" name="Text 14"/>
          <p:cNvSpPr/>
          <p:nvPr/>
        </p:nvSpPr>
        <p:spPr>
          <a:xfrm>
            <a:off x="960120" y="2706624"/>
            <a:ext cx="3931920" cy="41148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Title/abstract screening by 2 reviewers (κ=0.83); full-text eligibility assessment</a:t>
            </a:r>
            <a:endParaRPr lang="en-US" sz="1100" dirty="0"/>
          </a:p>
        </p:txBody>
      </p:sp>
      <p:sp>
        <p:nvSpPr>
          <p:cNvPr id="17" name="Shape 15"/>
          <p:cNvSpPr/>
          <p:nvPr/>
        </p:nvSpPr>
        <p:spPr>
          <a:xfrm>
            <a:off x="365760" y="3291840"/>
            <a:ext cx="457200" cy="457200"/>
          </a:xfrm>
          <a:prstGeom prst="rect">
            <a:avLst/>
          </a:prstGeom>
          <a:solidFill>
            <a:srgbClr val="028090"/>
          </a:solidFill>
          <a:ln w="12700">
            <a:solidFill>
              <a:srgbClr val="028090"/>
            </a:solidFill>
            <a:prstDash val="solid"/>
          </a:ln>
        </p:spPr>
      </p:sp>
      <p:sp>
        <p:nvSpPr>
          <p:cNvPr id="18" name="Text 16"/>
          <p:cNvSpPr/>
          <p:nvPr/>
        </p:nvSpPr>
        <p:spPr>
          <a:xfrm>
            <a:off x="365760" y="3364992"/>
            <a:ext cx="45720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19" name="Text 17"/>
          <p:cNvSpPr/>
          <p:nvPr/>
        </p:nvSpPr>
        <p:spPr>
          <a:xfrm>
            <a:off x="960120" y="3291840"/>
            <a:ext cx="3931920" cy="256032"/>
          </a:xfrm>
          <a:prstGeom prst="rect">
            <a:avLst/>
          </a:prstGeom>
          <a:noFill/>
          <a:ln/>
        </p:spPr>
        <p:txBody>
          <a:bodyPr wrap="square"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Quality Appraisal</a:t>
            </a:r>
            <a:endParaRPr lang="en-US" sz="1300" dirty="0"/>
          </a:p>
        </p:txBody>
      </p:sp>
      <p:sp>
        <p:nvSpPr>
          <p:cNvPr id="20" name="Text 18"/>
          <p:cNvSpPr/>
          <p:nvPr/>
        </p:nvSpPr>
        <p:spPr>
          <a:xfrm>
            <a:off x="960120" y="3529584"/>
            <a:ext cx="3931920" cy="41148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MMAT 5-dimension scoring (max 10); sensitivity analysis for borderline studies</a:t>
            </a:r>
            <a:endParaRPr lang="en-US" sz="1100" dirty="0"/>
          </a:p>
        </p:txBody>
      </p:sp>
      <p:sp>
        <p:nvSpPr>
          <p:cNvPr id="21" name="Shape 19"/>
          <p:cNvSpPr/>
          <p:nvPr/>
        </p:nvSpPr>
        <p:spPr>
          <a:xfrm>
            <a:off x="365760" y="4114800"/>
            <a:ext cx="457200" cy="457200"/>
          </a:xfrm>
          <a:prstGeom prst="rect">
            <a:avLst/>
          </a:prstGeom>
          <a:solidFill>
            <a:srgbClr val="028090"/>
          </a:solidFill>
          <a:ln w="12700">
            <a:solidFill>
              <a:srgbClr val="028090"/>
            </a:solidFill>
            <a:prstDash val="solid"/>
          </a:ln>
        </p:spPr>
      </p:sp>
      <p:sp>
        <p:nvSpPr>
          <p:cNvPr id="22" name="Text 20"/>
          <p:cNvSpPr/>
          <p:nvPr/>
        </p:nvSpPr>
        <p:spPr>
          <a:xfrm>
            <a:off x="365760" y="4187952"/>
            <a:ext cx="45720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05</a:t>
            </a:r>
            <a:endParaRPr lang="en-US" sz="1200" dirty="0"/>
          </a:p>
        </p:txBody>
      </p:sp>
      <p:sp>
        <p:nvSpPr>
          <p:cNvPr id="23" name="Text 21"/>
          <p:cNvSpPr/>
          <p:nvPr/>
        </p:nvSpPr>
        <p:spPr>
          <a:xfrm>
            <a:off x="960120" y="4114800"/>
            <a:ext cx="3931920" cy="256032"/>
          </a:xfrm>
          <a:prstGeom prst="rect">
            <a:avLst/>
          </a:prstGeom>
          <a:noFill/>
          <a:ln/>
        </p:spPr>
        <p:txBody>
          <a:bodyPr wrap="square"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Extract &amp; Synthesize</a:t>
            </a:r>
            <a:endParaRPr lang="en-US" sz="1300" dirty="0"/>
          </a:p>
        </p:txBody>
      </p:sp>
      <p:sp>
        <p:nvSpPr>
          <p:cNvPr id="24" name="Text 22"/>
          <p:cNvSpPr/>
          <p:nvPr/>
        </p:nvSpPr>
        <p:spPr>
          <a:xfrm>
            <a:off x="960120" y="4352544"/>
            <a:ext cx="3931920" cy="41148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Standardized data extraction + inductive thematic analysis (Braun &amp; Clarke)</a:t>
            </a:r>
            <a:endParaRPr lang="en-US" sz="1100" dirty="0"/>
          </a:p>
        </p:txBody>
      </p:sp>
      <p:sp>
        <p:nvSpPr>
          <p:cNvPr id="25" name="Shape 23"/>
          <p:cNvSpPr/>
          <p:nvPr/>
        </p:nvSpPr>
        <p:spPr>
          <a:xfrm>
            <a:off x="5212080" y="822960"/>
            <a:ext cx="3566160" cy="4114800"/>
          </a:xfrm>
          <a:prstGeom prst="rect">
            <a:avLst/>
          </a:prstGeom>
          <a:solidFill>
            <a:srgbClr val="F4F7FB"/>
          </a:solidFill>
          <a:ln w="12700">
            <a:solidFill>
              <a:srgbClr val="D6E4F7"/>
            </a:solidFill>
            <a:prstDash val="solid"/>
          </a:ln>
        </p:spPr>
      </p:sp>
      <p:sp>
        <p:nvSpPr>
          <p:cNvPr id="26" name="Text 24"/>
          <p:cNvSpPr/>
          <p:nvPr/>
        </p:nvSpPr>
        <p:spPr>
          <a:xfrm>
            <a:off x="5349240" y="896112"/>
            <a:ext cx="3291840" cy="347472"/>
          </a:xfrm>
          <a:prstGeom prst="rect">
            <a:avLst/>
          </a:prstGeom>
          <a:noFill/>
          <a:ln/>
        </p:spPr>
        <p:txBody>
          <a:bodyPr wrap="square"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Search String Clusters</a:t>
            </a:r>
            <a:endParaRPr lang="en-US" sz="1300" dirty="0"/>
          </a:p>
        </p:txBody>
      </p:sp>
      <p:sp>
        <p:nvSpPr>
          <p:cNvPr id="27" name="Shape 25"/>
          <p:cNvSpPr/>
          <p:nvPr/>
        </p:nvSpPr>
        <p:spPr>
          <a:xfrm>
            <a:off x="5349240" y="1261872"/>
            <a:ext cx="3246120" cy="18288"/>
          </a:xfrm>
          <a:prstGeom prst="rect">
            <a:avLst/>
          </a:prstGeom>
          <a:solidFill>
            <a:srgbClr val="D1D5DB"/>
          </a:solidFill>
          <a:ln w="12700">
            <a:solidFill>
              <a:srgbClr val="D1D5DB"/>
            </a:solidFill>
            <a:prstDash val="solid"/>
          </a:ln>
        </p:spPr>
      </p:sp>
      <p:sp>
        <p:nvSpPr>
          <p:cNvPr id="28" name="Text 26"/>
          <p:cNvSpPr/>
          <p:nvPr/>
        </p:nvSpPr>
        <p:spPr>
          <a:xfrm>
            <a:off x="5349240" y="1371600"/>
            <a:ext cx="3291840" cy="274320"/>
          </a:xfrm>
          <a:prstGeom prst="rect">
            <a:avLst/>
          </a:prstGeom>
          <a:noFill/>
          <a:ln/>
        </p:spPr>
        <p:txBody>
          <a:bodyPr wrap="square" rtlCol="0" anchor="ctr"/>
          <a:lstStyle/>
          <a:p>
            <a:pPr indent="0" marL="0">
              <a:buNone/>
            </a:pPr>
            <a:r>
              <a:rPr lang="en-US" sz="1100" b="1" dirty="0">
                <a:solidFill>
                  <a:srgbClr val="028090"/>
                </a:solidFill>
                <a:latin typeface="Cambria" pitchFamily="34" charset="0"/>
                <a:ea typeface="Cambria" pitchFamily="34" charset="-122"/>
                <a:cs typeface="Cambria" pitchFamily="34" charset="-120"/>
              </a:rPr>
              <a:t>Cluster 1 — Domain</a:t>
            </a:r>
            <a:endParaRPr lang="en-US" sz="1100" dirty="0"/>
          </a:p>
        </p:txBody>
      </p:sp>
      <p:sp>
        <p:nvSpPr>
          <p:cNvPr id="29" name="Shape 27"/>
          <p:cNvSpPr/>
          <p:nvPr/>
        </p:nvSpPr>
        <p:spPr>
          <a:xfrm>
            <a:off x="5349240" y="1645920"/>
            <a:ext cx="3246120" cy="749808"/>
          </a:xfrm>
          <a:prstGeom prst="rect">
            <a:avLst/>
          </a:prstGeom>
          <a:solidFill>
            <a:srgbClr val="DBEAFE"/>
          </a:solidFill>
          <a:ln w="12700">
            <a:solidFill>
              <a:srgbClr val="BFDBFE"/>
            </a:solidFill>
            <a:prstDash val="solid"/>
          </a:ln>
        </p:spPr>
      </p:sp>
      <p:sp>
        <p:nvSpPr>
          <p:cNvPr id="30" name="Text 28"/>
          <p:cNvSpPr/>
          <p:nvPr/>
        </p:nvSpPr>
        <p:spPr>
          <a:xfrm>
            <a:off x="5440680" y="1682496"/>
            <a:ext cx="3063240" cy="640080"/>
          </a:xfrm>
          <a:prstGeom prst="rect">
            <a:avLst/>
          </a:prstGeom>
          <a:noFill/>
          <a:ln/>
        </p:spPr>
        <p:txBody>
          <a:bodyPr wrap="square" rtlCol="0" anchor="ctr"/>
          <a:lstStyle/>
          <a:p>
            <a:pPr indent="0" marL="0">
              <a:buNone/>
            </a:pPr>
            <a:r>
              <a:rPr lang="en-US" sz="1050" dirty="0">
                <a:solidFill>
                  <a:srgbClr val="1E2761"/>
                </a:solidFill>
                <a:latin typeface="Courier New" pitchFamily="34" charset="0"/>
                <a:ea typeface="Courier New" pitchFamily="34" charset="-122"/>
                <a:cs typeface="Courier New" pitchFamily="34" charset="-120"/>
              </a:rPr>
              <a:t>"cloud forensics" OR</a:t>
            </a:r>
            <a:endParaRPr lang="en-US" sz="1050" dirty="0"/>
          </a:p>
          <a:p>
            <a:pPr indent="0" marL="0">
              <a:buNone/>
            </a:pPr>
            <a:r>
              <a:rPr lang="en-US" sz="1050" dirty="0">
                <a:solidFill>
                  <a:srgbClr val="1E2761"/>
                </a:solidFill>
                <a:latin typeface="Courier New" pitchFamily="34" charset="0"/>
                <a:ea typeface="Courier New" pitchFamily="34" charset="-122"/>
                <a:cs typeface="Courier New" pitchFamily="34" charset="-120"/>
              </a:rPr>
              <a:t>"cloud-based digital forensics"</a:t>
            </a:r>
            <a:endParaRPr lang="en-US" sz="1050" dirty="0"/>
          </a:p>
          <a:p>
            <a:pPr indent="0" marL="0">
              <a:buNone/>
            </a:pPr>
            <a:r>
              <a:rPr lang="en-US" sz="1050" dirty="0">
                <a:solidFill>
                  <a:srgbClr val="1E2761"/>
                </a:solidFill>
                <a:latin typeface="Courier New" pitchFamily="34" charset="0"/>
                <a:ea typeface="Courier New" pitchFamily="34" charset="-122"/>
                <a:cs typeface="Courier New" pitchFamily="34" charset="-120"/>
              </a:rPr>
              <a:t>OR "forensic investigation cloud"</a:t>
            </a:r>
            <a:endParaRPr lang="en-US" sz="1050" dirty="0"/>
          </a:p>
        </p:txBody>
      </p:sp>
      <p:sp>
        <p:nvSpPr>
          <p:cNvPr id="31" name="Text 29"/>
          <p:cNvSpPr/>
          <p:nvPr/>
        </p:nvSpPr>
        <p:spPr>
          <a:xfrm>
            <a:off x="5349240" y="2560320"/>
            <a:ext cx="3291840" cy="274320"/>
          </a:xfrm>
          <a:prstGeom prst="rect">
            <a:avLst/>
          </a:prstGeom>
          <a:noFill/>
          <a:ln/>
        </p:spPr>
        <p:txBody>
          <a:bodyPr wrap="square" rtlCol="0" anchor="ctr"/>
          <a:lstStyle/>
          <a:p>
            <a:pPr indent="0" marL="0">
              <a:buNone/>
            </a:pPr>
            <a:r>
              <a:rPr lang="en-US" sz="1100" b="1" dirty="0">
                <a:solidFill>
                  <a:srgbClr val="028090"/>
                </a:solidFill>
                <a:latin typeface="Cambria" pitchFamily="34" charset="0"/>
                <a:ea typeface="Cambria" pitchFamily="34" charset="-122"/>
                <a:cs typeface="Cambria" pitchFamily="34" charset="-120"/>
              </a:rPr>
              <a:t>Cluster 2 — Technical</a:t>
            </a:r>
            <a:endParaRPr lang="en-US" sz="1100" dirty="0"/>
          </a:p>
        </p:txBody>
      </p:sp>
      <p:sp>
        <p:nvSpPr>
          <p:cNvPr id="32" name="Shape 30"/>
          <p:cNvSpPr/>
          <p:nvPr/>
        </p:nvSpPr>
        <p:spPr>
          <a:xfrm>
            <a:off x="5349240" y="2834640"/>
            <a:ext cx="3246120" cy="749808"/>
          </a:xfrm>
          <a:prstGeom prst="rect">
            <a:avLst/>
          </a:prstGeom>
          <a:solidFill>
            <a:srgbClr val="DBEAFE"/>
          </a:solidFill>
          <a:ln w="12700">
            <a:solidFill>
              <a:srgbClr val="BFDBFE"/>
            </a:solidFill>
            <a:prstDash val="solid"/>
          </a:ln>
        </p:spPr>
      </p:sp>
      <p:sp>
        <p:nvSpPr>
          <p:cNvPr id="33" name="Text 31"/>
          <p:cNvSpPr/>
          <p:nvPr/>
        </p:nvSpPr>
        <p:spPr>
          <a:xfrm>
            <a:off x="5440680" y="2871216"/>
            <a:ext cx="3063240" cy="640080"/>
          </a:xfrm>
          <a:prstGeom prst="rect">
            <a:avLst/>
          </a:prstGeom>
          <a:noFill/>
          <a:ln/>
        </p:spPr>
        <p:txBody>
          <a:bodyPr wrap="square" rtlCol="0" anchor="ctr"/>
          <a:lstStyle/>
          <a:p>
            <a:pPr indent="0" marL="0">
              <a:buNone/>
            </a:pPr>
            <a:r>
              <a:rPr lang="en-US" sz="1050" dirty="0">
                <a:solidFill>
                  <a:srgbClr val="1E2761"/>
                </a:solidFill>
                <a:latin typeface="Courier New" pitchFamily="34" charset="0"/>
                <a:ea typeface="Courier New" pitchFamily="34" charset="-122"/>
                <a:cs typeface="Courier New" pitchFamily="34" charset="-120"/>
              </a:rPr>
              <a:t>"challenges" OR "framework"</a:t>
            </a:r>
            <a:endParaRPr lang="en-US" sz="1050" dirty="0"/>
          </a:p>
          <a:p>
            <a:pPr indent="0" marL="0">
              <a:buNone/>
            </a:pPr>
            <a:r>
              <a:rPr lang="en-US" sz="1050" dirty="0">
                <a:solidFill>
                  <a:srgbClr val="1E2761"/>
                </a:solidFill>
                <a:latin typeface="Courier New" pitchFamily="34" charset="0"/>
                <a:ea typeface="Courier New" pitchFamily="34" charset="-122"/>
                <a:cs typeface="Courier New" pitchFamily="34" charset="-120"/>
              </a:rPr>
              <a:t>OR "evidence collection"</a:t>
            </a:r>
            <a:endParaRPr lang="en-US" sz="1050" dirty="0"/>
          </a:p>
          <a:p>
            <a:pPr indent="0" marL="0">
              <a:buNone/>
            </a:pPr>
            <a:r>
              <a:rPr lang="en-US" sz="1050" dirty="0">
                <a:solidFill>
                  <a:srgbClr val="1E2761"/>
                </a:solidFill>
                <a:latin typeface="Courier New" pitchFamily="34" charset="0"/>
                <a:ea typeface="Courier New" pitchFamily="34" charset="-122"/>
                <a:cs typeface="Courier New" pitchFamily="34" charset="-120"/>
              </a:rPr>
              <a:t>OR "chain of custody"</a:t>
            </a:r>
            <a:endParaRPr lang="en-US" sz="1050" dirty="0"/>
          </a:p>
        </p:txBody>
      </p:sp>
      <p:sp>
        <p:nvSpPr>
          <p:cNvPr id="34" name="Text 32"/>
          <p:cNvSpPr/>
          <p:nvPr/>
        </p:nvSpPr>
        <p:spPr>
          <a:xfrm>
            <a:off x="5349240" y="3749040"/>
            <a:ext cx="3291840" cy="274320"/>
          </a:xfrm>
          <a:prstGeom prst="rect">
            <a:avLst/>
          </a:prstGeom>
          <a:noFill/>
          <a:ln/>
        </p:spPr>
        <p:txBody>
          <a:bodyPr wrap="square" rtlCol="0" anchor="ctr"/>
          <a:lstStyle/>
          <a:p>
            <a:pPr indent="0" marL="0">
              <a:buNone/>
            </a:pPr>
            <a:r>
              <a:rPr lang="en-US" sz="1100" b="1" dirty="0">
                <a:solidFill>
                  <a:srgbClr val="028090"/>
                </a:solidFill>
                <a:latin typeface="Cambria" pitchFamily="34" charset="0"/>
                <a:ea typeface="Cambria" pitchFamily="34" charset="-122"/>
                <a:cs typeface="Cambria" pitchFamily="34" charset="-120"/>
              </a:rPr>
              <a:t>Cluster 3 — Legal/Geographic</a:t>
            </a:r>
            <a:endParaRPr lang="en-US" sz="1100" dirty="0"/>
          </a:p>
        </p:txBody>
      </p:sp>
      <p:sp>
        <p:nvSpPr>
          <p:cNvPr id="35" name="Shape 33"/>
          <p:cNvSpPr/>
          <p:nvPr/>
        </p:nvSpPr>
        <p:spPr>
          <a:xfrm>
            <a:off x="5349240" y="4023360"/>
            <a:ext cx="3246120" cy="749808"/>
          </a:xfrm>
          <a:prstGeom prst="rect">
            <a:avLst/>
          </a:prstGeom>
          <a:solidFill>
            <a:srgbClr val="DBEAFE"/>
          </a:solidFill>
          <a:ln w="12700">
            <a:solidFill>
              <a:srgbClr val="BFDBFE"/>
            </a:solidFill>
            <a:prstDash val="solid"/>
          </a:ln>
        </p:spPr>
      </p:sp>
      <p:sp>
        <p:nvSpPr>
          <p:cNvPr id="36" name="Text 34"/>
          <p:cNvSpPr/>
          <p:nvPr/>
        </p:nvSpPr>
        <p:spPr>
          <a:xfrm>
            <a:off x="5440680" y="4059936"/>
            <a:ext cx="3063240" cy="640080"/>
          </a:xfrm>
          <a:prstGeom prst="rect">
            <a:avLst/>
          </a:prstGeom>
          <a:noFill/>
          <a:ln/>
        </p:spPr>
        <p:txBody>
          <a:bodyPr wrap="square" rtlCol="0" anchor="ctr"/>
          <a:lstStyle/>
          <a:p>
            <a:pPr indent="0" marL="0">
              <a:buNone/>
            </a:pPr>
            <a:r>
              <a:rPr lang="en-US" sz="1050" dirty="0">
                <a:solidFill>
                  <a:srgbClr val="1E2761"/>
                </a:solidFill>
                <a:latin typeface="Courier New" pitchFamily="34" charset="0"/>
                <a:ea typeface="Courier New" pitchFamily="34" charset="-122"/>
                <a:cs typeface="Courier New" pitchFamily="34" charset="-120"/>
              </a:rPr>
              <a:t>"legal" OR "jurisdiction"</a:t>
            </a:r>
            <a:endParaRPr lang="en-US" sz="1050" dirty="0"/>
          </a:p>
          <a:p>
            <a:pPr indent="0" marL="0">
              <a:buNone/>
            </a:pPr>
            <a:r>
              <a:rPr lang="en-US" sz="1050" dirty="0">
                <a:solidFill>
                  <a:srgbClr val="1E2761"/>
                </a:solidFill>
                <a:latin typeface="Courier New" pitchFamily="34" charset="0"/>
                <a:ea typeface="Courier New" pitchFamily="34" charset="-122"/>
                <a:cs typeface="Courier New" pitchFamily="34" charset="-120"/>
              </a:rPr>
              <a:t>OR "Bangladesh" OR "ICT Act"</a:t>
            </a:r>
            <a:endParaRPr lang="en-US" sz="1050" dirty="0"/>
          </a:p>
          <a:p>
            <a:pPr indent="0" marL="0">
              <a:buNone/>
            </a:pPr>
            <a:r>
              <a:rPr lang="en-US" sz="1050" dirty="0">
                <a:solidFill>
                  <a:srgbClr val="1E2761"/>
                </a:solidFill>
                <a:latin typeface="Courier New" pitchFamily="34" charset="0"/>
                <a:ea typeface="Courier New" pitchFamily="34" charset="-122"/>
                <a:cs typeface="Courier New" pitchFamily="34" charset="-120"/>
              </a:rPr>
              <a:t>OR "developing countries"</a:t>
            </a:r>
            <a:endParaRPr lang="en-US" sz="1050" dirty="0"/>
          </a:p>
        </p:txBody>
      </p:sp>
      <p:sp>
        <p:nvSpPr>
          <p:cNvPr id="37" name="Shape 35"/>
          <p:cNvSpPr/>
          <p:nvPr/>
        </p:nvSpPr>
        <p:spPr>
          <a:xfrm>
            <a:off x="0" y="5074920"/>
            <a:ext cx="9144000" cy="64008"/>
          </a:xfrm>
          <a:prstGeom prst="rect">
            <a:avLst/>
          </a:prstGeom>
          <a:solidFill>
            <a:srgbClr val="1E2761"/>
          </a:solidFill>
          <a:ln w="12700">
            <a:solidFill>
              <a:srgbClr val="1E2761"/>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28090"/>
          </a:solidFill>
          <a:ln w="12700">
            <a:solidFill>
              <a:srgbClr val="028090"/>
            </a:solidFill>
            <a:prstDash val="solid"/>
          </a:ln>
        </p:spPr>
      </p:sp>
      <p:sp>
        <p:nvSpPr>
          <p:cNvPr id="3" name="Text 1"/>
          <p:cNvSpPr/>
          <p:nvPr/>
        </p:nvSpPr>
        <p:spPr>
          <a:xfrm>
            <a:off x="365760" y="137160"/>
            <a:ext cx="8412480" cy="54864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PRISMA 2020 Flow: Paper Selection Results</a:t>
            </a:r>
            <a:endParaRPr lang="en-US" sz="2600" dirty="0"/>
          </a:p>
        </p:txBody>
      </p:sp>
      <p:sp>
        <p:nvSpPr>
          <p:cNvPr id="4" name="Shape 2"/>
          <p:cNvSpPr/>
          <p:nvPr/>
        </p:nvSpPr>
        <p:spPr>
          <a:xfrm>
            <a:off x="91440" y="777240"/>
            <a:ext cx="594360" cy="1280160"/>
          </a:xfrm>
          <a:prstGeom prst="rect">
            <a:avLst/>
          </a:prstGeom>
          <a:solidFill>
            <a:srgbClr val="1E2761"/>
          </a:solidFill>
          <a:ln w="12700">
            <a:solidFill>
              <a:srgbClr val="1E2761"/>
            </a:solidFill>
            <a:prstDash val="solid"/>
          </a:ln>
        </p:spPr>
      </p:sp>
      <p:sp>
        <p:nvSpPr>
          <p:cNvPr id="5" name="Text 3"/>
          <p:cNvSpPr/>
          <p:nvPr/>
        </p:nvSpPr>
        <p:spPr>
          <a:xfrm rot="16200000">
            <a:off x="91440" y="777240"/>
            <a:ext cx="594360" cy="1280160"/>
          </a:xfrm>
          <a:prstGeom prst="rect">
            <a:avLst/>
          </a:prstGeom>
          <a:noFill/>
          <a:ln/>
        </p:spPr>
        <p:txBody>
          <a:bodyPr wrap="square"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IDENTIFICATION</a:t>
            </a:r>
            <a:endParaRPr lang="en-US" sz="750" dirty="0"/>
          </a:p>
        </p:txBody>
      </p:sp>
      <p:sp>
        <p:nvSpPr>
          <p:cNvPr id="6" name="Shape 4"/>
          <p:cNvSpPr/>
          <p:nvPr/>
        </p:nvSpPr>
        <p:spPr>
          <a:xfrm>
            <a:off x="91440" y="2148840"/>
            <a:ext cx="594360" cy="868680"/>
          </a:xfrm>
          <a:prstGeom prst="rect">
            <a:avLst/>
          </a:prstGeom>
          <a:solidFill>
            <a:srgbClr val="2C5F2D"/>
          </a:solidFill>
          <a:ln w="12700">
            <a:solidFill>
              <a:srgbClr val="2C5F2D"/>
            </a:solidFill>
            <a:prstDash val="solid"/>
          </a:ln>
        </p:spPr>
      </p:sp>
      <p:sp>
        <p:nvSpPr>
          <p:cNvPr id="7" name="Text 5"/>
          <p:cNvSpPr/>
          <p:nvPr/>
        </p:nvSpPr>
        <p:spPr>
          <a:xfrm rot="16200000">
            <a:off x="91440" y="2148840"/>
            <a:ext cx="594360" cy="868680"/>
          </a:xfrm>
          <a:prstGeom prst="rect">
            <a:avLst/>
          </a:prstGeom>
          <a:noFill/>
          <a:ln/>
        </p:spPr>
        <p:txBody>
          <a:bodyPr wrap="square"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SCREENING</a:t>
            </a:r>
            <a:endParaRPr lang="en-US" sz="750" dirty="0"/>
          </a:p>
        </p:txBody>
      </p:sp>
      <p:sp>
        <p:nvSpPr>
          <p:cNvPr id="8" name="Shape 6"/>
          <p:cNvSpPr/>
          <p:nvPr/>
        </p:nvSpPr>
        <p:spPr>
          <a:xfrm>
            <a:off x="91440" y="3108960"/>
            <a:ext cx="594360" cy="1005840"/>
          </a:xfrm>
          <a:prstGeom prst="rect">
            <a:avLst/>
          </a:prstGeom>
          <a:solidFill>
            <a:srgbClr val="028090"/>
          </a:solidFill>
          <a:ln w="12700">
            <a:solidFill>
              <a:srgbClr val="028090"/>
            </a:solidFill>
            <a:prstDash val="solid"/>
          </a:ln>
        </p:spPr>
      </p:sp>
      <p:sp>
        <p:nvSpPr>
          <p:cNvPr id="9" name="Text 7"/>
          <p:cNvSpPr/>
          <p:nvPr/>
        </p:nvSpPr>
        <p:spPr>
          <a:xfrm rot="16200000">
            <a:off x="91440" y="3108960"/>
            <a:ext cx="594360" cy="1005840"/>
          </a:xfrm>
          <a:prstGeom prst="rect">
            <a:avLst/>
          </a:prstGeom>
          <a:noFill/>
          <a:ln/>
        </p:spPr>
        <p:txBody>
          <a:bodyPr wrap="square"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ELIGIBILITY</a:t>
            </a:r>
            <a:endParaRPr lang="en-US" sz="750" dirty="0"/>
          </a:p>
        </p:txBody>
      </p:sp>
      <p:sp>
        <p:nvSpPr>
          <p:cNvPr id="10" name="Shape 8"/>
          <p:cNvSpPr/>
          <p:nvPr/>
        </p:nvSpPr>
        <p:spPr>
          <a:xfrm>
            <a:off x="91440" y="4206240"/>
            <a:ext cx="594360" cy="777240"/>
          </a:xfrm>
          <a:prstGeom prst="rect">
            <a:avLst/>
          </a:prstGeom>
          <a:solidFill>
            <a:srgbClr val="8B3A3A"/>
          </a:solidFill>
          <a:ln w="12700">
            <a:solidFill>
              <a:srgbClr val="8B3A3A"/>
            </a:solidFill>
            <a:prstDash val="solid"/>
          </a:ln>
        </p:spPr>
      </p:sp>
      <p:sp>
        <p:nvSpPr>
          <p:cNvPr id="11" name="Text 9"/>
          <p:cNvSpPr/>
          <p:nvPr/>
        </p:nvSpPr>
        <p:spPr>
          <a:xfrm rot="16200000">
            <a:off x="91440" y="4206240"/>
            <a:ext cx="594360" cy="777240"/>
          </a:xfrm>
          <a:prstGeom prst="rect">
            <a:avLst/>
          </a:prstGeom>
          <a:noFill/>
          <a:ln/>
        </p:spPr>
        <p:txBody>
          <a:bodyPr wrap="square"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INCLUDED</a:t>
            </a:r>
            <a:endParaRPr lang="en-US" sz="750" dirty="0"/>
          </a:p>
        </p:txBody>
      </p:sp>
      <p:sp>
        <p:nvSpPr>
          <p:cNvPr id="12" name="Shape 10"/>
          <p:cNvSpPr/>
          <p:nvPr/>
        </p:nvSpPr>
        <p:spPr>
          <a:xfrm>
            <a:off x="822960" y="822960"/>
            <a:ext cx="1508760" cy="749808"/>
          </a:xfrm>
          <a:prstGeom prst="rect">
            <a:avLst/>
          </a:prstGeom>
          <a:solidFill>
            <a:srgbClr val="EEF2FF"/>
          </a:solidFill>
          <a:ln w="12700">
            <a:solidFill>
              <a:srgbClr val="1E2761"/>
            </a:solidFill>
            <a:prstDash val="solid"/>
          </a:ln>
        </p:spPr>
      </p:sp>
      <p:sp>
        <p:nvSpPr>
          <p:cNvPr id="13" name="Text 11"/>
          <p:cNvSpPr/>
          <p:nvPr/>
        </p:nvSpPr>
        <p:spPr>
          <a:xfrm>
            <a:off x="822960" y="850392"/>
            <a:ext cx="1508760" cy="274320"/>
          </a:xfrm>
          <a:prstGeom prst="rect">
            <a:avLst/>
          </a:prstGeom>
          <a:noFill/>
          <a:ln/>
        </p:spPr>
        <p:txBody>
          <a:bodyPr wrap="square" rtlCol="0" anchor="ctr"/>
          <a:lstStyle/>
          <a:p>
            <a:pPr algn="ctr" indent="0" marL="0">
              <a:buNone/>
            </a:pPr>
            <a:r>
              <a:rPr lang="en-US" sz="900" b="1" dirty="0">
                <a:solidFill>
                  <a:srgbClr val="1E2761"/>
                </a:solidFill>
                <a:latin typeface="Calibri" pitchFamily="34" charset="0"/>
                <a:ea typeface="Calibri" pitchFamily="34" charset="-122"/>
                <a:cs typeface="Calibri" pitchFamily="34" charset="-120"/>
              </a:rPr>
              <a:t>IEEE Xplore</a:t>
            </a:r>
            <a:endParaRPr lang="en-US" sz="900" dirty="0"/>
          </a:p>
        </p:txBody>
      </p:sp>
      <p:sp>
        <p:nvSpPr>
          <p:cNvPr id="14" name="Text 12"/>
          <p:cNvSpPr/>
          <p:nvPr/>
        </p:nvSpPr>
        <p:spPr>
          <a:xfrm>
            <a:off x="822960" y="1115568"/>
            <a:ext cx="1508760" cy="347472"/>
          </a:xfrm>
          <a:prstGeom prst="rect">
            <a:avLst/>
          </a:prstGeom>
          <a:noFill/>
          <a:ln/>
        </p:spPr>
        <p:txBody>
          <a:bodyPr wrap="square" rtlCol="0" anchor="ctr"/>
          <a:lstStyle/>
          <a:p>
            <a:pPr algn="ctr" indent="0" marL="0">
              <a:buNone/>
            </a:pPr>
            <a:r>
              <a:rPr lang="en-US" sz="1300" b="1" dirty="0">
                <a:solidFill>
                  <a:srgbClr val="028090"/>
                </a:solidFill>
                <a:latin typeface="Calibri" pitchFamily="34" charset="0"/>
                <a:ea typeface="Calibri" pitchFamily="34" charset="-122"/>
                <a:cs typeface="Calibri" pitchFamily="34" charset="-120"/>
              </a:rPr>
              <a:t>n = 156</a:t>
            </a:r>
            <a:endParaRPr lang="en-US" sz="1300" dirty="0"/>
          </a:p>
        </p:txBody>
      </p:sp>
      <p:sp>
        <p:nvSpPr>
          <p:cNvPr id="15" name="Shape 13"/>
          <p:cNvSpPr/>
          <p:nvPr/>
        </p:nvSpPr>
        <p:spPr>
          <a:xfrm>
            <a:off x="2560320" y="822960"/>
            <a:ext cx="1508760" cy="749808"/>
          </a:xfrm>
          <a:prstGeom prst="rect">
            <a:avLst/>
          </a:prstGeom>
          <a:solidFill>
            <a:srgbClr val="EEF2FF"/>
          </a:solidFill>
          <a:ln w="12700">
            <a:solidFill>
              <a:srgbClr val="1E2761"/>
            </a:solidFill>
            <a:prstDash val="solid"/>
          </a:ln>
        </p:spPr>
      </p:sp>
      <p:sp>
        <p:nvSpPr>
          <p:cNvPr id="16" name="Text 14"/>
          <p:cNvSpPr/>
          <p:nvPr/>
        </p:nvSpPr>
        <p:spPr>
          <a:xfrm>
            <a:off x="2560320" y="850392"/>
            <a:ext cx="1508760" cy="274320"/>
          </a:xfrm>
          <a:prstGeom prst="rect">
            <a:avLst/>
          </a:prstGeom>
          <a:noFill/>
          <a:ln/>
        </p:spPr>
        <p:txBody>
          <a:bodyPr wrap="square" rtlCol="0" anchor="ctr"/>
          <a:lstStyle/>
          <a:p>
            <a:pPr algn="ctr" indent="0" marL="0">
              <a:buNone/>
            </a:pPr>
            <a:r>
              <a:rPr lang="en-US" sz="900" b="1" dirty="0">
                <a:solidFill>
                  <a:srgbClr val="1E2761"/>
                </a:solidFill>
                <a:latin typeface="Calibri" pitchFamily="34" charset="0"/>
                <a:ea typeface="Calibri" pitchFamily="34" charset="-122"/>
                <a:cs typeface="Calibri" pitchFamily="34" charset="-120"/>
              </a:rPr>
              <a:t>Scopus</a:t>
            </a:r>
            <a:endParaRPr lang="en-US" sz="900" dirty="0"/>
          </a:p>
        </p:txBody>
      </p:sp>
      <p:sp>
        <p:nvSpPr>
          <p:cNvPr id="17" name="Text 15"/>
          <p:cNvSpPr/>
          <p:nvPr/>
        </p:nvSpPr>
        <p:spPr>
          <a:xfrm>
            <a:off x="2560320" y="1115568"/>
            <a:ext cx="1508760" cy="347472"/>
          </a:xfrm>
          <a:prstGeom prst="rect">
            <a:avLst/>
          </a:prstGeom>
          <a:noFill/>
          <a:ln/>
        </p:spPr>
        <p:txBody>
          <a:bodyPr wrap="square" rtlCol="0" anchor="ctr"/>
          <a:lstStyle/>
          <a:p>
            <a:pPr algn="ctr" indent="0" marL="0">
              <a:buNone/>
            </a:pPr>
            <a:r>
              <a:rPr lang="en-US" sz="1300" b="1" dirty="0">
                <a:solidFill>
                  <a:srgbClr val="028090"/>
                </a:solidFill>
                <a:latin typeface="Calibri" pitchFamily="34" charset="0"/>
                <a:ea typeface="Calibri" pitchFamily="34" charset="-122"/>
                <a:cs typeface="Calibri" pitchFamily="34" charset="-120"/>
              </a:rPr>
              <a:t>n = 201</a:t>
            </a:r>
            <a:endParaRPr lang="en-US" sz="1300" dirty="0"/>
          </a:p>
        </p:txBody>
      </p:sp>
      <p:sp>
        <p:nvSpPr>
          <p:cNvPr id="18" name="Shape 16"/>
          <p:cNvSpPr/>
          <p:nvPr/>
        </p:nvSpPr>
        <p:spPr>
          <a:xfrm>
            <a:off x="4297680" y="822960"/>
            <a:ext cx="1508760" cy="749808"/>
          </a:xfrm>
          <a:prstGeom prst="rect">
            <a:avLst/>
          </a:prstGeom>
          <a:solidFill>
            <a:srgbClr val="EEF2FF"/>
          </a:solidFill>
          <a:ln w="12700">
            <a:solidFill>
              <a:srgbClr val="1E2761"/>
            </a:solidFill>
            <a:prstDash val="solid"/>
          </a:ln>
        </p:spPr>
      </p:sp>
      <p:sp>
        <p:nvSpPr>
          <p:cNvPr id="19" name="Text 17"/>
          <p:cNvSpPr/>
          <p:nvPr/>
        </p:nvSpPr>
        <p:spPr>
          <a:xfrm>
            <a:off x="4297680" y="850392"/>
            <a:ext cx="1508760" cy="274320"/>
          </a:xfrm>
          <a:prstGeom prst="rect">
            <a:avLst/>
          </a:prstGeom>
          <a:noFill/>
          <a:ln/>
        </p:spPr>
        <p:txBody>
          <a:bodyPr wrap="square" rtlCol="0" anchor="ctr"/>
          <a:lstStyle/>
          <a:p>
            <a:pPr algn="ctr" indent="0" marL="0">
              <a:buNone/>
            </a:pPr>
            <a:r>
              <a:rPr lang="en-US" sz="900" b="1" dirty="0">
                <a:solidFill>
                  <a:srgbClr val="1E2761"/>
                </a:solidFill>
                <a:latin typeface="Calibri" pitchFamily="34" charset="0"/>
                <a:ea typeface="Calibri" pitchFamily="34" charset="-122"/>
                <a:cs typeface="Calibri" pitchFamily="34" charset="-120"/>
              </a:rPr>
              <a:t>Google</a:t>
            </a:r>
            <a:endParaRPr lang="en-US" sz="900" dirty="0"/>
          </a:p>
          <a:p>
            <a:pPr algn="ctr" indent="0" marL="0">
              <a:buNone/>
            </a:pPr>
            <a:r>
              <a:rPr lang="en-US" sz="900" b="1" dirty="0">
                <a:solidFill>
                  <a:srgbClr val="1E2761"/>
                </a:solidFill>
                <a:latin typeface="Calibri" pitchFamily="34" charset="0"/>
                <a:ea typeface="Calibri" pitchFamily="34" charset="-122"/>
                <a:cs typeface="Calibri" pitchFamily="34" charset="-120"/>
              </a:rPr>
              <a:t>Scholar</a:t>
            </a:r>
            <a:endParaRPr lang="en-US" sz="900" dirty="0"/>
          </a:p>
        </p:txBody>
      </p:sp>
      <p:sp>
        <p:nvSpPr>
          <p:cNvPr id="20" name="Text 18"/>
          <p:cNvSpPr/>
          <p:nvPr/>
        </p:nvSpPr>
        <p:spPr>
          <a:xfrm>
            <a:off x="4297680" y="1115568"/>
            <a:ext cx="1508760" cy="347472"/>
          </a:xfrm>
          <a:prstGeom prst="rect">
            <a:avLst/>
          </a:prstGeom>
          <a:noFill/>
          <a:ln/>
        </p:spPr>
        <p:txBody>
          <a:bodyPr wrap="square" rtlCol="0" anchor="ctr"/>
          <a:lstStyle/>
          <a:p>
            <a:pPr algn="ctr" indent="0" marL="0">
              <a:buNone/>
            </a:pPr>
            <a:r>
              <a:rPr lang="en-US" sz="1300" b="1" dirty="0">
                <a:solidFill>
                  <a:srgbClr val="028090"/>
                </a:solidFill>
                <a:latin typeface="Calibri" pitchFamily="34" charset="0"/>
                <a:ea typeface="Calibri" pitchFamily="34" charset="-122"/>
                <a:cs typeface="Calibri" pitchFamily="34" charset="-120"/>
              </a:rPr>
              <a:t>n = 287</a:t>
            </a:r>
            <a:endParaRPr lang="en-US" sz="1300" dirty="0"/>
          </a:p>
        </p:txBody>
      </p:sp>
      <p:sp>
        <p:nvSpPr>
          <p:cNvPr id="21" name="Shape 19"/>
          <p:cNvSpPr/>
          <p:nvPr/>
        </p:nvSpPr>
        <p:spPr>
          <a:xfrm>
            <a:off x="6035040" y="822960"/>
            <a:ext cx="1508760" cy="749808"/>
          </a:xfrm>
          <a:prstGeom prst="rect">
            <a:avLst/>
          </a:prstGeom>
          <a:solidFill>
            <a:srgbClr val="EEF2FF"/>
          </a:solidFill>
          <a:ln w="12700">
            <a:solidFill>
              <a:srgbClr val="1E2761"/>
            </a:solidFill>
            <a:prstDash val="solid"/>
          </a:ln>
        </p:spPr>
      </p:sp>
      <p:sp>
        <p:nvSpPr>
          <p:cNvPr id="22" name="Text 20"/>
          <p:cNvSpPr/>
          <p:nvPr/>
        </p:nvSpPr>
        <p:spPr>
          <a:xfrm>
            <a:off x="6035040" y="850392"/>
            <a:ext cx="1508760" cy="274320"/>
          </a:xfrm>
          <a:prstGeom prst="rect">
            <a:avLst/>
          </a:prstGeom>
          <a:noFill/>
          <a:ln/>
        </p:spPr>
        <p:txBody>
          <a:bodyPr wrap="square" rtlCol="0" anchor="ctr"/>
          <a:lstStyle/>
          <a:p>
            <a:pPr algn="ctr" indent="0" marL="0">
              <a:buNone/>
            </a:pPr>
            <a:r>
              <a:rPr lang="en-US" sz="900" b="1" dirty="0">
                <a:solidFill>
                  <a:srgbClr val="1E2761"/>
                </a:solidFill>
                <a:latin typeface="Calibri" pitchFamily="34" charset="0"/>
                <a:ea typeface="Calibri" pitchFamily="34" charset="-122"/>
                <a:cs typeface="Calibri" pitchFamily="34" charset="-120"/>
              </a:rPr>
              <a:t>ACM DL</a:t>
            </a:r>
            <a:endParaRPr lang="en-US" sz="900" dirty="0"/>
          </a:p>
        </p:txBody>
      </p:sp>
      <p:sp>
        <p:nvSpPr>
          <p:cNvPr id="23" name="Text 21"/>
          <p:cNvSpPr/>
          <p:nvPr/>
        </p:nvSpPr>
        <p:spPr>
          <a:xfrm>
            <a:off x="6035040" y="1115568"/>
            <a:ext cx="1508760" cy="347472"/>
          </a:xfrm>
          <a:prstGeom prst="rect">
            <a:avLst/>
          </a:prstGeom>
          <a:noFill/>
          <a:ln/>
        </p:spPr>
        <p:txBody>
          <a:bodyPr wrap="square" rtlCol="0" anchor="ctr"/>
          <a:lstStyle/>
          <a:p>
            <a:pPr algn="ctr" indent="0" marL="0">
              <a:buNone/>
            </a:pPr>
            <a:r>
              <a:rPr lang="en-US" sz="1300" b="1" dirty="0">
                <a:solidFill>
                  <a:srgbClr val="028090"/>
                </a:solidFill>
                <a:latin typeface="Calibri" pitchFamily="34" charset="0"/>
                <a:ea typeface="Calibri" pitchFamily="34" charset="-122"/>
                <a:cs typeface="Calibri" pitchFamily="34" charset="-120"/>
              </a:rPr>
              <a:t>n = 112</a:t>
            </a:r>
            <a:endParaRPr lang="en-US" sz="1300" dirty="0"/>
          </a:p>
        </p:txBody>
      </p:sp>
      <p:sp>
        <p:nvSpPr>
          <p:cNvPr id="24" name="Shape 22"/>
          <p:cNvSpPr/>
          <p:nvPr/>
        </p:nvSpPr>
        <p:spPr>
          <a:xfrm>
            <a:off x="2560320" y="1737360"/>
            <a:ext cx="2743200" cy="640080"/>
          </a:xfrm>
          <a:prstGeom prst="rect">
            <a:avLst/>
          </a:prstGeom>
          <a:solidFill>
            <a:srgbClr val="D6E4F7"/>
          </a:solidFill>
          <a:ln w="12700">
            <a:solidFill>
              <a:srgbClr val="1E2761"/>
            </a:solidFill>
            <a:prstDash val="solid"/>
          </a:ln>
        </p:spPr>
      </p:sp>
      <p:sp>
        <p:nvSpPr>
          <p:cNvPr id="25" name="Text 23"/>
          <p:cNvSpPr/>
          <p:nvPr/>
        </p:nvSpPr>
        <p:spPr>
          <a:xfrm>
            <a:off x="2560320" y="1810512"/>
            <a:ext cx="2743200" cy="457200"/>
          </a:xfrm>
          <a:prstGeom prst="rect">
            <a:avLst/>
          </a:prstGeom>
          <a:noFill/>
          <a:ln/>
        </p:spPr>
        <p:txBody>
          <a:bodyPr wrap="square" rtlCol="0" anchor="ctr"/>
          <a:lstStyle/>
          <a:p>
            <a:pPr algn="ctr" indent="0" marL="0">
              <a:buNone/>
            </a:pPr>
            <a:r>
              <a:rPr lang="en-US" sz="1300" b="1" dirty="0">
                <a:solidFill>
                  <a:srgbClr val="1E2761"/>
                </a:solidFill>
                <a:latin typeface="Cambria" pitchFamily="34" charset="0"/>
                <a:ea typeface="Cambria" pitchFamily="34" charset="-122"/>
                <a:cs typeface="Cambria" pitchFamily="34" charset="-120"/>
              </a:rPr>
              <a:t>Total Identified  n = 756</a:t>
            </a:r>
            <a:endParaRPr lang="en-US" sz="1300" dirty="0"/>
          </a:p>
        </p:txBody>
      </p:sp>
      <p:sp>
        <p:nvSpPr>
          <p:cNvPr id="26" name="Shape 24"/>
          <p:cNvSpPr/>
          <p:nvPr/>
        </p:nvSpPr>
        <p:spPr>
          <a:xfrm>
            <a:off x="3931920" y="2377440"/>
            <a:ext cx="0" cy="256032"/>
          </a:xfrm>
          <a:prstGeom prst="line">
            <a:avLst/>
          </a:prstGeom>
          <a:noFill/>
          <a:ln w="25400">
            <a:solidFill>
              <a:srgbClr val="1E2761"/>
            </a:solidFill>
            <a:prstDash val="solid"/>
          </a:ln>
        </p:spPr>
      </p:sp>
      <p:sp>
        <p:nvSpPr>
          <p:cNvPr id="27" name="Shape 25"/>
          <p:cNvSpPr/>
          <p:nvPr/>
        </p:nvSpPr>
        <p:spPr>
          <a:xfrm>
            <a:off x="2148840" y="2651760"/>
            <a:ext cx="3566160" cy="594360"/>
          </a:xfrm>
          <a:prstGeom prst="rect">
            <a:avLst/>
          </a:prstGeom>
          <a:solidFill>
            <a:srgbClr val="F0FFF4"/>
          </a:solidFill>
          <a:ln w="12700">
            <a:solidFill>
              <a:srgbClr val="2C5F2D"/>
            </a:solidFill>
            <a:prstDash val="solid"/>
          </a:ln>
        </p:spPr>
      </p:sp>
      <p:sp>
        <p:nvSpPr>
          <p:cNvPr id="28" name="Text 26"/>
          <p:cNvSpPr/>
          <p:nvPr/>
        </p:nvSpPr>
        <p:spPr>
          <a:xfrm>
            <a:off x="2148840" y="2743200"/>
            <a:ext cx="3566160" cy="411480"/>
          </a:xfrm>
          <a:prstGeom prst="rect">
            <a:avLst/>
          </a:prstGeom>
          <a:noFill/>
          <a:ln/>
        </p:spPr>
        <p:txBody>
          <a:bodyPr wrap="square" rtlCol="0" anchor="ctr"/>
          <a:lstStyle/>
          <a:p>
            <a:pPr algn="ctr" indent="0" marL="0">
              <a:buNone/>
            </a:pPr>
            <a:r>
              <a:rPr lang="en-US" sz="1200" b="1" dirty="0">
                <a:solidFill>
                  <a:srgbClr val="2C5F2D"/>
                </a:solidFill>
                <a:latin typeface="Cambria" pitchFamily="34" charset="0"/>
                <a:ea typeface="Cambria" pitchFamily="34" charset="-122"/>
                <a:cs typeface="Cambria" pitchFamily="34" charset="-120"/>
              </a:rPr>
              <a:t>After Duplicate Removal  →  n = 523</a:t>
            </a:r>
            <a:endParaRPr lang="en-US" sz="1200" dirty="0"/>
          </a:p>
        </p:txBody>
      </p:sp>
      <p:sp>
        <p:nvSpPr>
          <p:cNvPr id="29" name="Shape 27"/>
          <p:cNvSpPr/>
          <p:nvPr/>
        </p:nvSpPr>
        <p:spPr>
          <a:xfrm>
            <a:off x="5989320" y="2633472"/>
            <a:ext cx="2834640" cy="594360"/>
          </a:xfrm>
          <a:prstGeom prst="rect">
            <a:avLst/>
          </a:prstGeom>
          <a:solidFill>
            <a:srgbClr val="FFF5F5"/>
          </a:solidFill>
          <a:ln w="12700">
            <a:solidFill>
              <a:srgbClr val="C0392B"/>
            </a:solidFill>
            <a:prstDash val="solid"/>
          </a:ln>
        </p:spPr>
      </p:sp>
      <p:sp>
        <p:nvSpPr>
          <p:cNvPr id="30" name="Text 28"/>
          <p:cNvSpPr/>
          <p:nvPr/>
        </p:nvSpPr>
        <p:spPr>
          <a:xfrm>
            <a:off x="6126480" y="2734056"/>
            <a:ext cx="2651760" cy="365760"/>
          </a:xfrm>
          <a:prstGeom prst="rect">
            <a:avLst/>
          </a:prstGeom>
          <a:noFill/>
          <a:ln/>
        </p:spPr>
        <p:txBody>
          <a:bodyPr wrap="square" rtlCol="0" anchor="ctr"/>
          <a:lstStyle/>
          <a:p>
            <a:pPr indent="0" marL="0">
              <a:buNone/>
            </a:pPr>
            <a:r>
              <a:rPr lang="en-US" sz="1000" dirty="0">
                <a:solidFill>
                  <a:srgbClr val="C0392B"/>
                </a:solidFill>
                <a:latin typeface="Calibri" pitchFamily="34" charset="0"/>
                <a:ea typeface="Calibri" pitchFamily="34" charset="-122"/>
                <a:cs typeface="Calibri" pitchFamily="34" charset="-120"/>
              </a:rPr>
              <a:t>Duplicates removed: n = 233</a:t>
            </a:r>
            <a:endParaRPr lang="en-US" sz="1000" dirty="0"/>
          </a:p>
        </p:txBody>
      </p:sp>
      <p:sp>
        <p:nvSpPr>
          <p:cNvPr id="31" name="Shape 29"/>
          <p:cNvSpPr/>
          <p:nvPr/>
        </p:nvSpPr>
        <p:spPr>
          <a:xfrm>
            <a:off x="5715000" y="2944368"/>
            <a:ext cx="274320" cy="0"/>
          </a:xfrm>
          <a:prstGeom prst="line">
            <a:avLst/>
          </a:prstGeom>
          <a:noFill/>
          <a:ln w="19050">
            <a:solidFill>
              <a:srgbClr val="C0392B"/>
            </a:solidFill>
            <a:prstDash val="solid"/>
          </a:ln>
        </p:spPr>
      </p:sp>
      <p:sp>
        <p:nvSpPr>
          <p:cNvPr id="32" name="Shape 30"/>
          <p:cNvSpPr/>
          <p:nvPr/>
        </p:nvSpPr>
        <p:spPr>
          <a:xfrm>
            <a:off x="3931920" y="3246120"/>
            <a:ext cx="0" cy="201168"/>
          </a:xfrm>
          <a:prstGeom prst="line">
            <a:avLst/>
          </a:prstGeom>
          <a:noFill/>
          <a:ln w="25400">
            <a:solidFill>
              <a:srgbClr val="1E2761"/>
            </a:solidFill>
            <a:prstDash val="solid"/>
          </a:ln>
        </p:spPr>
      </p:sp>
      <p:sp>
        <p:nvSpPr>
          <p:cNvPr id="33" name="Shape 31"/>
          <p:cNvSpPr/>
          <p:nvPr/>
        </p:nvSpPr>
        <p:spPr>
          <a:xfrm>
            <a:off x="2148840" y="3474720"/>
            <a:ext cx="3566160" cy="594360"/>
          </a:xfrm>
          <a:prstGeom prst="rect">
            <a:avLst/>
          </a:prstGeom>
          <a:solidFill>
            <a:srgbClr val="E8FAF7"/>
          </a:solidFill>
          <a:ln w="12700">
            <a:solidFill>
              <a:srgbClr val="028090"/>
            </a:solidFill>
            <a:prstDash val="solid"/>
          </a:ln>
        </p:spPr>
      </p:sp>
      <p:sp>
        <p:nvSpPr>
          <p:cNvPr id="34" name="Text 32"/>
          <p:cNvSpPr/>
          <p:nvPr/>
        </p:nvSpPr>
        <p:spPr>
          <a:xfrm>
            <a:off x="2148840" y="3566160"/>
            <a:ext cx="3566160" cy="411480"/>
          </a:xfrm>
          <a:prstGeom prst="rect">
            <a:avLst/>
          </a:prstGeom>
          <a:noFill/>
          <a:ln/>
        </p:spPr>
        <p:txBody>
          <a:bodyPr wrap="square" rtlCol="0" anchor="ctr"/>
          <a:lstStyle/>
          <a:p>
            <a:pPr algn="ctr" indent="0" marL="0">
              <a:buNone/>
            </a:pPr>
            <a:r>
              <a:rPr lang="en-US" sz="1200" b="1" dirty="0">
                <a:solidFill>
                  <a:srgbClr val="028090"/>
                </a:solidFill>
                <a:latin typeface="Cambria" pitchFamily="34" charset="0"/>
                <a:ea typeface="Cambria" pitchFamily="34" charset="-122"/>
                <a:cs typeface="Cambria" pitchFamily="34" charset="-120"/>
              </a:rPr>
              <a:t>Full-Text Assessed  n = 87</a:t>
            </a:r>
            <a:endParaRPr lang="en-US" sz="1200" dirty="0"/>
          </a:p>
        </p:txBody>
      </p:sp>
      <p:sp>
        <p:nvSpPr>
          <p:cNvPr id="35" name="Shape 33"/>
          <p:cNvSpPr/>
          <p:nvPr/>
        </p:nvSpPr>
        <p:spPr>
          <a:xfrm>
            <a:off x="5989320" y="3447288"/>
            <a:ext cx="2834640" cy="960120"/>
          </a:xfrm>
          <a:prstGeom prst="rect">
            <a:avLst/>
          </a:prstGeom>
          <a:solidFill>
            <a:srgbClr val="FFF5F5"/>
          </a:solidFill>
          <a:ln w="12700">
            <a:solidFill>
              <a:srgbClr val="C0392B"/>
            </a:solidFill>
            <a:prstDash val="solid"/>
          </a:ln>
        </p:spPr>
      </p:sp>
      <p:sp>
        <p:nvSpPr>
          <p:cNvPr id="36" name="Text 34"/>
          <p:cNvSpPr/>
          <p:nvPr/>
        </p:nvSpPr>
        <p:spPr>
          <a:xfrm>
            <a:off x="6126480" y="3529584"/>
            <a:ext cx="2651760" cy="822960"/>
          </a:xfrm>
          <a:prstGeom prst="rect">
            <a:avLst/>
          </a:prstGeom>
          <a:noFill/>
          <a:ln/>
        </p:spPr>
        <p:txBody>
          <a:bodyPr wrap="square" rtlCol="0" anchor="ctr"/>
          <a:lstStyle/>
          <a:p>
            <a:pPr indent="0" marL="0">
              <a:buNone/>
            </a:pPr>
            <a:r>
              <a:rPr lang="en-US" sz="950" dirty="0">
                <a:solidFill>
                  <a:srgbClr val="C0392B"/>
                </a:solidFill>
                <a:latin typeface="Calibri" pitchFamily="34" charset="0"/>
                <a:ea typeface="Calibri" pitchFamily="34" charset="-122"/>
                <a:cs typeface="Calibri" pitchFamily="34" charset="-120"/>
              </a:rPr>
              <a:t>Excluded (n=69):</a:t>
            </a:r>
            <a:endParaRPr lang="en-US" sz="950" dirty="0"/>
          </a:p>
          <a:p>
            <a:pPr indent="0" marL="0">
              <a:buNone/>
            </a:pPr>
            <a:r>
              <a:rPr lang="en-US" sz="950" dirty="0">
                <a:solidFill>
                  <a:srgbClr val="C0392B"/>
                </a:solidFill>
                <a:latin typeface="Calibri" pitchFamily="34" charset="0"/>
                <a:ea typeface="Calibri" pitchFamily="34" charset="-122"/>
                <a:cs typeface="Calibri" pitchFamily="34" charset="-120"/>
              </a:rPr>
              <a:t>• Irrelevant topic: 35</a:t>
            </a:r>
            <a:endParaRPr lang="en-US" sz="950" dirty="0"/>
          </a:p>
          <a:p>
            <a:pPr indent="0" marL="0">
              <a:buNone/>
            </a:pPr>
            <a:r>
              <a:rPr lang="en-US" sz="950" dirty="0">
                <a:solidFill>
                  <a:srgbClr val="C0392B"/>
                </a:solidFill>
                <a:latin typeface="Calibri" pitchFamily="34" charset="0"/>
                <a:ea typeface="Calibri" pitchFamily="34" charset="-122"/>
                <a:cs typeface="Calibri" pitchFamily="34" charset="-120"/>
              </a:rPr>
              <a:t>• Methodology issues: 19</a:t>
            </a:r>
            <a:endParaRPr lang="en-US" sz="950" dirty="0"/>
          </a:p>
          <a:p>
            <a:pPr indent="0" marL="0">
              <a:buNone/>
            </a:pPr>
            <a:r>
              <a:rPr lang="en-US" sz="950" dirty="0">
                <a:solidFill>
                  <a:srgbClr val="C0392B"/>
                </a:solidFill>
                <a:latin typeface="Calibri" pitchFamily="34" charset="0"/>
                <a:ea typeface="Calibri" pitchFamily="34" charset="-122"/>
                <a:cs typeface="Calibri" pitchFamily="34" charset="-120"/>
              </a:rPr>
              <a:t>• Inaccessible: 15</a:t>
            </a:r>
            <a:endParaRPr lang="en-US" sz="950" dirty="0"/>
          </a:p>
        </p:txBody>
      </p:sp>
      <p:sp>
        <p:nvSpPr>
          <p:cNvPr id="37" name="Shape 35"/>
          <p:cNvSpPr/>
          <p:nvPr/>
        </p:nvSpPr>
        <p:spPr>
          <a:xfrm>
            <a:off x="5715000" y="3767328"/>
            <a:ext cx="274320" cy="0"/>
          </a:xfrm>
          <a:prstGeom prst="line">
            <a:avLst/>
          </a:prstGeom>
          <a:noFill/>
          <a:ln w="19050">
            <a:solidFill>
              <a:srgbClr val="C0392B"/>
            </a:solidFill>
            <a:prstDash val="solid"/>
          </a:ln>
        </p:spPr>
      </p:sp>
      <p:sp>
        <p:nvSpPr>
          <p:cNvPr id="38" name="Shape 36"/>
          <p:cNvSpPr/>
          <p:nvPr/>
        </p:nvSpPr>
        <p:spPr>
          <a:xfrm>
            <a:off x="3931920" y="4069080"/>
            <a:ext cx="0" cy="201168"/>
          </a:xfrm>
          <a:prstGeom prst="line">
            <a:avLst/>
          </a:prstGeom>
          <a:noFill/>
          <a:ln w="25400">
            <a:solidFill>
              <a:srgbClr val="1E2761"/>
            </a:solidFill>
            <a:prstDash val="solid"/>
          </a:ln>
        </p:spPr>
      </p:sp>
      <p:sp>
        <p:nvSpPr>
          <p:cNvPr id="39" name="Shape 37"/>
          <p:cNvSpPr/>
          <p:nvPr/>
        </p:nvSpPr>
        <p:spPr>
          <a:xfrm>
            <a:off x="1874520" y="4279392"/>
            <a:ext cx="4114800" cy="731520"/>
          </a:xfrm>
          <a:prstGeom prst="rect">
            <a:avLst/>
          </a:prstGeom>
          <a:solidFill>
            <a:srgbClr val="1E2761"/>
          </a:solidFill>
          <a:ln w="12700">
            <a:solidFill>
              <a:srgbClr val="1E2761"/>
            </a:solidFill>
            <a:prstDash val="solid"/>
          </a:ln>
        </p:spPr>
      </p:sp>
      <p:sp>
        <p:nvSpPr>
          <p:cNvPr id="40" name="Text 38"/>
          <p:cNvSpPr/>
          <p:nvPr/>
        </p:nvSpPr>
        <p:spPr>
          <a:xfrm>
            <a:off x="1874520" y="4407408"/>
            <a:ext cx="4114800" cy="45720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  Studies Included in Synthesis  n = 18</a:t>
            </a:r>
            <a:endParaRPr lang="en-US" sz="1400" dirty="0"/>
          </a:p>
        </p:txBody>
      </p:sp>
      <p:sp>
        <p:nvSpPr>
          <p:cNvPr id="41" name="Shape 39"/>
          <p:cNvSpPr/>
          <p:nvPr/>
        </p:nvSpPr>
        <p:spPr>
          <a:xfrm>
            <a:off x="0" y="5074920"/>
            <a:ext cx="9144000" cy="64008"/>
          </a:xfrm>
          <a:prstGeom prst="rect">
            <a:avLst/>
          </a:prstGeom>
          <a:solidFill>
            <a:srgbClr val="028090"/>
          </a:solidFill>
          <a:ln w="12700">
            <a:solidFill>
              <a:srgbClr val="028090"/>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E2761"/>
          </a:solidFill>
          <a:ln w="12700">
            <a:solidFill>
              <a:srgbClr val="1E2761"/>
            </a:solidFill>
            <a:prstDash val="solid"/>
          </a:ln>
        </p:spPr>
      </p:sp>
      <p:sp>
        <p:nvSpPr>
          <p:cNvPr id="3" name="Text 1"/>
          <p:cNvSpPr/>
          <p:nvPr/>
        </p:nvSpPr>
        <p:spPr>
          <a:xfrm>
            <a:off x="365760" y="137160"/>
            <a:ext cx="8412480" cy="502920"/>
          </a:xfrm>
          <a:prstGeom prst="rect">
            <a:avLst/>
          </a:prstGeom>
          <a:noFill/>
          <a:ln/>
        </p:spPr>
        <p:txBody>
          <a:bodyPr wrap="square"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Key Papers: Insights and Relevance to Bangladesh</a:t>
            </a:r>
            <a:endParaRPr lang="en-US" sz="2400" dirty="0"/>
          </a:p>
        </p:txBody>
      </p:sp>
      <p:sp>
        <p:nvSpPr>
          <p:cNvPr id="4" name="Shape 2"/>
          <p:cNvSpPr/>
          <p:nvPr/>
        </p:nvSpPr>
        <p:spPr>
          <a:xfrm>
            <a:off x="109728" y="749808"/>
            <a:ext cx="8915400" cy="347472"/>
          </a:xfrm>
          <a:prstGeom prst="rect">
            <a:avLst/>
          </a:prstGeom>
          <a:solidFill>
            <a:srgbClr val="1E2761"/>
          </a:solidFill>
          <a:ln w="12700">
            <a:solidFill>
              <a:srgbClr val="1E2761"/>
            </a:solidFill>
            <a:prstDash val="solid"/>
          </a:ln>
        </p:spPr>
      </p:sp>
      <p:sp>
        <p:nvSpPr>
          <p:cNvPr id="5" name="Text 3"/>
          <p:cNvSpPr/>
          <p:nvPr/>
        </p:nvSpPr>
        <p:spPr>
          <a:xfrm>
            <a:off x="155448" y="786384"/>
            <a:ext cx="2560320" cy="256032"/>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Author(s), Year</a:t>
            </a:r>
            <a:endParaRPr lang="en-US" sz="1050" dirty="0"/>
          </a:p>
        </p:txBody>
      </p:sp>
      <p:sp>
        <p:nvSpPr>
          <p:cNvPr id="6" name="Text 4"/>
          <p:cNvSpPr/>
          <p:nvPr/>
        </p:nvSpPr>
        <p:spPr>
          <a:xfrm>
            <a:off x="2880360" y="786384"/>
            <a:ext cx="3017520" cy="256032"/>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Key Finding</a:t>
            </a:r>
            <a:endParaRPr lang="en-US" sz="1050" dirty="0"/>
          </a:p>
        </p:txBody>
      </p:sp>
      <p:sp>
        <p:nvSpPr>
          <p:cNvPr id="7" name="Text 5"/>
          <p:cNvSpPr/>
          <p:nvPr/>
        </p:nvSpPr>
        <p:spPr>
          <a:xfrm>
            <a:off x="6080760" y="786384"/>
            <a:ext cx="2880360" cy="256032"/>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Bangladesh Relevance</a:t>
            </a:r>
            <a:endParaRPr lang="en-US" sz="1050" dirty="0"/>
          </a:p>
        </p:txBody>
      </p:sp>
      <p:sp>
        <p:nvSpPr>
          <p:cNvPr id="8" name="Shape 6"/>
          <p:cNvSpPr/>
          <p:nvPr/>
        </p:nvSpPr>
        <p:spPr>
          <a:xfrm>
            <a:off x="109728" y="1115568"/>
            <a:ext cx="8915400" cy="475488"/>
          </a:xfrm>
          <a:prstGeom prst="rect">
            <a:avLst/>
          </a:prstGeom>
          <a:solidFill>
            <a:srgbClr val="FFFFFF"/>
          </a:solidFill>
          <a:ln w="12700">
            <a:solidFill>
              <a:srgbClr val="E5E7EB"/>
            </a:solidFill>
            <a:prstDash val="solid"/>
          </a:ln>
        </p:spPr>
      </p:sp>
      <p:sp>
        <p:nvSpPr>
          <p:cNvPr id="9" name="Text 7"/>
          <p:cNvSpPr/>
          <p:nvPr/>
        </p:nvSpPr>
        <p:spPr>
          <a:xfrm>
            <a:off x="146304" y="1143000"/>
            <a:ext cx="2578608" cy="201168"/>
          </a:xfrm>
          <a:prstGeom prst="rect">
            <a:avLst/>
          </a:prstGeom>
          <a:noFill/>
          <a:ln/>
        </p:spPr>
        <p:txBody>
          <a:bodyPr wrap="square" rtlCol="0" anchor="ctr"/>
          <a:lstStyle/>
          <a:p>
            <a:pPr indent="0" marL="0">
              <a:buNone/>
            </a:pPr>
            <a:r>
              <a:rPr lang="en-US" sz="950" b="1" dirty="0">
                <a:solidFill>
                  <a:srgbClr val="1E2761"/>
                </a:solidFill>
                <a:latin typeface="Calibri" pitchFamily="34" charset="0"/>
                <a:ea typeface="Calibri" pitchFamily="34" charset="-122"/>
                <a:cs typeface="Calibri" pitchFamily="34" charset="-120"/>
              </a:rPr>
              <a:t>Alshabibi et al., 2024</a:t>
            </a:r>
            <a:endParaRPr lang="en-US" sz="950" dirty="0"/>
          </a:p>
        </p:txBody>
      </p:sp>
      <p:sp>
        <p:nvSpPr>
          <p:cNvPr id="10" name="Text 8"/>
          <p:cNvSpPr/>
          <p:nvPr/>
        </p:nvSpPr>
        <p:spPr>
          <a:xfrm>
            <a:off x="2871216" y="1152144"/>
            <a:ext cx="3035808" cy="384048"/>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42% technical, 30% resource, 28% legal barriers; ML &amp; blockchain as solutions</a:t>
            </a:r>
            <a:endParaRPr lang="en-US" sz="900" dirty="0"/>
          </a:p>
        </p:txBody>
      </p:sp>
      <p:sp>
        <p:nvSpPr>
          <p:cNvPr id="11" name="Text 9"/>
          <p:cNvSpPr/>
          <p:nvPr/>
        </p:nvSpPr>
        <p:spPr>
          <a:xfrm>
            <a:off x="6071616" y="1152144"/>
            <a:ext cx="2898648" cy="384048"/>
          </a:xfrm>
          <a:prstGeom prst="rect">
            <a:avLst/>
          </a:prstGeom>
          <a:noFill/>
          <a:ln/>
        </p:spPr>
        <p:txBody>
          <a:bodyPr wrap="square" rtlCol="0" anchor="ctr"/>
          <a:lstStyle/>
          <a:p>
            <a:pPr indent="0" marL="0">
              <a:buNone/>
            </a:pPr>
            <a:r>
              <a:rPr lang="en-US" sz="900" b="1" dirty="0">
                <a:solidFill>
                  <a:srgbClr val="028090"/>
                </a:solidFill>
                <a:latin typeface="Calibri" pitchFamily="34" charset="0"/>
                <a:ea typeface="Calibri" pitchFamily="34" charset="-122"/>
                <a:cs typeface="Calibri" pitchFamily="34" charset="-120"/>
              </a:rPr>
              <a:t>Direct methodology model</a:t>
            </a:r>
            <a:endParaRPr lang="en-US" sz="900" dirty="0"/>
          </a:p>
        </p:txBody>
      </p:sp>
      <p:sp>
        <p:nvSpPr>
          <p:cNvPr id="12" name="Shape 10"/>
          <p:cNvSpPr/>
          <p:nvPr/>
        </p:nvSpPr>
        <p:spPr>
          <a:xfrm>
            <a:off x="109728" y="1609344"/>
            <a:ext cx="8915400" cy="475488"/>
          </a:xfrm>
          <a:prstGeom prst="rect">
            <a:avLst/>
          </a:prstGeom>
          <a:solidFill>
            <a:srgbClr val="F4F7FB"/>
          </a:solidFill>
          <a:ln w="12700">
            <a:solidFill>
              <a:srgbClr val="E5E7EB"/>
            </a:solidFill>
            <a:prstDash val="solid"/>
          </a:ln>
        </p:spPr>
      </p:sp>
      <p:sp>
        <p:nvSpPr>
          <p:cNvPr id="13" name="Text 11"/>
          <p:cNvSpPr/>
          <p:nvPr/>
        </p:nvSpPr>
        <p:spPr>
          <a:xfrm>
            <a:off x="146304" y="1636776"/>
            <a:ext cx="2578608" cy="201168"/>
          </a:xfrm>
          <a:prstGeom prst="rect">
            <a:avLst/>
          </a:prstGeom>
          <a:noFill/>
          <a:ln/>
        </p:spPr>
        <p:txBody>
          <a:bodyPr wrap="square" rtlCol="0" anchor="ctr"/>
          <a:lstStyle/>
          <a:p>
            <a:pPr indent="0" marL="0">
              <a:buNone/>
            </a:pPr>
            <a:r>
              <a:rPr lang="en-US" sz="950" b="1" dirty="0">
                <a:solidFill>
                  <a:srgbClr val="1E2761"/>
                </a:solidFill>
                <a:latin typeface="Calibri" pitchFamily="34" charset="0"/>
                <a:ea typeface="Calibri" pitchFamily="34" charset="-122"/>
                <a:cs typeface="Calibri" pitchFamily="34" charset="-120"/>
              </a:rPr>
              <a:t>Bai &amp; Sudha, 2023</a:t>
            </a:r>
            <a:endParaRPr lang="en-US" sz="950" dirty="0"/>
          </a:p>
        </p:txBody>
      </p:sp>
      <p:sp>
        <p:nvSpPr>
          <p:cNvPr id="14" name="Text 12"/>
          <p:cNvSpPr/>
          <p:nvPr/>
        </p:nvSpPr>
        <p:spPr>
          <a:xfrm>
            <a:off x="2871216" y="1645920"/>
            <a:ext cx="3035808" cy="384048"/>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Evidence collection is the #1 bottleneck; 15+ frameworks catalogued</a:t>
            </a:r>
            <a:endParaRPr lang="en-US" sz="900" dirty="0"/>
          </a:p>
        </p:txBody>
      </p:sp>
      <p:sp>
        <p:nvSpPr>
          <p:cNvPr id="15" name="Text 13"/>
          <p:cNvSpPr/>
          <p:nvPr/>
        </p:nvSpPr>
        <p:spPr>
          <a:xfrm>
            <a:off x="6071616" y="1645920"/>
            <a:ext cx="2898648" cy="384048"/>
          </a:xfrm>
          <a:prstGeom prst="rect">
            <a:avLst/>
          </a:prstGeom>
          <a:noFill/>
          <a:ln/>
        </p:spPr>
        <p:txBody>
          <a:bodyPr wrap="square" rtlCol="0" anchor="ctr"/>
          <a:lstStyle/>
          <a:p>
            <a:pPr indent="0" marL="0">
              <a:buNone/>
            </a:pPr>
            <a:r>
              <a:rPr lang="en-US" sz="900" b="1" dirty="0">
                <a:solidFill>
                  <a:srgbClr val="028090"/>
                </a:solidFill>
                <a:latin typeface="Calibri" pitchFamily="34" charset="0"/>
                <a:ea typeface="Calibri" pitchFamily="34" charset="-122"/>
                <a:cs typeface="Calibri" pitchFamily="34" charset="-120"/>
              </a:rPr>
              <a:t>Framework taxonomy reference</a:t>
            </a:r>
            <a:endParaRPr lang="en-US" sz="900" dirty="0"/>
          </a:p>
        </p:txBody>
      </p:sp>
      <p:sp>
        <p:nvSpPr>
          <p:cNvPr id="16" name="Shape 14"/>
          <p:cNvSpPr/>
          <p:nvPr/>
        </p:nvSpPr>
        <p:spPr>
          <a:xfrm>
            <a:off x="109728" y="2103120"/>
            <a:ext cx="8915400" cy="475488"/>
          </a:xfrm>
          <a:prstGeom prst="rect">
            <a:avLst/>
          </a:prstGeom>
          <a:solidFill>
            <a:srgbClr val="FFFFFF"/>
          </a:solidFill>
          <a:ln w="12700">
            <a:solidFill>
              <a:srgbClr val="E5E7EB"/>
            </a:solidFill>
            <a:prstDash val="solid"/>
          </a:ln>
        </p:spPr>
      </p:sp>
      <p:sp>
        <p:nvSpPr>
          <p:cNvPr id="17" name="Text 15"/>
          <p:cNvSpPr/>
          <p:nvPr/>
        </p:nvSpPr>
        <p:spPr>
          <a:xfrm>
            <a:off x="146304" y="2130552"/>
            <a:ext cx="2578608" cy="201168"/>
          </a:xfrm>
          <a:prstGeom prst="rect">
            <a:avLst/>
          </a:prstGeom>
          <a:noFill/>
          <a:ln/>
        </p:spPr>
        <p:txBody>
          <a:bodyPr wrap="square" rtlCol="0" anchor="ctr"/>
          <a:lstStyle/>
          <a:p>
            <a:pPr indent="0" marL="0">
              <a:buNone/>
            </a:pPr>
            <a:r>
              <a:rPr lang="en-US" sz="950" b="1" dirty="0">
                <a:solidFill>
                  <a:srgbClr val="1E2761"/>
                </a:solidFill>
                <a:latin typeface="Calibri" pitchFamily="34" charset="0"/>
                <a:ea typeface="Calibri" pitchFamily="34" charset="-122"/>
                <a:cs typeface="Calibri" pitchFamily="34" charset="-120"/>
              </a:rPr>
              <a:t>Ekwempu, 2026</a:t>
            </a:r>
            <a:endParaRPr lang="en-US" sz="950" dirty="0"/>
          </a:p>
        </p:txBody>
      </p:sp>
      <p:sp>
        <p:nvSpPr>
          <p:cNvPr id="18" name="Text 16"/>
          <p:cNvSpPr/>
          <p:nvPr/>
        </p:nvSpPr>
        <p:spPr>
          <a:xfrm>
            <a:off x="2871216" y="2139696"/>
            <a:ext cx="3035808" cy="384048"/>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Jurisdictional overlap &amp; missing MLATs block evidence acquisition globally</a:t>
            </a:r>
            <a:endParaRPr lang="en-US" sz="900" dirty="0"/>
          </a:p>
        </p:txBody>
      </p:sp>
      <p:sp>
        <p:nvSpPr>
          <p:cNvPr id="19" name="Text 17"/>
          <p:cNvSpPr/>
          <p:nvPr/>
        </p:nvSpPr>
        <p:spPr>
          <a:xfrm>
            <a:off x="6071616" y="2139696"/>
            <a:ext cx="2898648" cy="384048"/>
          </a:xfrm>
          <a:prstGeom prst="rect">
            <a:avLst/>
          </a:prstGeom>
          <a:noFill/>
          <a:ln/>
        </p:spPr>
        <p:txBody>
          <a:bodyPr wrap="square" rtlCol="0" anchor="ctr"/>
          <a:lstStyle/>
          <a:p>
            <a:pPr indent="0" marL="0">
              <a:buNone/>
            </a:pPr>
            <a:r>
              <a:rPr lang="en-US" sz="900" b="1" dirty="0">
                <a:solidFill>
                  <a:srgbClr val="028090"/>
                </a:solidFill>
                <a:latin typeface="Calibri" pitchFamily="34" charset="0"/>
                <a:ea typeface="Calibri" pitchFamily="34" charset="-122"/>
                <a:cs typeface="Calibri" pitchFamily="34" charset="-120"/>
              </a:rPr>
              <a:t>Bangladesh MLAT gap</a:t>
            </a:r>
            <a:endParaRPr lang="en-US" sz="900" dirty="0"/>
          </a:p>
        </p:txBody>
      </p:sp>
      <p:sp>
        <p:nvSpPr>
          <p:cNvPr id="20" name="Shape 18"/>
          <p:cNvSpPr/>
          <p:nvPr/>
        </p:nvSpPr>
        <p:spPr>
          <a:xfrm>
            <a:off x="109728" y="2596896"/>
            <a:ext cx="8915400" cy="475488"/>
          </a:xfrm>
          <a:prstGeom prst="rect">
            <a:avLst/>
          </a:prstGeom>
          <a:solidFill>
            <a:srgbClr val="F4F7FB"/>
          </a:solidFill>
          <a:ln w="12700">
            <a:solidFill>
              <a:srgbClr val="E5E7EB"/>
            </a:solidFill>
            <a:prstDash val="solid"/>
          </a:ln>
        </p:spPr>
      </p:sp>
      <p:sp>
        <p:nvSpPr>
          <p:cNvPr id="21" name="Text 19"/>
          <p:cNvSpPr/>
          <p:nvPr/>
        </p:nvSpPr>
        <p:spPr>
          <a:xfrm>
            <a:off x="146304" y="2624328"/>
            <a:ext cx="2578608" cy="201168"/>
          </a:xfrm>
          <a:prstGeom prst="rect">
            <a:avLst/>
          </a:prstGeom>
          <a:noFill/>
          <a:ln/>
        </p:spPr>
        <p:txBody>
          <a:bodyPr wrap="square" rtlCol="0" anchor="ctr"/>
          <a:lstStyle/>
          <a:p>
            <a:pPr indent="0" marL="0">
              <a:buNone/>
            </a:pPr>
            <a:r>
              <a:rPr lang="en-US" sz="950" b="1" dirty="0">
                <a:solidFill>
                  <a:srgbClr val="1E2761"/>
                </a:solidFill>
                <a:latin typeface="Calibri" pitchFamily="34" charset="0"/>
                <a:ea typeface="Calibri" pitchFamily="34" charset="-122"/>
                <a:cs typeface="Calibri" pitchFamily="34" charset="-120"/>
              </a:rPr>
              <a:t>Ibrahim et al., 2026</a:t>
            </a:r>
            <a:endParaRPr lang="en-US" sz="950" dirty="0"/>
          </a:p>
        </p:txBody>
      </p:sp>
      <p:sp>
        <p:nvSpPr>
          <p:cNvPr id="22" name="Text 20"/>
          <p:cNvSpPr/>
          <p:nvPr/>
        </p:nvSpPr>
        <p:spPr>
          <a:xfrm>
            <a:off x="2871216" y="2633472"/>
            <a:ext cx="3035808" cy="384048"/>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54.9% coverage gap; −75% multi-tenancy, −77% cloud-native</a:t>
            </a:r>
            <a:endParaRPr lang="en-US" sz="900" dirty="0"/>
          </a:p>
        </p:txBody>
      </p:sp>
      <p:sp>
        <p:nvSpPr>
          <p:cNvPr id="23" name="Text 21"/>
          <p:cNvSpPr/>
          <p:nvPr/>
        </p:nvSpPr>
        <p:spPr>
          <a:xfrm>
            <a:off x="6071616" y="2633472"/>
            <a:ext cx="2898648" cy="384048"/>
          </a:xfrm>
          <a:prstGeom prst="rect">
            <a:avLst/>
          </a:prstGeom>
          <a:noFill/>
          <a:ln/>
        </p:spPr>
        <p:txBody>
          <a:bodyPr wrap="square" rtlCol="0" anchor="ctr"/>
          <a:lstStyle/>
          <a:p>
            <a:pPr indent="0" marL="0">
              <a:buNone/>
            </a:pPr>
            <a:r>
              <a:rPr lang="en-US" sz="900" b="1" dirty="0">
                <a:solidFill>
                  <a:srgbClr val="028090"/>
                </a:solidFill>
                <a:latin typeface="Calibri" pitchFamily="34" charset="0"/>
                <a:ea typeface="Calibri" pitchFamily="34" charset="-122"/>
                <a:cs typeface="Calibri" pitchFamily="34" charset="-120"/>
              </a:rPr>
              <a:t>Framework gap in BD context</a:t>
            </a:r>
            <a:endParaRPr lang="en-US" sz="900" dirty="0"/>
          </a:p>
        </p:txBody>
      </p:sp>
      <p:sp>
        <p:nvSpPr>
          <p:cNvPr id="24" name="Shape 22"/>
          <p:cNvSpPr/>
          <p:nvPr/>
        </p:nvSpPr>
        <p:spPr>
          <a:xfrm>
            <a:off x="109728" y="3090672"/>
            <a:ext cx="8915400" cy="475488"/>
          </a:xfrm>
          <a:prstGeom prst="rect">
            <a:avLst/>
          </a:prstGeom>
          <a:solidFill>
            <a:srgbClr val="FFFFFF"/>
          </a:solidFill>
          <a:ln w="12700">
            <a:solidFill>
              <a:srgbClr val="E5E7EB"/>
            </a:solidFill>
            <a:prstDash val="solid"/>
          </a:ln>
        </p:spPr>
      </p:sp>
      <p:sp>
        <p:nvSpPr>
          <p:cNvPr id="25" name="Text 23"/>
          <p:cNvSpPr/>
          <p:nvPr/>
        </p:nvSpPr>
        <p:spPr>
          <a:xfrm>
            <a:off x="146304" y="3118104"/>
            <a:ext cx="2578608" cy="201168"/>
          </a:xfrm>
          <a:prstGeom prst="rect">
            <a:avLst/>
          </a:prstGeom>
          <a:noFill/>
          <a:ln/>
        </p:spPr>
        <p:txBody>
          <a:bodyPr wrap="square" rtlCol="0" anchor="ctr"/>
          <a:lstStyle/>
          <a:p>
            <a:pPr indent="0" marL="0">
              <a:buNone/>
            </a:pPr>
            <a:r>
              <a:rPr lang="en-US" sz="950" b="1" dirty="0">
                <a:solidFill>
                  <a:srgbClr val="1E2761"/>
                </a:solidFill>
                <a:latin typeface="Calibri" pitchFamily="34" charset="0"/>
                <a:ea typeface="Calibri" pitchFamily="34" charset="-122"/>
                <a:cs typeface="Calibri" pitchFamily="34" charset="-120"/>
              </a:rPr>
              <a:t>Hossain &amp; Mallika, 2025</a:t>
            </a:r>
            <a:endParaRPr lang="en-US" sz="950" dirty="0"/>
          </a:p>
        </p:txBody>
      </p:sp>
      <p:sp>
        <p:nvSpPr>
          <p:cNvPr id="26" name="Text 24"/>
          <p:cNvSpPr/>
          <p:nvPr/>
        </p:nvSpPr>
        <p:spPr>
          <a:xfrm>
            <a:off x="2871216" y="3127248"/>
            <a:ext cx="3035808" cy="384048"/>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Cybercrime cases ×4 since 2018; CSA 2023 criticized for recreating DSA flaws</a:t>
            </a:r>
            <a:endParaRPr lang="en-US" sz="900" dirty="0"/>
          </a:p>
        </p:txBody>
      </p:sp>
      <p:sp>
        <p:nvSpPr>
          <p:cNvPr id="27" name="Text 25"/>
          <p:cNvSpPr/>
          <p:nvPr/>
        </p:nvSpPr>
        <p:spPr>
          <a:xfrm>
            <a:off x="6071616" y="3127248"/>
            <a:ext cx="2898648" cy="384048"/>
          </a:xfrm>
          <a:prstGeom prst="rect">
            <a:avLst/>
          </a:prstGeom>
          <a:noFill/>
          <a:ln/>
        </p:spPr>
        <p:txBody>
          <a:bodyPr wrap="square" rtlCol="0" anchor="ctr"/>
          <a:lstStyle/>
          <a:p>
            <a:pPr indent="0" marL="0">
              <a:buNone/>
            </a:pPr>
            <a:r>
              <a:rPr lang="en-US" sz="900" b="1" dirty="0">
                <a:solidFill>
                  <a:srgbClr val="028090"/>
                </a:solidFill>
                <a:latin typeface="Calibri" pitchFamily="34" charset="0"/>
                <a:ea typeface="Calibri" pitchFamily="34" charset="-122"/>
                <a:cs typeface="Calibri" pitchFamily="34" charset="-120"/>
              </a:rPr>
              <a:t>Core BD legal baseline</a:t>
            </a:r>
            <a:endParaRPr lang="en-US" sz="900" dirty="0"/>
          </a:p>
        </p:txBody>
      </p:sp>
      <p:sp>
        <p:nvSpPr>
          <p:cNvPr id="28" name="Shape 26"/>
          <p:cNvSpPr/>
          <p:nvPr/>
        </p:nvSpPr>
        <p:spPr>
          <a:xfrm>
            <a:off x="109728" y="3584448"/>
            <a:ext cx="8915400" cy="475488"/>
          </a:xfrm>
          <a:prstGeom prst="rect">
            <a:avLst/>
          </a:prstGeom>
          <a:solidFill>
            <a:srgbClr val="F4F7FB"/>
          </a:solidFill>
          <a:ln w="12700">
            <a:solidFill>
              <a:srgbClr val="E5E7EB"/>
            </a:solidFill>
            <a:prstDash val="solid"/>
          </a:ln>
        </p:spPr>
      </p:sp>
      <p:sp>
        <p:nvSpPr>
          <p:cNvPr id="29" name="Text 27"/>
          <p:cNvSpPr/>
          <p:nvPr/>
        </p:nvSpPr>
        <p:spPr>
          <a:xfrm>
            <a:off x="146304" y="3611880"/>
            <a:ext cx="2578608" cy="201168"/>
          </a:xfrm>
          <a:prstGeom prst="rect">
            <a:avLst/>
          </a:prstGeom>
          <a:noFill/>
          <a:ln/>
        </p:spPr>
        <p:txBody>
          <a:bodyPr wrap="square" rtlCol="0" anchor="ctr"/>
          <a:lstStyle/>
          <a:p>
            <a:pPr indent="0" marL="0">
              <a:buNone/>
            </a:pPr>
            <a:r>
              <a:rPr lang="en-US" sz="950" b="1" dirty="0">
                <a:solidFill>
                  <a:srgbClr val="1E2761"/>
                </a:solidFill>
                <a:latin typeface="Calibri" pitchFamily="34" charset="0"/>
                <a:ea typeface="Calibri" pitchFamily="34" charset="-122"/>
                <a:cs typeface="Calibri" pitchFamily="34" charset="-120"/>
              </a:rPr>
              <a:t>Momtaz, 2024</a:t>
            </a:r>
            <a:endParaRPr lang="en-US" sz="950" dirty="0"/>
          </a:p>
        </p:txBody>
      </p:sp>
      <p:sp>
        <p:nvSpPr>
          <p:cNvPr id="30" name="Text 28"/>
          <p:cNvSpPr/>
          <p:nvPr/>
        </p:nvSpPr>
        <p:spPr>
          <a:xfrm>
            <a:off x="2871216" y="3621024"/>
            <a:ext cx="3035808" cy="384048"/>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ICT Act lacks technological expertise requirements for judges; no cloud provisions</a:t>
            </a:r>
            <a:endParaRPr lang="en-US" sz="900" dirty="0"/>
          </a:p>
        </p:txBody>
      </p:sp>
      <p:sp>
        <p:nvSpPr>
          <p:cNvPr id="31" name="Text 29"/>
          <p:cNvSpPr/>
          <p:nvPr/>
        </p:nvSpPr>
        <p:spPr>
          <a:xfrm>
            <a:off x="6071616" y="3621024"/>
            <a:ext cx="2898648" cy="384048"/>
          </a:xfrm>
          <a:prstGeom prst="rect">
            <a:avLst/>
          </a:prstGeom>
          <a:noFill/>
          <a:ln/>
        </p:spPr>
        <p:txBody>
          <a:bodyPr wrap="square" rtlCol="0" anchor="ctr"/>
          <a:lstStyle/>
          <a:p>
            <a:pPr indent="0" marL="0">
              <a:buNone/>
            </a:pPr>
            <a:r>
              <a:rPr lang="en-US" sz="900" b="1" dirty="0">
                <a:solidFill>
                  <a:srgbClr val="028090"/>
                </a:solidFill>
                <a:latin typeface="Calibri" pitchFamily="34" charset="0"/>
                <a:ea typeface="Calibri" pitchFamily="34" charset="-122"/>
                <a:cs typeface="Calibri" pitchFamily="34" charset="-120"/>
              </a:rPr>
              <a:t>Legal gap analysis</a:t>
            </a:r>
            <a:endParaRPr lang="en-US" sz="900" dirty="0"/>
          </a:p>
        </p:txBody>
      </p:sp>
      <p:sp>
        <p:nvSpPr>
          <p:cNvPr id="32" name="Shape 30"/>
          <p:cNvSpPr/>
          <p:nvPr/>
        </p:nvSpPr>
        <p:spPr>
          <a:xfrm>
            <a:off x="109728" y="4078224"/>
            <a:ext cx="8915400" cy="475488"/>
          </a:xfrm>
          <a:prstGeom prst="rect">
            <a:avLst/>
          </a:prstGeom>
          <a:solidFill>
            <a:srgbClr val="FFFFFF"/>
          </a:solidFill>
          <a:ln w="12700">
            <a:solidFill>
              <a:srgbClr val="E5E7EB"/>
            </a:solidFill>
            <a:prstDash val="solid"/>
          </a:ln>
        </p:spPr>
      </p:sp>
      <p:sp>
        <p:nvSpPr>
          <p:cNvPr id="33" name="Text 31"/>
          <p:cNvSpPr/>
          <p:nvPr/>
        </p:nvSpPr>
        <p:spPr>
          <a:xfrm>
            <a:off x="146304" y="4105656"/>
            <a:ext cx="2578608" cy="201168"/>
          </a:xfrm>
          <a:prstGeom prst="rect">
            <a:avLst/>
          </a:prstGeom>
          <a:noFill/>
          <a:ln/>
        </p:spPr>
        <p:txBody>
          <a:bodyPr wrap="square" rtlCol="0" anchor="ctr"/>
          <a:lstStyle/>
          <a:p>
            <a:pPr indent="0" marL="0">
              <a:buNone/>
            </a:pPr>
            <a:r>
              <a:rPr lang="en-US" sz="950" b="1" dirty="0">
                <a:solidFill>
                  <a:srgbClr val="1E2761"/>
                </a:solidFill>
                <a:latin typeface="Calibri" pitchFamily="34" charset="0"/>
                <a:ea typeface="Calibri" pitchFamily="34" charset="-122"/>
                <a:cs typeface="Calibri" pitchFamily="34" charset="-120"/>
              </a:rPr>
              <a:t>Uzzal, 2025</a:t>
            </a:r>
            <a:endParaRPr lang="en-US" sz="950" dirty="0"/>
          </a:p>
        </p:txBody>
      </p:sp>
      <p:sp>
        <p:nvSpPr>
          <p:cNvPr id="34" name="Text 32"/>
          <p:cNvSpPr/>
          <p:nvPr/>
        </p:nvSpPr>
        <p:spPr>
          <a:xfrm>
            <a:off x="2871216" y="4114800"/>
            <a:ext cx="3035808" cy="384048"/>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CID forensic labs have capacity deficits; Evidence Act 2022 insufficiently updated</a:t>
            </a:r>
            <a:endParaRPr lang="en-US" sz="900" dirty="0"/>
          </a:p>
        </p:txBody>
      </p:sp>
      <p:sp>
        <p:nvSpPr>
          <p:cNvPr id="35" name="Text 33"/>
          <p:cNvSpPr/>
          <p:nvPr/>
        </p:nvSpPr>
        <p:spPr>
          <a:xfrm>
            <a:off x="6071616" y="4114800"/>
            <a:ext cx="2898648" cy="384048"/>
          </a:xfrm>
          <a:prstGeom prst="rect">
            <a:avLst/>
          </a:prstGeom>
          <a:noFill/>
          <a:ln/>
        </p:spPr>
        <p:txBody>
          <a:bodyPr wrap="square" rtlCol="0" anchor="ctr"/>
          <a:lstStyle/>
          <a:p>
            <a:pPr indent="0" marL="0">
              <a:buNone/>
            </a:pPr>
            <a:r>
              <a:rPr lang="en-US" sz="900" b="1" dirty="0">
                <a:solidFill>
                  <a:srgbClr val="028090"/>
                </a:solidFill>
                <a:latin typeface="Calibri" pitchFamily="34" charset="0"/>
                <a:ea typeface="Calibri" pitchFamily="34" charset="-122"/>
                <a:cs typeface="Calibri" pitchFamily="34" charset="-120"/>
              </a:rPr>
              <a:t>Institutional readiness</a:t>
            </a:r>
            <a:endParaRPr lang="en-US" sz="900" dirty="0"/>
          </a:p>
        </p:txBody>
      </p:sp>
      <p:sp>
        <p:nvSpPr>
          <p:cNvPr id="36" name="Shape 34"/>
          <p:cNvSpPr/>
          <p:nvPr/>
        </p:nvSpPr>
        <p:spPr>
          <a:xfrm>
            <a:off x="109728" y="4572000"/>
            <a:ext cx="8915400" cy="475488"/>
          </a:xfrm>
          <a:prstGeom prst="rect">
            <a:avLst/>
          </a:prstGeom>
          <a:solidFill>
            <a:srgbClr val="F4F7FB"/>
          </a:solidFill>
          <a:ln w="12700">
            <a:solidFill>
              <a:srgbClr val="E5E7EB"/>
            </a:solidFill>
            <a:prstDash val="solid"/>
          </a:ln>
        </p:spPr>
      </p:sp>
      <p:sp>
        <p:nvSpPr>
          <p:cNvPr id="37" name="Text 35"/>
          <p:cNvSpPr/>
          <p:nvPr/>
        </p:nvSpPr>
        <p:spPr>
          <a:xfrm>
            <a:off x="146304" y="4599432"/>
            <a:ext cx="2578608" cy="201168"/>
          </a:xfrm>
          <a:prstGeom prst="rect">
            <a:avLst/>
          </a:prstGeom>
          <a:noFill/>
          <a:ln/>
        </p:spPr>
        <p:txBody>
          <a:bodyPr wrap="square" rtlCol="0" anchor="ctr"/>
          <a:lstStyle/>
          <a:p>
            <a:pPr indent="0" marL="0">
              <a:buNone/>
            </a:pPr>
            <a:r>
              <a:rPr lang="en-US" sz="950" b="1" dirty="0">
                <a:solidFill>
                  <a:srgbClr val="1E2761"/>
                </a:solidFill>
                <a:latin typeface="Calibri" pitchFamily="34" charset="0"/>
                <a:ea typeface="Calibri" pitchFamily="34" charset="-122"/>
                <a:cs typeface="Calibri" pitchFamily="34" charset="-120"/>
              </a:rPr>
              <a:t>Hasan, 2021</a:t>
            </a:r>
            <a:endParaRPr lang="en-US" sz="950" dirty="0"/>
          </a:p>
        </p:txBody>
      </p:sp>
      <p:sp>
        <p:nvSpPr>
          <p:cNvPr id="38" name="Text 36"/>
          <p:cNvSpPr/>
          <p:nvPr/>
        </p:nvSpPr>
        <p:spPr>
          <a:xfrm>
            <a:off x="2871216" y="4608576"/>
            <a:ext cx="3035808" cy="384048"/>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Low conviction rates due to evidence collection failures; no CERT, no cyber police</a:t>
            </a:r>
            <a:endParaRPr lang="en-US" sz="900" dirty="0"/>
          </a:p>
        </p:txBody>
      </p:sp>
      <p:sp>
        <p:nvSpPr>
          <p:cNvPr id="39" name="Text 37"/>
          <p:cNvSpPr/>
          <p:nvPr/>
        </p:nvSpPr>
        <p:spPr>
          <a:xfrm>
            <a:off x="6071616" y="4608576"/>
            <a:ext cx="2898648" cy="384048"/>
          </a:xfrm>
          <a:prstGeom prst="rect">
            <a:avLst/>
          </a:prstGeom>
          <a:noFill/>
          <a:ln/>
        </p:spPr>
        <p:txBody>
          <a:bodyPr wrap="square" rtlCol="0" anchor="ctr"/>
          <a:lstStyle/>
          <a:p>
            <a:pPr indent="0" marL="0">
              <a:buNone/>
            </a:pPr>
            <a:r>
              <a:rPr lang="en-US" sz="900" b="1" dirty="0">
                <a:solidFill>
                  <a:srgbClr val="028090"/>
                </a:solidFill>
                <a:latin typeface="Calibri" pitchFamily="34" charset="0"/>
                <a:ea typeface="Calibri" pitchFamily="34" charset="-122"/>
                <a:cs typeface="Calibri" pitchFamily="34" charset="-120"/>
              </a:rPr>
              <a:t>Prosecution challenges</a:t>
            </a:r>
            <a:endParaRPr lang="en-US" sz="900" dirty="0"/>
          </a:p>
        </p:txBody>
      </p:sp>
      <p:sp>
        <p:nvSpPr>
          <p:cNvPr id="40" name="Shape 38"/>
          <p:cNvSpPr/>
          <p:nvPr/>
        </p:nvSpPr>
        <p:spPr>
          <a:xfrm>
            <a:off x="0" y="5074920"/>
            <a:ext cx="9144000" cy="64008"/>
          </a:xfrm>
          <a:prstGeom prst="rect">
            <a:avLst/>
          </a:prstGeom>
          <a:solidFill>
            <a:srgbClr val="1E2761"/>
          </a:solidFill>
          <a:ln w="12700">
            <a:solidFill>
              <a:srgbClr val="1E2761"/>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28090"/>
          </a:solidFill>
          <a:ln w="12700">
            <a:solidFill>
              <a:srgbClr val="028090"/>
            </a:solidFill>
            <a:prstDash val="solid"/>
          </a:ln>
        </p:spPr>
      </p:sp>
      <p:sp>
        <p:nvSpPr>
          <p:cNvPr id="3" name="Text 1"/>
          <p:cNvSpPr/>
          <p:nvPr/>
        </p:nvSpPr>
        <p:spPr>
          <a:xfrm>
            <a:off x="365760" y="137160"/>
            <a:ext cx="8412480" cy="50292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Cloud Forensics Challenge Taxonomy</a:t>
            </a:r>
            <a:endParaRPr lang="en-US" sz="2600" dirty="0"/>
          </a:p>
        </p:txBody>
      </p:sp>
      <p:sp>
        <p:nvSpPr>
          <p:cNvPr id="4" name="Shape 2"/>
          <p:cNvSpPr/>
          <p:nvPr/>
        </p:nvSpPr>
        <p:spPr>
          <a:xfrm>
            <a:off x="274320" y="804672"/>
            <a:ext cx="2834640" cy="4160520"/>
          </a:xfrm>
          <a:prstGeom prst="rect">
            <a:avLst/>
          </a:prstGeom>
          <a:solidFill>
            <a:srgbClr val="EEF2FF"/>
          </a:solidFill>
          <a:ln w="12700">
            <a:solidFill>
              <a:srgbClr val="1E2761"/>
            </a:solidFill>
            <a:prstDash val="solid"/>
          </a:ln>
        </p:spPr>
      </p:sp>
      <p:sp>
        <p:nvSpPr>
          <p:cNvPr id="5" name="Text 3"/>
          <p:cNvSpPr/>
          <p:nvPr/>
        </p:nvSpPr>
        <p:spPr>
          <a:xfrm>
            <a:off x="274320" y="868680"/>
            <a:ext cx="2834640" cy="36576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6" name="Text 4"/>
          <p:cNvSpPr/>
          <p:nvPr/>
        </p:nvSpPr>
        <p:spPr>
          <a:xfrm>
            <a:off x="274320" y="1234440"/>
            <a:ext cx="2834640" cy="502920"/>
          </a:xfrm>
          <a:prstGeom prst="rect">
            <a:avLst/>
          </a:prstGeom>
          <a:noFill/>
          <a:ln/>
        </p:spPr>
        <p:txBody>
          <a:bodyPr wrap="square" rtlCol="0" anchor="ctr"/>
          <a:lstStyle/>
          <a:p>
            <a:pPr algn="ctr" indent="0" marL="0">
              <a:buNone/>
            </a:pPr>
            <a:r>
              <a:rPr lang="en-US" sz="3000" b="1" dirty="0">
                <a:solidFill>
                  <a:srgbClr val="1E2761"/>
                </a:solidFill>
                <a:latin typeface="Cambria" pitchFamily="34" charset="0"/>
                <a:ea typeface="Cambria" pitchFamily="34" charset="-122"/>
                <a:cs typeface="Cambria" pitchFamily="34" charset="-120"/>
              </a:rPr>
              <a:t>42%</a:t>
            </a:r>
            <a:endParaRPr lang="en-US" sz="3000" dirty="0"/>
          </a:p>
        </p:txBody>
      </p:sp>
      <p:sp>
        <p:nvSpPr>
          <p:cNvPr id="7" name="Text 5"/>
          <p:cNvSpPr/>
          <p:nvPr/>
        </p:nvSpPr>
        <p:spPr>
          <a:xfrm>
            <a:off x="274320" y="1719072"/>
            <a:ext cx="2834640" cy="320040"/>
          </a:xfrm>
          <a:prstGeom prst="rect">
            <a:avLst/>
          </a:prstGeom>
          <a:noFill/>
          <a:ln/>
        </p:spPr>
        <p:txBody>
          <a:bodyPr wrap="square" rtlCol="0" anchor="ctr"/>
          <a:lstStyle/>
          <a:p>
            <a:pPr algn="ctr" indent="0" marL="0">
              <a:buNone/>
            </a:pPr>
            <a:r>
              <a:rPr lang="en-US" sz="1200" b="1" dirty="0">
                <a:solidFill>
                  <a:srgbClr val="1E2761"/>
                </a:solidFill>
                <a:latin typeface="Cambria" pitchFamily="34" charset="0"/>
                <a:ea typeface="Cambria" pitchFamily="34" charset="-122"/>
                <a:cs typeface="Cambria" pitchFamily="34" charset="-120"/>
              </a:rPr>
              <a:t>Technical Challenges</a:t>
            </a:r>
            <a:endParaRPr lang="en-US" sz="1200" dirty="0"/>
          </a:p>
        </p:txBody>
      </p:sp>
      <p:sp>
        <p:nvSpPr>
          <p:cNvPr id="8" name="Shape 6"/>
          <p:cNvSpPr/>
          <p:nvPr/>
        </p:nvSpPr>
        <p:spPr>
          <a:xfrm>
            <a:off x="411480" y="2084832"/>
            <a:ext cx="2560320" cy="18288"/>
          </a:xfrm>
          <a:prstGeom prst="rect">
            <a:avLst/>
          </a:prstGeom>
          <a:solidFill>
            <a:srgbClr val="D1D5DB"/>
          </a:solidFill>
          <a:ln w="12700">
            <a:solidFill>
              <a:srgbClr val="D1D5DB"/>
            </a:solidFill>
            <a:prstDash val="solid"/>
          </a:ln>
        </p:spPr>
      </p:sp>
      <p:sp>
        <p:nvSpPr>
          <p:cNvPr id="9" name="Text 7"/>
          <p:cNvSpPr/>
          <p:nvPr/>
        </p:nvSpPr>
        <p:spPr>
          <a:xfrm>
            <a:off x="384048" y="2148840"/>
            <a:ext cx="2633472" cy="384048"/>
          </a:xfrm>
          <a:prstGeom prst="rect">
            <a:avLst/>
          </a:prstGeom>
          <a:noFill/>
          <a:ln/>
        </p:spPr>
        <p:txBody>
          <a:bodyPr wrap="square" rtlCol="0" anchor="ctr"/>
          <a:lstStyle/>
          <a:p>
            <a:pPr indent="0" marL="0">
              <a:buNone/>
            </a:pPr>
            <a:r>
              <a:rPr lang="en-US" sz="1050" dirty="0">
                <a:solidFill>
                  <a:srgbClr val="374151"/>
                </a:solidFill>
                <a:latin typeface="Calibri" pitchFamily="34" charset="0"/>
                <a:ea typeface="Calibri" pitchFamily="34" charset="-122"/>
                <a:cs typeface="Calibri" pitchFamily="34" charset="-120"/>
              </a:rPr>
              <a:t>• Multi-tenancy &amp; data co-mingling</a:t>
            </a:r>
            <a:endParaRPr lang="en-US" sz="1050" dirty="0"/>
          </a:p>
        </p:txBody>
      </p:sp>
      <p:sp>
        <p:nvSpPr>
          <p:cNvPr id="10" name="Text 8"/>
          <p:cNvSpPr/>
          <p:nvPr/>
        </p:nvSpPr>
        <p:spPr>
          <a:xfrm>
            <a:off x="384048" y="2587752"/>
            <a:ext cx="2633472" cy="384048"/>
          </a:xfrm>
          <a:prstGeom prst="rect">
            <a:avLst/>
          </a:prstGeom>
          <a:noFill/>
          <a:ln/>
        </p:spPr>
        <p:txBody>
          <a:bodyPr wrap="square" rtlCol="0" anchor="ctr"/>
          <a:lstStyle/>
          <a:p>
            <a:pPr indent="0" marL="0">
              <a:buNone/>
            </a:pPr>
            <a:r>
              <a:rPr lang="en-US" sz="1050" dirty="0">
                <a:solidFill>
                  <a:srgbClr val="374151"/>
                </a:solidFill>
                <a:latin typeface="Calibri" pitchFamily="34" charset="0"/>
                <a:ea typeface="Calibri" pitchFamily="34" charset="-122"/>
                <a:cs typeface="Calibri" pitchFamily="34" charset="-120"/>
              </a:rPr>
              <a:t>• Volatile evidence in VMs &amp; containers</a:t>
            </a:r>
            <a:endParaRPr lang="en-US" sz="1050" dirty="0"/>
          </a:p>
        </p:txBody>
      </p:sp>
      <p:sp>
        <p:nvSpPr>
          <p:cNvPr id="11" name="Text 9"/>
          <p:cNvSpPr/>
          <p:nvPr/>
        </p:nvSpPr>
        <p:spPr>
          <a:xfrm>
            <a:off x="384048" y="3026664"/>
            <a:ext cx="2633472" cy="384048"/>
          </a:xfrm>
          <a:prstGeom prst="rect">
            <a:avLst/>
          </a:prstGeom>
          <a:noFill/>
          <a:ln/>
        </p:spPr>
        <p:txBody>
          <a:bodyPr wrap="square" rtlCol="0" anchor="ctr"/>
          <a:lstStyle/>
          <a:p>
            <a:pPr indent="0" marL="0">
              <a:buNone/>
            </a:pPr>
            <a:r>
              <a:rPr lang="en-US" sz="1050" dirty="0">
                <a:solidFill>
                  <a:srgbClr val="374151"/>
                </a:solidFill>
                <a:latin typeface="Calibri" pitchFamily="34" charset="0"/>
                <a:ea typeface="Calibri" pitchFamily="34" charset="-122"/>
                <a:cs typeface="Calibri" pitchFamily="34" charset="-120"/>
              </a:rPr>
              <a:t>• Encryption barriers for investigators</a:t>
            </a:r>
            <a:endParaRPr lang="en-US" sz="1050" dirty="0"/>
          </a:p>
        </p:txBody>
      </p:sp>
      <p:sp>
        <p:nvSpPr>
          <p:cNvPr id="12" name="Text 10"/>
          <p:cNvSpPr/>
          <p:nvPr/>
        </p:nvSpPr>
        <p:spPr>
          <a:xfrm>
            <a:off x="384048" y="3465576"/>
            <a:ext cx="2633472" cy="384048"/>
          </a:xfrm>
          <a:prstGeom prst="rect">
            <a:avLst/>
          </a:prstGeom>
          <a:noFill/>
          <a:ln/>
        </p:spPr>
        <p:txBody>
          <a:bodyPr wrap="square" rtlCol="0" anchor="ctr"/>
          <a:lstStyle/>
          <a:p>
            <a:pPr indent="0" marL="0">
              <a:buNone/>
            </a:pPr>
            <a:r>
              <a:rPr lang="en-US" sz="1050" dirty="0">
                <a:solidFill>
                  <a:srgbClr val="374151"/>
                </a:solidFill>
                <a:latin typeface="Calibri" pitchFamily="34" charset="0"/>
                <a:ea typeface="Calibri" pitchFamily="34" charset="-122"/>
                <a:cs typeface="Calibri" pitchFamily="34" charset="-120"/>
              </a:rPr>
              <a:t>• CSP dependency for log access</a:t>
            </a:r>
            <a:endParaRPr lang="en-US" sz="1050" dirty="0"/>
          </a:p>
        </p:txBody>
      </p:sp>
      <p:sp>
        <p:nvSpPr>
          <p:cNvPr id="13" name="Text 11"/>
          <p:cNvSpPr/>
          <p:nvPr/>
        </p:nvSpPr>
        <p:spPr>
          <a:xfrm>
            <a:off x="384048" y="3904488"/>
            <a:ext cx="2633472" cy="384048"/>
          </a:xfrm>
          <a:prstGeom prst="rect">
            <a:avLst/>
          </a:prstGeom>
          <a:noFill/>
          <a:ln/>
        </p:spPr>
        <p:txBody>
          <a:bodyPr wrap="square" rtlCol="0" anchor="ctr"/>
          <a:lstStyle/>
          <a:p>
            <a:pPr indent="0" marL="0">
              <a:buNone/>
            </a:pPr>
            <a:r>
              <a:rPr lang="en-US" sz="1050" dirty="0">
                <a:solidFill>
                  <a:srgbClr val="374151"/>
                </a:solidFill>
                <a:latin typeface="Calibri" pitchFamily="34" charset="0"/>
                <a:ea typeface="Calibri" pitchFamily="34" charset="-122"/>
                <a:cs typeface="Calibri" pitchFamily="34" charset="-120"/>
              </a:rPr>
              <a:t>• Lack of standardized acquisition APIs</a:t>
            </a:r>
            <a:endParaRPr lang="en-US" sz="1050" dirty="0"/>
          </a:p>
        </p:txBody>
      </p:sp>
      <p:sp>
        <p:nvSpPr>
          <p:cNvPr id="14" name="Text 12"/>
          <p:cNvSpPr/>
          <p:nvPr/>
        </p:nvSpPr>
        <p:spPr>
          <a:xfrm>
            <a:off x="384048" y="4343400"/>
            <a:ext cx="2633472" cy="384048"/>
          </a:xfrm>
          <a:prstGeom prst="rect">
            <a:avLst/>
          </a:prstGeom>
          <a:noFill/>
          <a:ln/>
        </p:spPr>
        <p:txBody>
          <a:bodyPr wrap="square" rtlCol="0" anchor="ctr"/>
          <a:lstStyle/>
          <a:p>
            <a:pPr indent="0" marL="0">
              <a:buNone/>
            </a:pPr>
            <a:r>
              <a:rPr lang="en-US" sz="1050" dirty="0">
                <a:solidFill>
                  <a:srgbClr val="374151"/>
                </a:solidFill>
                <a:latin typeface="Calibri" pitchFamily="34" charset="0"/>
                <a:ea typeface="Calibri" pitchFamily="34" charset="-122"/>
                <a:cs typeface="Calibri" pitchFamily="34" charset="-120"/>
              </a:rPr>
              <a:t>• Incomplete forensic tool support</a:t>
            </a:r>
            <a:endParaRPr lang="en-US" sz="1050" dirty="0"/>
          </a:p>
        </p:txBody>
      </p:sp>
      <p:sp>
        <p:nvSpPr>
          <p:cNvPr id="15" name="Shape 13"/>
          <p:cNvSpPr/>
          <p:nvPr/>
        </p:nvSpPr>
        <p:spPr>
          <a:xfrm>
            <a:off x="3227832" y="804672"/>
            <a:ext cx="2834640" cy="4160520"/>
          </a:xfrm>
          <a:prstGeom prst="rect">
            <a:avLst/>
          </a:prstGeom>
          <a:solidFill>
            <a:srgbClr val="FFF0F0"/>
          </a:solidFill>
          <a:ln w="12700">
            <a:solidFill>
              <a:srgbClr val="8B3A3A"/>
            </a:solidFill>
            <a:prstDash val="solid"/>
          </a:ln>
        </p:spPr>
      </p:sp>
      <p:sp>
        <p:nvSpPr>
          <p:cNvPr id="16" name="Text 14"/>
          <p:cNvSpPr/>
          <p:nvPr/>
        </p:nvSpPr>
        <p:spPr>
          <a:xfrm>
            <a:off x="3227832" y="868680"/>
            <a:ext cx="2834640" cy="36576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7" name="Text 15"/>
          <p:cNvSpPr/>
          <p:nvPr/>
        </p:nvSpPr>
        <p:spPr>
          <a:xfrm>
            <a:off x="3227832" y="1234440"/>
            <a:ext cx="2834640" cy="502920"/>
          </a:xfrm>
          <a:prstGeom prst="rect">
            <a:avLst/>
          </a:prstGeom>
          <a:noFill/>
          <a:ln/>
        </p:spPr>
        <p:txBody>
          <a:bodyPr wrap="square" rtlCol="0" anchor="ctr"/>
          <a:lstStyle/>
          <a:p>
            <a:pPr algn="ctr" indent="0" marL="0">
              <a:buNone/>
            </a:pPr>
            <a:r>
              <a:rPr lang="en-US" sz="3000" b="1" dirty="0">
                <a:solidFill>
                  <a:srgbClr val="8B3A3A"/>
                </a:solidFill>
                <a:latin typeface="Cambria" pitchFamily="34" charset="0"/>
                <a:ea typeface="Cambria" pitchFamily="34" charset="-122"/>
                <a:cs typeface="Cambria" pitchFamily="34" charset="-120"/>
              </a:rPr>
              <a:t>28%</a:t>
            </a:r>
            <a:endParaRPr lang="en-US" sz="3000" dirty="0"/>
          </a:p>
        </p:txBody>
      </p:sp>
      <p:sp>
        <p:nvSpPr>
          <p:cNvPr id="18" name="Text 16"/>
          <p:cNvSpPr/>
          <p:nvPr/>
        </p:nvSpPr>
        <p:spPr>
          <a:xfrm>
            <a:off x="3227832" y="1719072"/>
            <a:ext cx="2834640" cy="320040"/>
          </a:xfrm>
          <a:prstGeom prst="rect">
            <a:avLst/>
          </a:prstGeom>
          <a:noFill/>
          <a:ln/>
        </p:spPr>
        <p:txBody>
          <a:bodyPr wrap="square" rtlCol="0" anchor="ctr"/>
          <a:lstStyle/>
          <a:p>
            <a:pPr algn="ctr" indent="0" marL="0">
              <a:buNone/>
            </a:pPr>
            <a:r>
              <a:rPr lang="en-US" sz="1200" b="1" dirty="0">
                <a:solidFill>
                  <a:srgbClr val="8B3A3A"/>
                </a:solidFill>
                <a:latin typeface="Cambria" pitchFamily="34" charset="0"/>
                <a:ea typeface="Cambria" pitchFamily="34" charset="-122"/>
                <a:cs typeface="Cambria" pitchFamily="34" charset="-120"/>
              </a:rPr>
              <a:t>Legal &amp; Jurisdictional</a:t>
            </a:r>
            <a:endParaRPr lang="en-US" sz="1200" dirty="0"/>
          </a:p>
        </p:txBody>
      </p:sp>
      <p:sp>
        <p:nvSpPr>
          <p:cNvPr id="19" name="Shape 17"/>
          <p:cNvSpPr/>
          <p:nvPr/>
        </p:nvSpPr>
        <p:spPr>
          <a:xfrm>
            <a:off x="3364992" y="2084832"/>
            <a:ext cx="2560320" cy="18288"/>
          </a:xfrm>
          <a:prstGeom prst="rect">
            <a:avLst/>
          </a:prstGeom>
          <a:solidFill>
            <a:srgbClr val="D1D5DB"/>
          </a:solidFill>
          <a:ln w="12700">
            <a:solidFill>
              <a:srgbClr val="D1D5DB"/>
            </a:solidFill>
            <a:prstDash val="solid"/>
          </a:ln>
        </p:spPr>
      </p:sp>
      <p:sp>
        <p:nvSpPr>
          <p:cNvPr id="20" name="Text 18"/>
          <p:cNvSpPr/>
          <p:nvPr/>
        </p:nvSpPr>
        <p:spPr>
          <a:xfrm>
            <a:off x="3337560" y="2148840"/>
            <a:ext cx="2633472" cy="384048"/>
          </a:xfrm>
          <a:prstGeom prst="rect">
            <a:avLst/>
          </a:prstGeom>
          <a:noFill/>
          <a:ln/>
        </p:spPr>
        <p:txBody>
          <a:bodyPr wrap="square" rtlCol="0" anchor="ctr"/>
          <a:lstStyle/>
          <a:p>
            <a:pPr indent="0" marL="0">
              <a:buNone/>
            </a:pPr>
            <a:r>
              <a:rPr lang="en-US" sz="1050" dirty="0">
                <a:solidFill>
                  <a:srgbClr val="374151"/>
                </a:solidFill>
                <a:latin typeface="Calibri" pitchFamily="34" charset="0"/>
                <a:ea typeface="Calibri" pitchFamily="34" charset="-122"/>
                <a:cs typeface="Calibri" pitchFamily="34" charset="-120"/>
              </a:rPr>
              <a:t>• No cloud-specific provisions in BD law</a:t>
            </a:r>
            <a:endParaRPr lang="en-US" sz="1050" dirty="0"/>
          </a:p>
        </p:txBody>
      </p:sp>
      <p:sp>
        <p:nvSpPr>
          <p:cNvPr id="21" name="Text 19"/>
          <p:cNvSpPr/>
          <p:nvPr/>
        </p:nvSpPr>
        <p:spPr>
          <a:xfrm>
            <a:off x="3337560" y="2587752"/>
            <a:ext cx="2633472" cy="384048"/>
          </a:xfrm>
          <a:prstGeom prst="rect">
            <a:avLst/>
          </a:prstGeom>
          <a:noFill/>
          <a:ln/>
        </p:spPr>
        <p:txBody>
          <a:bodyPr wrap="square" rtlCol="0" anchor="ctr"/>
          <a:lstStyle/>
          <a:p>
            <a:pPr indent="0" marL="0">
              <a:buNone/>
            </a:pPr>
            <a:r>
              <a:rPr lang="en-US" sz="1050" dirty="0">
                <a:solidFill>
                  <a:srgbClr val="374151"/>
                </a:solidFill>
                <a:latin typeface="Calibri" pitchFamily="34" charset="0"/>
                <a:ea typeface="Calibri" pitchFamily="34" charset="-122"/>
                <a:cs typeface="Calibri" pitchFamily="34" charset="-120"/>
              </a:rPr>
              <a:t>• Cross-border data sovereignty conflicts</a:t>
            </a:r>
            <a:endParaRPr lang="en-US" sz="1050" dirty="0"/>
          </a:p>
        </p:txBody>
      </p:sp>
      <p:sp>
        <p:nvSpPr>
          <p:cNvPr id="22" name="Text 20"/>
          <p:cNvSpPr/>
          <p:nvPr/>
        </p:nvSpPr>
        <p:spPr>
          <a:xfrm>
            <a:off x="3337560" y="3026664"/>
            <a:ext cx="2633472" cy="384048"/>
          </a:xfrm>
          <a:prstGeom prst="rect">
            <a:avLst/>
          </a:prstGeom>
          <a:noFill/>
          <a:ln/>
        </p:spPr>
        <p:txBody>
          <a:bodyPr wrap="square" rtlCol="0" anchor="ctr"/>
          <a:lstStyle/>
          <a:p>
            <a:pPr indent="0" marL="0">
              <a:buNone/>
            </a:pPr>
            <a:r>
              <a:rPr lang="en-US" sz="1050" dirty="0">
                <a:solidFill>
                  <a:srgbClr val="374151"/>
                </a:solidFill>
                <a:latin typeface="Calibri" pitchFamily="34" charset="0"/>
                <a:ea typeface="Calibri" pitchFamily="34" charset="-122"/>
                <a:cs typeface="Calibri" pitchFamily="34" charset="-120"/>
              </a:rPr>
              <a:t>• Weak MLAT framework in South Asia</a:t>
            </a:r>
            <a:endParaRPr lang="en-US" sz="1050" dirty="0"/>
          </a:p>
        </p:txBody>
      </p:sp>
      <p:sp>
        <p:nvSpPr>
          <p:cNvPr id="23" name="Text 21"/>
          <p:cNvSpPr/>
          <p:nvPr/>
        </p:nvSpPr>
        <p:spPr>
          <a:xfrm>
            <a:off x="3337560" y="3465576"/>
            <a:ext cx="2633472" cy="384048"/>
          </a:xfrm>
          <a:prstGeom prst="rect">
            <a:avLst/>
          </a:prstGeom>
          <a:noFill/>
          <a:ln/>
        </p:spPr>
        <p:txBody>
          <a:bodyPr wrap="square" rtlCol="0" anchor="ctr"/>
          <a:lstStyle/>
          <a:p>
            <a:pPr indent="0" marL="0">
              <a:buNone/>
            </a:pPr>
            <a:r>
              <a:rPr lang="en-US" sz="1050" dirty="0">
                <a:solidFill>
                  <a:srgbClr val="374151"/>
                </a:solidFill>
                <a:latin typeface="Calibri" pitchFamily="34" charset="0"/>
                <a:ea typeface="Calibri" pitchFamily="34" charset="-122"/>
                <a:cs typeface="Calibri" pitchFamily="34" charset="-120"/>
              </a:rPr>
              <a:t>• Evidence admissibility uncertainty</a:t>
            </a:r>
            <a:endParaRPr lang="en-US" sz="1050" dirty="0"/>
          </a:p>
        </p:txBody>
      </p:sp>
      <p:sp>
        <p:nvSpPr>
          <p:cNvPr id="24" name="Text 22"/>
          <p:cNvSpPr/>
          <p:nvPr/>
        </p:nvSpPr>
        <p:spPr>
          <a:xfrm>
            <a:off x="3337560" y="3904488"/>
            <a:ext cx="2633472" cy="384048"/>
          </a:xfrm>
          <a:prstGeom prst="rect">
            <a:avLst/>
          </a:prstGeom>
          <a:noFill/>
          <a:ln/>
        </p:spPr>
        <p:txBody>
          <a:bodyPr wrap="square" rtlCol="0" anchor="ctr"/>
          <a:lstStyle/>
          <a:p>
            <a:pPr indent="0" marL="0">
              <a:buNone/>
            </a:pPr>
            <a:r>
              <a:rPr lang="en-US" sz="1050" dirty="0">
                <a:solidFill>
                  <a:srgbClr val="374151"/>
                </a:solidFill>
                <a:latin typeface="Calibri" pitchFamily="34" charset="0"/>
                <a:ea typeface="Calibri" pitchFamily="34" charset="-122"/>
                <a:cs typeface="Calibri" pitchFamily="34" charset="-120"/>
              </a:rPr>
              <a:t>• No chain-of-custody standard for cloud</a:t>
            </a:r>
            <a:endParaRPr lang="en-US" sz="1050" dirty="0"/>
          </a:p>
        </p:txBody>
      </p:sp>
      <p:sp>
        <p:nvSpPr>
          <p:cNvPr id="25" name="Text 23"/>
          <p:cNvSpPr/>
          <p:nvPr/>
        </p:nvSpPr>
        <p:spPr>
          <a:xfrm>
            <a:off x="3337560" y="4343400"/>
            <a:ext cx="2633472" cy="384048"/>
          </a:xfrm>
          <a:prstGeom prst="rect">
            <a:avLst/>
          </a:prstGeom>
          <a:noFill/>
          <a:ln/>
        </p:spPr>
        <p:txBody>
          <a:bodyPr wrap="square" rtlCol="0" anchor="ctr"/>
          <a:lstStyle/>
          <a:p>
            <a:pPr indent="0" marL="0">
              <a:buNone/>
            </a:pPr>
            <a:r>
              <a:rPr lang="en-US" sz="1050" dirty="0">
                <a:solidFill>
                  <a:srgbClr val="374151"/>
                </a:solidFill>
                <a:latin typeface="Calibri" pitchFamily="34" charset="0"/>
                <a:ea typeface="Calibri" pitchFamily="34" charset="-122"/>
                <a:cs typeface="Calibri" pitchFamily="34" charset="-120"/>
              </a:rPr>
              <a:t>• CSA 2023 lacks forensic procedurals</a:t>
            </a:r>
            <a:endParaRPr lang="en-US" sz="1050" dirty="0"/>
          </a:p>
        </p:txBody>
      </p:sp>
      <p:sp>
        <p:nvSpPr>
          <p:cNvPr id="26" name="Shape 24"/>
          <p:cNvSpPr/>
          <p:nvPr/>
        </p:nvSpPr>
        <p:spPr>
          <a:xfrm>
            <a:off x="6181344" y="804672"/>
            <a:ext cx="2834640" cy="4160520"/>
          </a:xfrm>
          <a:prstGeom prst="rect">
            <a:avLst/>
          </a:prstGeom>
          <a:solidFill>
            <a:srgbClr val="F0FFF4"/>
          </a:solidFill>
          <a:ln w="12700">
            <a:solidFill>
              <a:srgbClr val="2C5F2D"/>
            </a:solidFill>
            <a:prstDash val="solid"/>
          </a:ln>
        </p:spPr>
      </p:sp>
      <p:sp>
        <p:nvSpPr>
          <p:cNvPr id="27" name="Text 25"/>
          <p:cNvSpPr/>
          <p:nvPr/>
        </p:nvSpPr>
        <p:spPr>
          <a:xfrm>
            <a:off x="6181344" y="868680"/>
            <a:ext cx="2834640" cy="36576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28" name="Text 26"/>
          <p:cNvSpPr/>
          <p:nvPr/>
        </p:nvSpPr>
        <p:spPr>
          <a:xfrm>
            <a:off x="6181344" y="1234440"/>
            <a:ext cx="2834640" cy="502920"/>
          </a:xfrm>
          <a:prstGeom prst="rect">
            <a:avLst/>
          </a:prstGeom>
          <a:noFill/>
          <a:ln/>
        </p:spPr>
        <p:txBody>
          <a:bodyPr wrap="square" rtlCol="0" anchor="ctr"/>
          <a:lstStyle/>
          <a:p>
            <a:pPr algn="ctr" indent="0" marL="0">
              <a:buNone/>
            </a:pPr>
            <a:r>
              <a:rPr lang="en-US" sz="3000" b="1" dirty="0">
                <a:solidFill>
                  <a:srgbClr val="2C5F2D"/>
                </a:solidFill>
                <a:latin typeface="Cambria" pitchFamily="34" charset="0"/>
                <a:ea typeface="Cambria" pitchFamily="34" charset="-122"/>
                <a:cs typeface="Cambria" pitchFamily="34" charset="-120"/>
              </a:rPr>
              <a:t>30%</a:t>
            </a:r>
            <a:endParaRPr lang="en-US" sz="3000" dirty="0"/>
          </a:p>
        </p:txBody>
      </p:sp>
      <p:sp>
        <p:nvSpPr>
          <p:cNvPr id="29" name="Text 27"/>
          <p:cNvSpPr/>
          <p:nvPr/>
        </p:nvSpPr>
        <p:spPr>
          <a:xfrm>
            <a:off x="6181344" y="1719072"/>
            <a:ext cx="2834640" cy="320040"/>
          </a:xfrm>
          <a:prstGeom prst="rect">
            <a:avLst/>
          </a:prstGeom>
          <a:noFill/>
          <a:ln/>
        </p:spPr>
        <p:txBody>
          <a:bodyPr wrap="square" rtlCol="0" anchor="ctr"/>
          <a:lstStyle/>
          <a:p>
            <a:pPr algn="ctr" indent="0" marL="0">
              <a:buNone/>
            </a:pPr>
            <a:r>
              <a:rPr lang="en-US" sz="1200" b="1" dirty="0">
                <a:solidFill>
                  <a:srgbClr val="2C5F2D"/>
                </a:solidFill>
                <a:latin typeface="Cambria" pitchFamily="34" charset="0"/>
                <a:ea typeface="Cambria" pitchFamily="34" charset="-122"/>
                <a:cs typeface="Cambria" pitchFamily="34" charset="-120"/>
              </a:rPr>
              <a:t>Organizational &amp; Capacity</a:t>
            </a:r>
            <a:endParaRPr lang="en-US" sz="1200" dirty="0"/>
          </a:p>
        </p:txBody>
      </p:sp>
      <p:sp>
        <p:nvSpPr>
          <p:cNvPr id="30" name="Shape 28"/>
          <p:cNvSpPr/>
          <p:nvPr/>
        </p:nvSpPr>
        <p:spPr>
          <a:xfrm>
            <a:off x="6318504" y="2084832"/>
            <a:ext cx="2560320" cy="18288"/>
          </a:xfrm>
          <a:prstGeom prst="rect">
            <a:avLst/>
          </a:prstGeom>
          <a:solidFill>
            <a:srgbClr val="D1D5DB"/>
          </a:solidFill>
          <a:ln w="12700">
            <a:solidFill>
              <a:srgbClr val="D1D5DB"/>
            </a:solidFill>
            <a:prstDash val="solid"/>
          </a:ln>
        </p:spPr>
      </p:sp>
      <p:sp>
        <p:nvSpPr>
          <p:cNvPr id="31" name="Text 29"/>
          <p:cNvSpPr/>
          <p:nvPr/>
        </p:nvSpPr>
        <p:spPr>
          <a:xfrm>
            <a:off x="6291072" y="2148840"/>
            <a:ext cx="2633472" cy="384048"/>
          </a:xfrm>
          <a:prstGeom prst="rect">
            <a:avLst/>
          </a:prstGeom>
          <a:noFill/>
          <a:ln/>
        </p:spPr>
        <p:txBody>
          <a:bodyPr wrap="square" rtlCol="0" anchor="ctr"/>
          <a:lstStyle/>
          <a:p>
            <a:pPr indent="0" marL="0">
              <a:buNone/>
            </a:pPr>
            <a:r>
              <a:rPr lang="en-US" sz="1050" dirty="0">
                <a:solidFill>
                  <a:srgbClr val="374151"/>
                </a:solidFill>
                <a:latin typeface="Calibri" pitchFamily="34" charset="0"/>
                <a:ea typeface="Calibri" pitchFamily="34" charset="-122"/>
                <a:cs typeface="Calibri" pitchFamily="34" charset="-120"/>
              </a:rPr>
              <a:t>• Undertrained law enforcement (CID)</a:t>
            </a:r>
            <a:endParaRPr lang="en-US" sz="1050" dirty="0"/>
          </a:p>
        </p:txBody>
      </p:sp>
      <p:sp>
        <p:nvSpPr>
          <p:cNvPr id="32" name="Text 30"/>
          <p:cNvSpPr/>
          <p:nvPr/>
        </p:nvSpPr>
        <p:spPr>
          <a:xfrm>
            <a:off x="6291072" y="2587752"/>
            <a:ext cx="2633472" cy="384048"/>
          </a:xfrm>
          <a:prstGeom prst="rect">
            <a:avLst/>
          </a:prstGeom>
          <a:noFill/>
          <a:ln/>
        </p:spPr>
        <p:txBody>
          <a:bodyPr wrap="square" rtlCol="0" anchor="ctr"/>
          <a:lstStyle/>
          <a:p>
            <a:pPr indent="0" marL="0">
              <a:buNone/>
            </a:pPr>
            <a:r>
              <a:rPr lang="en-US" sz="1050" dirty="0">
                <a:solidFill>
                  <a:srgbClr val="374151"/>
                </a:solidFill>
                <a:latin typeface="Calibri" pitchFamily="34" charset="0"/>
                <a:ea typeface="Calibri" pitchFamily="34" charset="-122"/>
                <a:cs typeface="Calibri" pitchFamily="34" charset="-120"/>
              </a:rPr>
              <a:t>• No dedicated cyber police unit</a:t>
            </a:r>
            <a:endParaRPr lang="en-US" sz="1050" dirty="0"/>
          </a:p>
        </p:txBody>
      </p:sp>
      <p:sp>
        <p:nvSpPr>
          <p:cNvPr id="33" name="Text 31"/>
          <p:cNvSpPr/>
          <p:nvPr/>
        </p:nvSpPr>
        <p:spPr>
          <a:xfrm>
            <a:off x="6291072" y="3026664"/>
            <a:ext cx="2633472" cy="384048"/>
          </a:xfrm>
          <a:prstGeom prst="rect">
            <a:avLst/>
          </a:prstGeom>
          <a:noFill/>
          <a:ln/>
        </p:spPr>
        <p:txBody>
          <a:bodyPr wrap="square" rtlCol="0" anchor="ctr"/>
          <a:lstStyle/>
          <a:p>
            <a:pPr indent="0" marL="0">
              <a:buNone/>
            </a:pPr>
            <a:r>
              <a:rPr lang="en-US" sz="1050" dirty="0">
                <a:solidFill>
                  <a:srgbClr val="374151"/>
                </a:solidFill>
                <a:latin typeface="Calibri" pitchFamily="34" charset="0"/>
                <a:ea typeface="Calibri" pitchFamily="34" charset="-122"/>
                <a:cs typeface="Calibri" pitchFamily="34" charset="-120"/>
              </a:rPr>
              <a:t>• Absence of Bangladesh CERT</a:t>
            </a:r>
            <a:endParaRPr lang="en-US" sz="1050" dirty="0"/>
          </a:p>
        </p:txBody>
      </p:sp>
      <p:sp>
        <p:nvSpPr>
          <p:cNvPr id="34" name="Text 32"/>
          <p:cNvSpPr/>
          <p:nvPr/>
        </p:nvSpPr>
        <p:spPr>
          <a:xfrm>
            <a:off x="6291072" y="3465576"/>
            <a:ext cx="2633472" cy="384048"/>
          </a:xfrm>
          <a:prstGeom prst="rect">
            <a:avLst/>
          </a:prstGeom>
          <a:noFill/>
          <a:ln/>
        </p:spPr>
        <p:txBody>
          <a:bodyPr wrap="square" rtlCol="0" anchor="ctr"/>
          <a:lstStyle/>
          <a:p>
            <a:pPr indent="0" marL="0">
              <a:buNone/>
            </a:pPr>
            <a:r>
              <a:rPr lang="en-US" sz="1050" dirty="0">
                <a:solidFill>
                  <a:srgbClr val="374151"/>
                </a:solidFill>
                <a:latin typeface="Calibri" pitchFamily="34" charset="0"/>
                <a:ea typeface="Calibri" pitchFamily="34" charset="-122"/>
                <a:cs typeface="Calibri" pitchFamily="34" charset="-120"/>
              </a:rPr>
              <a:t>• No formal CSP cooperation protocol</a:t>
            </a:r>
            <a:endParaRPr lang="en-US" sz="1050" dirty="0"/>
          </a:p>
        </p:txBody>
      </p:sp>
      <p:sp>
        <p:nvSpPr>
          <p:cNvPr id="35" name="Text 33"/>
          <p:cNvSpPr/>
          <p:nvPr/>
        </p:nvSpPr>
        <p:spPr>
          <a:xfrm>
            <a:off x="6291072" y="3904488"/>
            <a:ext cx="2633472" cy="384048"/>
          </a:xfrm>
          <a:prstGeom prst="rect">
            <a:avLst/>
          </a:prstGeom>
          <a:noFill/>
          <a:ln/>
        </p:spPr>
        <p:txBody>
          <a:bodyPr wrap="square" rtlCol="0" anchor="ctr"/>
          <a:lstStyle/>
          <a:p>
            <a:pPr indent="0" marL="0">
              <a:buNone/>
            </a:pPr>
            <a:r>
              <a:rPr lang="en-US" sz="1050" dirty="0">
                <a:solidFill>
                  <a:srgbClr val="374151"/>
                </a:solidFill>
                <a:latin typeface="Calibri" pitchFamily="34" charset="0"/>
                <a:ea typeface="Calibri" pitchFamily="34" charset="-122"/>
                <a:cs typeface="Calibri" pitchFamily="34" charset="-120"/>
              </a:rPr>
              <a:t>• Budget constraints in BD agencies</a:t>
            </a:r>
            <a:endParaRPr lang="en-US" sz="1050" dirty="0"/>
          </a:p>
        </p:txBody>
      </p:sp>
      <p:sp>
        <p:nvSpPr>
          <p:cNvPr id="36" name="Text 34"/>
          <p:cNvSpPr/>
          <p:nvPr/>
        </p:nvSpPr>
        <p:spPr>
          <a:xfrm>
            <a:off x="6291072" y="4343400"/>
            <a:ext cx="2633472" cy="384048"/>
          </a:xfrm>
          <a:prstGeom prst="rect">
            <a:avLst/>
          </a:prstGeom>
          <a:noFill/>
          <a:ln/>
        </p:spPr>
        <p:txBody>
          <a:bodyPr wrap="square" rtlCol="0" anchor="ctr"/>
          <a:lstStyle/>
          <a:p>
            <a:pPr indent="0" marL="0">
              <a:buNone/>
            </a:pPr>
            <a:r>
              <a:rPr lang="en-US" sz="1050" dirty="0">
                <a:solidFill>
                  <a:srgbClr val="374151"/>
                </a:solidFill>
                <a:latin typeface="Calibri" pitchFamily="34" charset="0"/>
                <a:ea typeface="Calibri" pitchFamily="34" charset="-122"/>
                <a:cs typeface="Calibri" pitchFamily="34" charset="-120"/>
              </a:rPr>
              <a:t>• Low forensic lab capacity at CID</a:t>
            </a:r>
            <a:endParaRPr lang="en-US" sz="1050" dirty="0"/>
          </a:p>
        </p:txBody>
      </p:sp>
      <p:sp>
        <p:nvSpPr>
          <p:cNvPr id="37" name="Text 35"/>
          <p:cNvSpPr/>
          <p:nvPr/>
        </p:nvSpPr>
        <p:spPr>
          <a:xfrm>
            <a:off x="365760" y="4956048"/>
            <a:ext cx="8412480" cy="18288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Source: Synthesized from Alshabibi et al. (2024), Ruan et al. (2011), Bai &amp; Sudha (2023)</a:t>
            </a:r>
            <a:endParaRPr lang="en-US" sz="900" dirty="0"/>
          </a:p>
        </p:txBody>
      </p:sp>
      <p:sp>
        <p:nvSpPr>
          <p:cNvPr id="38" name="Shape 36"/>
          <p:cNvSpPr/>
          <p:nvPr/>
        </p:nvSpPr>
        <p:spPr>
          <a:xfrm>
            <a:off x="0" y="5074920"/>
            <a:ext cx="9144000" cy="64008"/>
          </a:xfrm>
          <a:prstGeom prst="rect">
            <a:avLst/>
          </a:prstGeom>
          <a:solidFill>
            <a:srgbClr val="028090"/>
          </a:solidFill>
          <a:ln w="12700">
            <a:solidFill>
              <a:srgbClr val="028090"/>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E2761"/>
          </a:solidFill>
          <a:ln w="12700">
            <a:solidFill>
              <a:srgbClr val="1E2761"/>
            </a:solidFill>
            <a:prstDash val="solid"/>
          </a:ln>
        </p:spPr>
      </p:sp>
      <p:sp>
        <p:nvSpPr>
          <p:cNvPr id="3" name="Text 1"/>
          <p:cNvSpPr/>
          <p:nvPr/>
        </p:nvSpPr>
        <p:spPr>
          <a:xfrm>
            <a:off x="365760" y="137160"/>
            <a:ext cx="8412480" cy="548640"/>
          </a:xfrm>
          <a:prstGeom prst="rect">
            <a:avLst/>
          </a:prstGeom>
          <a:noFill/>
          <a:ln/>
        </p:spPr>
        <p:txBody>
          <a:bodyPr wrap="square" rtlCol="0" anchor="ctr"/>
          <a:lstStyle/>
          <a:p>
            <a:pPr indent="0" marL="0">
              <a:buNone/>
            </a:pPr>
            <a:r>
              <a:rPr lang="en-US" sz="2300" b="1" dirty="0">
                <a:solidFill>
                  <a:srgbClr val="1E2761"/>
                </a:solidFill>
                <a:latin typeface="Cambria" pitchFamily="34" charset="0"/>
                <a:ea typeface="Cambria" pitchFamily="34" charset="-122"/>
                <a:cs typeface="Cambria" pitchFamily="34" charset="-120"/>
              </a:rPr>
              <a:t>Bangladesh's Cyber Law Landscape &amp; Cloud Forensics Gaps</a:t>
            </a:r>
            <a:endParaRPr lang="en-US" sz="2300" dirty="0"/>
          </a:p>
        </p:txBody>
      </p:sp>
      <p:sp>
        <p:nvSpPr>
          <p:cNvPr id="4" name="Shape 2"/>
          <p:cNvSpPr/>
          <p:nvPr/>
        </p:nvSpPr>
        <p:spPr>
          <a:xfrm>
            <a:off x="365760" y="658368"/>
            <a:ext cx="3200400" cy="36576"/>
          </a:xfrm>
          <a:prstGeom prst="rect">
            <a:avLst/>
          </a:prstGeom>
          <a:solidFill>
            <a:srgbClr val="1E2761"/>
          </a:solidFill>
          <a:ln w="12700">
            <a:solidFill>
              <a:srgbClr val="1E2761"/>
            </a:solidFill>
            <a:prstDash val="solid"/>
          </a:ln>
        </p:spPr>
      </p:sp>
      <p:sp>
        <p:nvSpPr>
          <p:cNvPr id="5" name="Shape 3"/>
          <p:cNvSpPr/>
          <p:nvPr/>
        </p:nvSpPr>
        <p:spPr>
          <a:xfrm>
            <a:off x="502920" y="969264"/>
            <a:ext cx="274320" cy="274320"/>
          </a:xfrm>
          <a:prstGeom prst="ellipse">
            <a:avLst/>
          </a:prstGeom>
          <a:solidFill>
            <a:srgbClr val="028090"/>
          </a:solidFill>
          <a:ln w="12700">
            <a:solidFill>
              <a:srgbClr val="028090"/>
            </a:solidFill>
            <a:prstDash val="solid"/>
          </a:ln>
        </p:spPr>
      </p:sp>
      <p:sp>
        <p:nvSpPr>
          <p:cNvPr id="6" name="Shape 4"/>
          <p:cNvSpPr/>
          <p:nvPr/>
        </p:nvSpPr>
        <p:spPr>
          <a:xfrm>
            <a:off x="640080" y="1243584"/>
            <a:ext cx="0" cy="548640"/>
          </a:xfrm>
          <a:prstGeom prst="line">
            <a:avLst/>
          </a:prstGeom>
          <a:noFill/>
          <a:ln w="19050">
            <a:solidFill>
              <a:srgbClr val="D1D5DB"/>
            </a:solidFill>
            <a:prstDash val="solid"/>
          </a:ln>
        </p:spPr>
      </p:sp>
      <p:sp>
        <p:nvSpPr>
          <p:cNvPr id="7" name="Shape 5"/>
          <p:cNvSpPr/>
          <p:nvPr/>
        </p:nvSpPr>
        <p:spPr>
          <a:xfrm>
            <a:off x="914400" y="896112"/>
            <a:ext cx="685800" cy="274320"/>
          </a:xfrm>
          <a:prstGeom prst="rect">
            <a:avLst/>
          </a:prstGeom>
          <a:solidFill>
            <a:srgbClr val="1E2761"/>
          </a:solidFill>
          <a:ln w="12700">
            <a:solidFill>
              <a:srgbClr val="1E2761"/>
            </a:solidFill>
            <a:prstDash val="solid"/>
          </a:ln>
        </p:spPr>
      </p:sp>
      <p:sp>
        <p:nvSpPr>
          <p:cNvPr id="8" name="Text 6"/>
          <p:cNvSpPr/>
          <p:nvPr/>
        </p:nvSpPr>
        <p:spPr>
          <a:xfrm>
            <a:off x="914400" y="932688"/>
            <a:ext cx="685800" cy="20116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2006</a:t>
            </a:r>
            <a:endParaRPr lang="en-US" sz="950" dirty="0"/>
          </a:p>
        </p:txBody>
      </p:sp>
      <p:sp>
        <p:nvSpPr>
          <p:cNvPr id="9" name="Text 7"/>
          <p:cNvSpPr/>
          <p:nvPr/>
        </p:nvSpPr>
        <p:spPr>
          <a:xfrm>
            <a:off x="1719072" y="804672"/>
            <a:ext cx="2926080" cy="320040"/>
          </a:xfrm>
          <a:prstGeom prst="rect">
            <a:avLst/>
          </a:prstGeom>
          <a:noFill/>
          <a:ln/>
        </p:spPr>
        <p:txBody>
          <a:bodyPr wrap="square" rtlCol="0" anchor="ctr"/>
          <a:lstStyle/>
          <a:p>
            <a:pPr indent="0" marL="0">
              <a:buNone/>
            </a:pPr>
            <a:r>
              <a:rPr lang="en-US" sz="1250" b="1" dirty="0">
                <a:solidFill>
                  <a:srgbClr val="1E2761"/>
                </a:solidFill>
                <a:latin typeface="Cambria" pitchFamily="34" charset="0"/>
                <a:ea typeface="Cambria" pitchFamily="34" charset="-122"/>
                <a:cs typeface="Cambria" pitchFamily="34" charset="-120"/>
              </a:rPr>
              <a:t>ICT Act</a:t>
            </a:r>
            <a:endParaRPr lang="en-US" sz="1250" dirty="0"/>
          </a:p>
        </p:txBody>
      </p:sp>
      <p:sp>
        <p:nvSpPr>
          <p:cNvPr id="10" name="Text 8"/>
          <p:cNvSpPr/>
          <p:nvPr/>
        </p:nvSpPr>
        <p:spPr>
          <a:xfrm>
            <a:off x="1719072" y="1124712"/>
            <a:ext cx="2926080" cy="548640"/>
          </a:xfrm>
          <a:prstGeom prst="rect">
            <a:avLst/>
          </a:prstGeom>
          <a:noFill/>
          <a:ln/>
        </p:spPr>
        <p:txBody>
          <a:bodyPr wrap="square" rtlCol="0" anchor="ctr"/>
          <a:lstStyle/>
          <a:p>
            <a:pPr indent="0" marL="0">
              <a:buNone/>
            </a:pPr>
            <a:r>
              <a:rPr lang="en-US" sz="1050" dirty="0">
                <a:solidFill>
                  <a:srgbClr val="374151"/>
                </a:solidFill>
                <a:latin typeface="Calibri" pitchFamily="34" charset="0"/>
                <a:ea typeface="Calibri" pitchFamily="34" charset="-122"/>
                <a:cs typeface="Calibri" pitchFamily="34" charset="-120"/>
              </a:rPr>
              <a:t>97 sections; foundational cyber law; max 10yr imprisonment for offences; no cloud forensics provisions</a:t>
            </a:r>
            <a:endParaRPr lang="en-US" sz="1050" dirty="0"/>
          </a:p>
        </p:txBody>
      </p:sp>
      <p:sp>
        <p:nvSpPr>
          <p:cNvPr id="11" name="Shape 9"/>
          <p:cNvSpPr/>
          <p:nvPr/>
        </p:nvSpPr>
        <p:spPr>
          <a:xfrm>
            <a:off x="502920" y="1929384"/>
            <a:ext cx="274320" cy="274320"/>
          </a:xfrm>
          <a:prstGeom prst="ellipse">
            <a:avLst/>
          </a:prstGeom>
          <a:solidFill>
            <a:srgbClr val="028090"/>
          </a:solidFill>
          <a:ln w="12700">
            <a:solidFill>
              <a:srgbClr val="028090"/>
            </a:solidFill>
            <a:prstDash val="solid"/>
          </a:ln>
        </p:spPr>
      </p:sp>
      <p:sp>
        <p:nvSpPr>
          <p:cNvPr id="12" name="Shape 10"/>
          <p:cNvSpPr/>
          <p:nvPr/>
        </p:nvSpPr>
        <p:spPr>
          <a:xfrm>
            <a:off x="640080" y="2203704"/>
            <a:ext cx="0" cy="548640"/>
          </a:xfrm>
          <a:prstGeom prst="line">
            <a:avLst/>
          </a:prstGeom>
          <a:noFill/>
          <a:ln w="19050">
            <a:solidFill>
              <a:srgbClr val="D1D5DB"/>
            </a:solidFill>
            <a:prstDash val="solid"/>
          </a:ln>
        </p:spPr>
      </p:sp>
      <p:sp>
        <p:nvSpPr>
          <p:cNvPr id="13" name="Shape 11"/>
          <p:cNvSpPr/>
          <p:nvPr/>
        </p:nvSpPr>
        <p:spPr>
          <a:xfrm>
            <a:off x="914400" y="1856232"/>
            <a:ext cx="685800" cy="274320"/>
          </a:xfrm>
          <a:prstGeom prst="rect">
            <a:avLst/>
          </a:prstGeom>
          <a:solidFill>
            <a:srgbClr val="1E2761"/>
          </a:solidFill>
          <a:ln w="12700">
            <a:solidFill>
              <a:srgbClr val="1E2761"/>
            </a:solidFill>
            <a:prstDash val="solid"/>
          </a:ln>
        </p:spPr>
      </p:sp>
      <p:sp>
        <p:nvSpPr>
          <p:cNvPr id="14" name="Text 12"/>
          <p:cNvSpPr/>
          <p:nvPr/>
        </p:nvSpPr>
        <p:spPr>
          <a:xfrm>
            <a:off x="914400" y="1892808"/>
            <a:ext cx="685800" cy="20116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2018</a:t>
            </a:r>
            <a:endParaRPr lang="en-US" sz="950" dirty="0"/>
          </a:p>
        </p:txBody>
      </p:sp>
      <p:sp>
        <p:nvSpPr>
          <p:cNvPr id="15" name="Text 13"/>
          <p:cNvSpPr/>
          <p:nvPr/>
        </p:nvSpPr>
        <p:spPr>
          <a:xfrm>
            <a:off x="1719072" y="1764792"/>
            <a:ext cx="2926080" cy="320040"/>
          </a:xfrm>
          <a:prstGeom prst="rect">
            <a:avLst/>
          </a:prstGeom>
          <a:noFill/>
          <a:ln/>
        </p:spPr>
        <p:txBody>
          <a:bodyPr wrap="square" rtlCol="0" anchor="ctr"/>
          <a:lstStyle/>
          <a:p>
            <a:pPr indent="0" marL="0">
              <a:buNone/>
            </a:pPr>
            <a:r>
              <a:rPr lang="en-US" sz="1250" b="1" dirty="0">
                <a:solidFill>
                  <a:srgbClr val="1E2761"/>
                </a:solidFill>
                <a:latin typeface="Cambria" pitchFamily="34" charset="0"/>
                <a:ea typeface="Cambria" pitchFamily="34" charset="-122"/>
                <a:cs typeface="Cambria" pitchFamily="34" charset="-120"/>
              </a:rPr>
              <a:t>Digital Security Act (DSA)</a:t>
            </a:r>
            <a:endParaRPr lang="en-US" sz="1250" dirty="0"/>
          </a:p>
        </p:txBody>
      </p:sp>
      <p:sp>
        <p:nvSpPr>
          <p:cNvPr id="16" name="Text 14"/>
          <p:cNvSpPr/>
          <p:nvPr/>
        </p:nvSpPr>
        <p:spPr>
          <a:xfrm>
            <a:off x="1719072" y="2084832"/>
            <a:ext cx="2926080" cy="548640"/>
          </a:xfrm>
          <a:prstGeom prst="rect">
            <a:avLst/>
          </a:prstGeom>
          <a:noFill/>
          <a:ln/>
        </p:spPr>
        <p:txBody>
          <a:bodyPr wrap="square" rtlCol="0" anchor="ctr"/>
          <a:lstStyle/>
          <a:p>
            <a:pPr indent="0" marL="0">
              <a:buNone/>
            </a:pPr>
            <a:r>
              <a:rPr lang="en-US" sz="1050" dirty="0">
                <a:solidFill>
                  <a:srgbClr val="374151"/>
                </a:solidFill>
                <a:latin typeface="Calibri" pitchFamily="34" charset="0"/>
                <a:ea typeface="Calibri" pitchFamily="34" charset="-122"/>
                <a:cs typeface="Calibri" pitchFamily="34" charset="-120"/>
              </a:rPr>
              <a:t>Extended coverage; 7–14yr for digital crimes; criticized for vague provisions enabling abuse of press freedom</a:t>
            </a:r>
            <a:endParaRPr lang="en-US" sz="1050" dirty="0"/>
          </a:p>
        </p:txBody>
      </p:sp>
      <p:sp>
        <p:nvSpPr>
          <p:cNvPr id="17" name="Shape 15"/>
          <p:cNvSpPr/>
          <p:nvPr/>
        </p:nvSpPr>
        <p:spPr>
          <a:xfrm>
            <a:off x="502920" y="2889504"/>
            <a:ext cx="274320" cy="274320"/>
          </a:xfrm>
          <a:prstGeom prst="ellipse">
            <a:avLst/>
          </a:prstGeom>
          <a:solidFill>
            <a:srgbClr val="028090"/>
          </a:solidFill>
          <a:ln w="12700">
            <a:solidFill>
              <a:srgbClr val="028090"/>
            </a:solidFill>
            <a:prstDash val="solid"/>
          </a:ln>
        </p:spPr>
      </p:sp>
      <p:sp>
        <p:nvSpPr>
          <p:cNvPr id="18" name="Shape 16"/>
          <p:cNvSpPr/>
          <p:nvPr/>
        </p:nvSpPr>
        <p:spPr>
          <a:xfrm>
            <a:off x="640080" y="3163824"/>
            <a:ext cx="0" cy="548640"/>
          </a:xfrm>
          <a:prstGeom prst="line">
            <a:avLst/>
          </a:prstGeom>
          <a:noFill/>
          <a:ln w="19050">
            <a:solidFill>
              <a:srgbClr val="D1D5DB"/>
            </a:solidFill>
            <a:prstDash val="solid"/>
          </a:ln>
        </p:spPr>
      </p:sp>
      <p:sp>
        <p:nvSpPr>
          <p:cNvPr id="19" name="Shape 17"/>
          <p:cNvSpPr/>
          <p:nvPr/>
        </p:nvSpPr>
        <p:spPr>
          <a:xfrm>
            <a:off x="914400" y="2816352"/>
            <a:ext cx="685800" cy="274320"/>
          </a:xfrm>
          <a:prstGeom prst="rect">
            <a:avLst/>
          </a:prstGeom>
          <a:solidFill>
            <a:srgbClr val="1E2761"/>
          </a:solidFill>
          <a:ln w="12700">
            <a:solidFill>
              <a:srgbClr val="1E2761"/>
            </a:solidFill>
            <a:prstDash val="solid"/>
          </a:ln>
        </p:spPr>
      </p:sp>
      <p:sp>
        <p:nvSpPr>
          <p:cNvPr id="20" name="Text 18"/>
          <p:cNvSpPr/>
          <p:nvPr/>
        </p:nvSpPr>
        <p:spPr>
          <a:xfrm>
            <a:off x="914400" y="2852928"/>
            <a:ext cx="685800" cy="20116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2022</a:t>
            </a:r>
            <a:endParaRPr lang="en-US" sz="950" dirty="0"/>
          </a:p>
        </p:txBody>
      </p:sp>
      <p:sp>
        <p:nvSpPr>
          <p:cNvPr id="21" name="Text 19"/>
          <p:cNvSpPr/>
          <p:nvPr/>
        </p:nvSpPr>
        <p:spPr>
          <a:xfrm>
            <a:off x="1719072" y="2724912"/>
            <a:ext cx="2926080" cy="320040"/>
          </a:xfrm>
          <a:prstGeom prst="rect">
            <a:avLst/>
          </a:prstGeom>
          <a:noFill/>
          <a:ln/>
        </p:spPr>
        <p:txBody>
          <a:bodyPr wrap="square" rtlCol="0" anchor="ctr"/>
          <a:lstStyle/>
          <a:p>
            <a:pPr indent="0" marL="0">
              <a:buNone/>
            </a:pPr>
            <a:r>
              <a:rPr lang="en-US" sz="1250" b="1" dirty="0">
                <a:solidFill>
                  <a:srgbClr val="1E2761"/>
                </a:solidFill>
                <a:latin typeface="Cambria" pitchFamily="34" charset="0"/>
                <a:ea typeface="Cambria" pitchFamily="34" charset="-122"/>
                <a:cs typeface="Cambria" pitchFamily="34" charset="-120"/>
              </a:rPr>
              <a:t>Evidence Act Amendment</a:t>
            </a:r>
            <a:endParaRPr lang="en-US" sz="1250" dirty="0"/>
          </a:p>
        </p:txBody>
      </p:sp>
      <p:sp>
        <p:nvSpPr>
          <p:cNvPr id="22" name="Text 20"/>
          <p:cNvSpPr/>
          <p:nvPr/>
        </p:nvSpPr>
        <p:spPr>
          <a:xfrm>
            <a:off x="1719072" y="3044952"/>
            <a:ext cx="2926080" cy="548640"/>
          </a:xfrm>
          <a:prstGeom prst="rect">
            <a:avLst/>
          </a:prstGeom>
          <a:noFill/>
          <a:ln/>
        </p:spPr>
        <p:txBody>
          <a:bodyPr wrap="square" rtlCol="0" anchor="ctr"/>
          <a:lstStyle/>
          <a:p>
            <a:pPr indent="0" marL="0">
              <a:buNone/>
            </a:pPr>
            <a:r>
              <a:rPr lang="en-US" sz="1050" dirty="0">
                <a:solidFill>
                  <a:srgbClr val="374151"/>
                </a:solidFill>
                <a:latin typeface="Calibri" pitchFamily="34" charset="0"/>
                <a:ea typeface="Calibri" pitchFamily="34" charset="-122"/>
                <a:cs typeface="Calibri" pitchFamily="34" charset="-120"/>
              </a:rPr>
              <a:t>Updated evidentiary rules for electronic records; still lacks cloud-specific chain-of-custody requirements</a:t>
            </a:r>
            <a:endParaRPr lang="en-US" sz="1050" dirty="0"/>
          </a:p>
        </p:txBody>
      </p:sp>
      <p:sp>
        <p:nvSpPr>
          <p:cNvPr id="23" name="Shape 21"/>
          <p:cNvSpPr/>
          <p:nvPr/>
        </p:nvSpPr>
        <p:spPr>
          <a:xfrm>
            <a:off x="502920" y="3849624"/>
            <a:ext cx="274320" cy="274320"/>
          </a:xfrm>
          <a:prstGeom prst="ellipse">
            <a:avLst/>
          </a:prstGeom>
          <a:solidFill>
            <a:srgbClr val="028090"/>
          </a:solidFill>
          <a:ln w="12700">
            <a:solidFill>
              <a:srgbClr val="028090"/>
            </a:solidFill>
            <a:prstDash val="solid"/>
          </a:ln>
        </p:spPr>
      </p:sp>
      <p:sp>
        <p:nvSpPr>
          <p:cNvPr id="24" name="Shape 22"/>
          <p:cNvSpPr/>
          <p:nvPr/>
        </p:nvSpPr>
        <p:spPr>
          <a:xfrm>
            <a:off x="914400" y="3776472"/>
            <a:ext cx="685800" cy="274320"/>
          </a:xfrm>
          <a:prstGeom prst="rect">
            <a:avLst/>
          </a:prstGeom>
          <a:solidFill>
            <a:srgbClr val="1E2761"/>
          </a:solidFill>
          <a:ln w="12700">
            <a:solidFill>
              <a:srgbClr val="1E2761"/>
            </a:solidFill>
            <a:prstDash val="solid"/>
          </a:ln>
        </p:spPr>
      </p:sp>
      <p:sp>
        <p:nvSpPr>
          <p:cNvPr id="25" name="Text 23"/>
          <p:cNvSpPr/>
          <p:nvPr/>
        </p:nvSpPr>
        <p:spPr>
          <a:xfrm>
            <a:off x="914400" y="3813048"/>
            <a:ext cx="685800" cy="20116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2023</a:t>
            </a:r>
            <a:endParaRPr lang="en-US" sz="950" dirty="0"/>
          </a:p>
        </p:txBody>
      </p:sp>
      <p:sp>
        <p:nvSpPr>
          <p:cNvPr id="26" name="Text 24"/>
          <p:cNvSpPr/>
          <p:nvPr/>
        </p:nvSpPr>
        <p:spPr>
          <a:xfrm>
            <a:off x="1719072" y="3685032"/>
            <a:ext cx="2926080" cy="320040"/>
          </a:xfrm>
          <a:prstGeom prst="rect">
            <a:avLst/>
          </a:prstGeom>
          <a:noFill/>
          <a:ln/>
        </p:spPr>
        <p:txBody>
          <a:bodyPr wrap="square" rtlCol="0" anchor="ctr"/>
          <a:lstStyle/>
          <a:p>
            <a:pPr indent="0" marL="0">
              <a:buNone/>
            </a:pPr>
            <a:r>
              <a:rPr lang="en-US" sz="1250" b="1" dirty="0">
                <a:solidFill>
                  <a:srgbClr val="1E2761"/>
                </a:solidFill>
                <a:latin typeface="Cambria" pitchFamily="34" charset="0"/>
                <a:ea typeface="Cambria" pitchFamily="34" charset="-122"/>
                <a:cs typeface="Cambria" pitchFamily="34" charset="-120"/>
              </a:rPr>
              <a:t>Cyber Security Act (CSA)</a:t>
            </a:r>
            <a:endParaRPr lang="en-US" sz="1250" dirty="0"/>
          </a:p>
        </p:txBody>
      </p:sp>
      <p:sp>
        <p:nvSpPr>
          <p:cNvPr id="27" name="Text 25"/>
          <p:cNvSpPr/>
          <p:nvPr/>
        </p:nvSpPr>
        <p:spPr>
          <a:xfrm>
            <a:off x="1719072" y="4005072"/>
            <a:ext cx="2926080" cy="548640"/>
          </a:xfrm>
          <a:prstGeom prst="rect">
            <a:avLst/>
          </a:prstGeom>
          <a:noFill/>
          <a:ln/>
        </p:spPr>
        <p:txBody>
          <a:bodyPr wrap="square" rtlCol="0" anchor="ctr"/>
          <a:lstStyle/>
          <a:p>
            <a:pPr indent="0" marL="0">
              <a:buNone/>
            </a:pPr>
            <a:r>
              <a:rPr lang="en-US" sz="1050" dirty="0">
                <a:solidFill>
                  <a:srgbClr val="374151"/>
                </a:solidFill>
                <a:latin typeface="Calibri" pitchFamily="34" charset="0"/>
                <a:ea typeface="Calibri" pitchFamily="34" charset="-122"/>
                <a:cs typeface="Calibri" pitchFamily="34" charset="-120"/>
              </a:rPr>
              <a:t>Replaces DSA; establishes NCSA &amp; NCSC; Cyber Security Rules 2024 followed — but no cloud forensics procedurals</a:t>
            </a:r>
            <a:endParaRPr lang="en-US" sz="1050" dirty="0"/>
          </a:p>
        </p:txBody>
      </p:sp>
      <p:sp>
        <p:nvSpPr>
          <p:cNvPr id="28" name="Shape 26"/>
          <p:cNvSpPr/>
          <p:nvPr/>
        </p:nvSpPr>
        <p:spPr>
          <a:xfrm>
            <a:off x="4892040" y="804672"/>
            <a:ext cx="3931920" cy="4160520"/>
          </a:xfrm>
          <a:prstGeom prst="rect">
            <a:avLst/>
          </a:prstGeom>
          <a:solidFill>
            <a:srgbClr val="FFF8F8"/>
          </a:solidFill>
          <a:ln w="12700">
            <a:solidFill>
              <a:srgbClr val="C0392B"/>
            </a:solidFill>
            <a:prstDash val="solid"/>
          </a:ln>
        </p:spPr>
      </p:sp>
      <p:sp>
        <p:nvSpPr>
          <p:cNvPr id="29" name="Text 27"/>
          <p:cNvSpPr/>
          <p:nvPr/>
        </p:nvSpPr>
        <p:spPr>
          <a:xfrm>
            <a:off x="5029200" y="896112"/>
            <a:ext cx="3657600" cy="347472"/>
          </a:xfrm>
          <a:prstGeom prst="rect">
            <a:avLst/>
          </a:prstGeom>
          <a:noFill/>
          <a:ln/>
        </p:spPr>
        <p:txBody>
          <a:bodyPr wrap="square" rtlCol="0" anchor="ctr"/>
          <a:lstStyle/>
          <a:p>
            <a:pPr indent="0" marL="0">
              <a:buNone/>
            </a:pPr>
            <a:r>
              <a:rPr lang="en-US" sz="1300" b="1" dirty="0">
                <a:solidFill>
                  <a:srgbClr val="C0392B"/>
                </a:solidFill>
                <a:latin typeface="Cambria" pitchFamily="34" charset="0"/>
                <a:ea typeface="Cambria" pitchFamily="34" charset="-122"/>
                <a:cs typeface="Cambria" pitchFamily="34" charset="-120"/>
              </a:rPr>
              <a:t>⚠  Critical Gaps for Cloud Forensics</a:t>
            </a:r>
            <a:endParaRPr lang="en-US" sz="1300" dirty="0"/>
          </a:p>
        </p:txBody>
      </p:sp>
      <p:sp>
        <p:nvSpPr>
          <p:cNvPr id="30" name="Shape 28"/>
          <p:cNvSpPr/>
          <p:nvPr/>
        </p:nvSpPr>
        <p:spPr>
          <a:xfrm>
            <a:off x="5029200" y="1261872"/>
            <a:ext cx="3657600" cy="18288"/>
          </a:xfrm>
          <a:prstGeom prst="rect">
            <a:avLst/>
          </a:prstGeom>
          <a:solidFill>
            <a:srgbClr val="FCA5A5"/>
          </a:solidFill>
          <a:ln w="12700">
            <a:solidFill>
              <a:srgbClr val="FCA5A5"/>
            </a:solidFill>
            <a:prstDash val="solid"/>
          </a:ln>
        </p:spPr>
      </p:sp>
      <p:sp>
        <p:nvSpPr>
          <p:cNvPr id="31" name="Text 29"/>
          <p:cNvSpPr/>
          <p:nvPr/>
        </p:nvSpPr>
        <p:spPr>
          <a:xfrm>
            <a:off x="5029200" y="1353312"/>
            <a:ext cx="3657600" cy="402336"/>
          </a:xfrm>
          <a:prstGeom prst="rect">
            <a:avLst/>
          </a:prstGeom>
          <a:noFill/>
          <a:ln/>
        </p:spPr>
        <p:txBody>
          <a:bodyPr wrap="square" rtlCol="0" anchor="ctr"/>
          <a:lstStyle/>
          <a:p>
            <a:pPr indent="0" marL="0">
              <a:buNone/>
            </a:pPr>
            <a:r>
              <a:rPr lang="en-US" sz="1000" dirty="0">
                <a:solidFill>
                  <a:srgbClr val="7F1D1D"/>
                </a:solidFill>
                <a:latin typeface="Calibri" pitchFamily="34" charset="0"/>
                <a:ea typeface="Calibri" pitchFamily="34" charset="-122"/>
                <a:cs typeface="Calibri" pitchFamily="34" charset="-120"/>
              </a:rPr>
              <a:t>1. No statutory definition of "cloud evidence" in any BD legislation</a:t>
            </a:r>
            <a:endParaRPr lang="en-US" sz="1000" dirty="0"/>
          </a:p>
        </p:txBody>
      </p:sp>
      <p:sp>
        <p:nvSpPr>
          <p:cNvPr id="32" name="Text 30"/>
          <p:cNvSpPr/>
          <p:nvPr/>
        </p:nvSpPr>
        <p:spPr>
          <a:xfrm>
            <a:off x="5029200" y="1792224"/>
            <a:ext cx="3657600" cy="402336"/>
          </a:xfrm>
          <a:prstGeom prst="rect">
            <a:avLst/>
          </a:prstGeom>
          <a:noFill/>
          <a:ln/>
        </p:spPr>
        <p:txBody>
          <a:bodyPr wrap="square" rtlCol="0" anchor="ctr"/>
          <a:lstStyle/>
          <a:p>
            <a:pPr indent="0" marL="0">
              <a:buNone/>
            </a:pPr>
            <a:r>
              <a:rPr lang="en-US" sz="1000" dirty="0">
                <a:solidFill>
                  <a:srgbClr val="7F1D1D"/>
                </a:solidFill>
                <a:latin typeface="Calibri" pitchFamily="34" charset="0"/>
                <a:ea typeface="Calibri" pitchFamily="34" charset="-122"/>
                <a:cs typeface="Calibri" pitchFamily="34" charset="-120"/>
              </a:rPr>
              <a:t>2. CSP access and cooperation not mandated by law</a:t>
            </a:r>
            <a:endParaRPr lang="en-US" sz="1000" dirty="0"/>
          </a:p>
        </p:txBody>
      </p:sp>
      <p:sp>
        <p:nvSpPr>
          <p:cNvPr id="33" name="Text 31"/>
          <p:cNvSpPr/>
          <p:nvPr/>
        </p:nvSpPr>
        <p:spPr>
          <a:xfrm>
            <a:off x="5029200" y="2231136"/>
            <a:ext cx="3657600" cy="402336"/>
          </a:xfrm>
          <a:prstGeom prst="rect">
            <a:avLst/>
          </a:prstGeom>
          <a:noFill/>
          <a:ln/>
        </p:spPr>
        <p:txBody>
          <a:bodyPr wrap="square" rtlCol="0" anchor="ctr"/>
          <a:lstStyle/>
          <a:p>
            <a:pPr indent="0" marL="0">
              <a:buNone/>
            </a:pPr>
            <a:r>
              <a:rPr lang="en-US" sz="1000" dirty="0">
                <a:solidFill>
                  <a:srgbClr val="7F1D1D"/>
                </a:solidFill>
                <a:latin typeface="Calibri" pitchFamily="34" charset="0"/>
                <a:ea typeface="Calibri" pitchFamily="34" charset="-122"/>
                <a:cs typeface="Calibri" pitchFamily="34" charset="-120"/>
              </a:rPr>
              <a:t>3. No legally recognized chain-of-custody protocol for cloud-stored data</a:t>
            </a:r>
            <a:endParaRPr lang="en-US" sz="1000" dirty="0"/>
          </a:p>
        </p:txBody>
      </p:sp>
      <p:sp>
        <p:nvSpPr>
          <p:cNvPr id="34" name="Text 32"/>
          <p:cNvSpPr/>
          <p:nvPr/>
        </p:nvSpPr>
        <p:spPr>
          <a:xfrm>
            <a:off x="5029200" y="2670048"/>
            <a:ext cx="3657600" cy="402336"/>
          </a:xfrm>
          <a:prstGeom prst="rect">
            <a:avLst/>
          </a:prstGeom>
          <a:noFill/>
          <a:ln/>
        </p:spPr>
        <p:txBody>
          <a:bodyPr wrap="square" rtlCol="0" anchor="ctr"/>
          <a:lstStyle/>
          <a:p>
            <a:pPr indent="0" marL="0">
              <a:buNone/>
            </a:pPr>
            <a:r>
              <a:rPr lang="en-US" sz="1000" dirty="0">
                <a:solidFill>
                  <a:srgbClr val="7F1D1D"/>
                </a:solidFill>
                <a:latin typeface="Calibri" pitchFamily="34" charset="0"/>
                <a:ea typeface="Calibri" pitchFamily="34" charset="-122"/>
                <a:cs typeface="Calibri" pitchFamily="34" charset="-120"/>
              </a:rPr>
              <a:t>4. Mutual Legal Assistance (MLAT) treaties absent with major cloud-hosting nations</a:t>
            </a:r>
            <a:endParaRPr lang="en-US" sz="1000" dirty="0"/>
          </a:p>
        </p:txBody>
      </p:sp>
      <p:sp>
        <p:nvSpPr>
          <p:cNvPr id="35" name="Text 33"/>
          <p:cNvSpPr/>
          <p:nvPr/>
        </p:nvSpPr>
        <p:spPr>
          <a:xfrm>
            <a:off x="5029200" y="3108960"/>
            <a:ext cx="3657600" cy="402336"/>
          </a:xfrm>
          <a:prstGeom prst="rect">
            <a:avLst/>
          </a:prstGeom>
          <a:noFill/>
          <a:ln/>
        </p:spPr>
        <p:txBody>
          <a:bodyPr wrap="square" rtlCol="0" anchor="ctr"/>
          <a:lstStyle/>
          <a:p>
            <a:pPr indent="0" marL="0">
              <a:buNone/>
            </a:pPr>
            <a:r>
              <a:rPr lang="en-US" sz="1000" dirty="0">
                <a:solidFill>
                  <a:srgbClr val="7F1D1D"/>
                </a:solidFill>
                <a:latin typeface="Calibri" pitchFamily="34" charset="0"/>
                <a:ea typeface="Calibri" pitchFamily="34" charset="-122"/>
                <a:cs typeface="Calibri" pitchFamily="34" charset="-120"/>
              </a:rPr>
              <a:t>5. Judges lack required tech training — ICT Act Section 82 immunity may block investigation</a:t>
            </a:r>
            <a:endParaRPr lang="en-US" sz="1000" dirty="0"/>
          </a:p>
        </p:txBody>
      </p:sp>
      <p:sp>
        <p:nvSpPr>
          <p:cNvPr id="36" name="Text 34"/>
          <p:cNvSpPr/>
          <p:nvPr/>
        </p:nvSpPr>
        <p:spPr>
          <a:xfrm>
            <a:off x="5029200" y="3547872"/>
            <a:ext cx="3657600" cy="402336"/>
          </a:xfrm>
          <a:prstGeom prst="rect">
            <a:avLst/>
          </a:prstGeom>
          <a:noFill/>
          <a:ln/>
        </p:spPr>
        <p:txBody>
          <a:bodyPr wrap="square" rtlCol="0" anchor="ctr"/>
          <a:lstStyle/>
          <a:p>
            <a:pPr indent="0" marL="0">
              <a:buNone/>
            </a:pPr>
            <a:r>
              <a:rPr lang="en-US" sz="1000" dirty="0">
                <a:solidFill>
                  <a:srgbClr val="7F1D1D"/>
                </a:solidFill>
                <a:latin typeface="Calibri" pitchFamily="34" charset="0"/>
                <a:ea typeface="Calibri" pitchFamily="34" charset="-122"/>
                <a:cs typeface="Calibri" pitchFamily="34" charset="-120"/>
              </a:rPr>
              <a:t>6. Cybercrime conviction rate remains low due to inadmissible digital evidence</a:t>
            </a:r>
            <a:endParaRPr lang="en-US" sz="1000" dirty="0"/>
          </a:p>
        </p:txBody>
      </p:sp>
      <p:sp>
        <p:nvSpPr>
          <p:cNvPr id="37" name="Text 35"/>
          <p:cNvSpPr/>
          <p:nvPr/>
        </p:nvSpPr>
        <p:spPr>
          <a:xfrm>
            <a:off x="5029200" y="3986784"/>
            <a:ext cx="3657600" cy="402336"/>
          </a:xfrm>
          <a:prstGeom prst="rect">
            <a:avLst/>
          </a:prstGeom>
          <a:noFill/>
          <a:ln/>
        </p:spPr>
        <p:txBody>
          <a:bodyPr wrap="square" rtlCol="0" anchor="ctr"/>
          <a:lstStyle/>
          <a:p>
            <a:pPr indent="0" marL="0">
              <a:buNone/>
            </a:pPr>
            <a:r>
              <a:rPr lang="en-US" sz="1000" dirty="0">
                <a:solidFill>
                  <a:srgbClr val="7F1D1D"/>
                </a:solidFill>
                <a:latin typeface="Calibri" pitchFamily="34" charset="0"/>
                <a:ea typeface="Calibri" pitchFamily="34" charset="-122"/>
                <a:cs typeface="Calibri" pitchFamily="34" charset="-120"/>
              </a:rPr>
              <a:t>7. CID forensic labs not equipped for cloud memory or container forensics</a:t>
            </a:r>
            <a:endParaRPr lang="en-US" sz="1000" dirty="0"/>
          </a:p>
        </p:txBody>
      </p:sp>
      <p:sp>
        <p:nvSpPr>
          <p:cNvPr id="38" name="Text 36"/>
          <p:cNvSpPr/>
          <p:nvPr/>
        </p:nvSpPr>
        <p:spPr>
          <a:xfrm>
            <a:off x="5029200" y="4425696"/>
            <a:ext cx="3657600" cy="402336"/>
          </a:xfrm>
          <a:prstGeom prst="rect">
            <a:avLst/>
          </a:prstGeom>
          <a:noFill/>
          <a:ln/>
        </p:spPr>
        <p:txBody>
          <a:bodyPr wrap="square" rtlCol="0" anchor="ctr"/>
          <a:lstStyle/>
          <a:p>
            <a:pPr indent="0" marL="0">
              <a:buNone/>
            </a:pPr>
            <a:r>
              <a:rPr lang="en-US" sz="1000" dirty="0">
                <a:solidFill>
                  <a:srgbClr val="7F1D1D"/>
                </a:solidFill>
                <a:latin typeface="Calibri" pitchFamily="34" charset="0"/>
                <a:ea typeface="Calibri" pitchFamily="34" charset="-122"/>
                <a:cs typeface="Calibri" pitchFamily="34" charset="-120"/>
              </a:rPr>
              <a:t>8. No Digital Forensics Act equivalent to India's IT Act Amendments (2008)</a:t>
            </a:r>
            <a:endParaRPr lang="en-US" sz="1000" dirty="0"/>
          </a:p>
        </p:txBody>
      </p:sp>
      <p:sp>
        <p:nvSpPr>
          <p:cNvPr id="39" name="Shape 37"/>
          <p:cNvSpPr/>
          <p:nvPr/>
        </p:nvSpPr>
        <p:spPr>
          <a:xfrm>
            <a:off x="0" y="5074920"/>
            <a:ext cx="9144000" cy="64008"/>
          </a:xfrm>
          <a:prstGeom prst="rect">
            <a:avLst/>
          </a:prstGeom>
          <a:solidFill>
            <a:srgbClr val="1E2761"/>
          </a:solidFill>
          <a:ln w="12700">
            <a:solidFill>
              <a:srgbClr val="1E2761"/>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28090"/>
          </a:solidFill>
          <a:ln w="12700">
            <a:solidFill>
              <a:srgbClr val="028090"/>
            </a:solidFill>
            <a:prstDash val="solid"/>
          </a:ln>
        </p:spPr>
      </p:sp>
      <p:sp>
        <p:nvSpPr>
          <p:cNvPr id="3" name="Text 1"/>
          <p:cNvSpPr/>
          <p:nvPr/>
        </p:nvSpPr>
        <p:spPr>
          <a:xfrm>
            <a:off x="365760" y="137160"/>
            <a:ext cx="8412480" cy="548640"/>
          </a:xfrm>
          <a:prstGeom prst="rect">
            <a:avLst/>
          </a:prstGeom>
          <a:noFill/>
          <a:ln/>
        </p:spPr>
        <p:txBody>
          <a:bodyPr wrap="square"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Framework Gap Analysis: Global Standards vs. Bangladesh Reality</a:t>
            </a:r>
            <a:endParaRPr lang="en-US" sz="2200" dirty="0"/>
          </a:p>
        </p:txBody>
      </p:sp>
      <p:sp>
        <p:nvSpPr>
          <p:cNvPr id="4" name="Shape 2"/>
          <p:cNvSpPr/>
          <p:nvPr/>
        </p:nvSpPr>
        <p:spPr>
          <a:xfrm>
            <a:off x="365760" y="658368"/>
            <a:ext cx="3657600" cy="36576"/>
          </a:xfrm>
          <a:prstGeom prst="rect">
            <a:avLst/>
          </a:prstGeom>
          <a:solidFill>
            <a:srgbClr val="028090"/>
          </a:solidFill>
          <a:ln w="12700">
            <a:solidFill>
              <a:srgbClr val="028090"/>
            </a:solidFill>
            <a:prstDash val="solid"/>
          </a:ln>
        </p:spPr>
      </p:sp>
      <p:sp>
        <p:nvSpPr>
          <p:cNvPr id="5" name="Shape 3"/>
          <p:cNvSpPr/>
          <p:nvPr/>
        </p:nvSpPr>
        <p:spPr>
          <a:xfrm>
            <a:off x="274320" y="777240"/>
            <a:ext cx="8595360" cy="347472"/>
          </a:xfrm>
          <a:prstGeom prst="rect">
            <a:avLst/>
          </a:prstGeom>
          <a:solidFill>
            <a:srgbClr val="1E2761"/>
          </a:solidFill>
          <a:ln w="12700">
            <a:solidFill>
              <a:srgbClr val="1E2761"/>
            </a:solidFill>
            <a:prstDash val="solid"/>
          </a:ln>
        </p:spPr>
      </p:sp>
      <p:sp>
        <p:nvSpPr>
          <p:cNvPr id="6" name="Text 4"/>
          <p:cNvSpPr/>
          <p:nvPr/>
        </p:nvSpPr>
        <p:spPr>
          <a:xfrm>
            <a:off x="365760" y="832104"/>
            <a:ext cx="1645920" cy="237744"/>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Framework</a:t>
            </a:r>
            <a:endParaRPr lang="en-US" sz="1000" dirty="0"/>
          </a:p>
        </p:txBody>
      </p:sp>
      <p:sp>
        <p:nvSpPr>
          <p:cNvPr id="7" name="Text 5"/>
          <p:cNvSpPr/>
          <p:nvPr/>
        </p:nvSpPr>
        <p:spPr>
          <a:xfrm>
            <a:off x="2057400" y="832104"/>
            <a:ext cx="1371600" cy="237744"/>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BD Coverage %</a:t>
            </a:r>
            <a:endParaRPr lang="en-US" sz="1000" dirty="0"/>
          </a:p>
        </p:txBody>
      </p:sp>
      <p:sp>
        <p:nvSpPr>
          <p:cNvPr id="8" name="Text 6"/>
          <p:cNvSpPr/>
          <p:nvPr/>
        </p:nvSpPr>
        <p:spPr>
          <a:xfrm>
            <a:off x="3520440" y="832104"/>
            <a:ext cx="2560320" cy="237744"/>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Scope</a:t>
            </a:r>
            <a:endParaRPr lang="en-US" sz="1000" dirty="0"/>
          </a:p>
        </p:txBody>
      </p:sp>
      <p:sp>
        <p:nvSpPr>
          <p:cNvPr id="9" name="Text 7"/>
          <p:cNvSpPr/>
          <p:nvPr/>
        </p:nvSpPr>
        <p:spPr>
          <a:xfrm>
            <a:off x="6126480" y="832104"/>
            <a:ext cx="2651760" cy="237744"/>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Key BD Gap</a:t>
            </a:r>
            <a:endParaRPr lang="en-US" sz="1000" dirty="0"/>
          </a:p>
        </p:txBody>
      </p:sp>
      <p:sp>
        <p:nvSpPr>
          <p:cNvPr id="10" name="Shape 8"/>
          <p:cNvSpPr/>
          <p:nvPr/>
        </p:nvSpPr>
        <p:spPr>
          <a:xfrm>
            <a:off x="274320" y="1143000"/>
            <a:ext cx="8595360" cy="841248"/>
          </a:xfrm>
          <a:prstGeom prst="rect">
            <a:avLst/>
          </a:prstGeom>
          <a:solidFill>
            <a:srgbClr val="F4F7FB"/>
          </a:solidFill>
          <a:ln w="12700">
            <a:solidFill>
              <a:srgbClr val="E5E7EB"/>
            </a:solidFill>
            <a:prstDash val="solid"/>
          </a:ln>
        </p:spPr>
      </p:sp>
      <p:sp>
        <p:nvSpPr>
          <p:cNvPr id="11" name="Text 9"/>
          <p:cNvSpPr/>
          <p:nvPr/>
        </p:nvSpPr>
        <p:spPr>
          <a:xfrm>
            <a:off x="365760" y="1188720"/>
            <a:ext cx="1645920" cy="731520"/>
          </a:xfrm>
          <a:prstGeom prst="rect">
            <a:avLst/>
          </a:prstGeom>
          <a:noFill/>
          <a:ln/>
        </p:spPr>
        <p:txBody>
          <a:bodyPr wrap="square"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NIST SP 800-86</a:t>
            </a:r>
            <a:endParaRPr lang="en-US" sz="1100" dirty="0"/>
          </a:p>
        </p:txBody>
      </p:sp>
      <p:sp>
        <p:nvSpPr>
          <p:cNvPr id="12" name="Shape 10"/>
          <p:cNvSpPr/>
          <p:nvPr/>
        </p:nvSpPr>
        <p:spPr>
          <a:xfrm>
            <a:off x="2057400" y="1399032"/>
            <a:ext cx="1188720" cy="228600"/>
          </a:xfrm>
          <a:prstGeom prst="rect">
            <a:avLst/>
          </a:prstGeom>
          <a:solidFill>
            <a:srgbClr val="E5E7EB"/>
          </a:solidFill>
          <a:ln w="12700">
            <a:solidFill>
              <a:srgbClr val="D1D5DB"/>
            </a:solidFill>
            <a:prstDash val="solid"/>
          </a:ln>
        </p:spPr>
      </p:sp>
      <p:sp>
        <p:nvSpPr>
          <p:cNvPr id="13" name="Shape 11"/>
          <p:cNvSpPr/>
          <p:nvPr/>
        </p:nvSpPr>
        <p:spPr>
          <a:xfrm>
            <a:off x="2057400" y="1399032"/>
            <a:ext cx="546811" cy="228600"/>
          </a:xfrm>
          <a:prstGeom prst="rect">
            <a:avLst/>
          </a:prstGeom>
          <a:solidFill>
            <a:srgbClr val="F59E0B"/>
          </a:solidFill>
          <a:ln w="12700">
            <a:solidFill>
              <a:srgbClr val="F59E0B"/>
            </a:solidFill>
            <a:prstDash val="solid"/>
          </a:ln>
        </p:spPr>
      </p:sp>
      <p:sp>
        <p:nvSpPr>
          <p:cNvPr id="14" name="Text 12"/>
          <p:cNvSpPr/>
          <p:nvPr/>
        </p:nvSpPr>
        <p:spPr>
          <a:xfrm>
            <a:off x="2057400" y="1673352"/>
            <a:ext cx="1280160" cy="228600"/>
          </a:xfrm>
          <a:prstGeom prst="rect">
            <a:avLst/>
          </a:prstGeom>
          <a:noFill/>
          <a:ln/>
        </p:spPr>
        <p:txBody>
          <a:bodyPr wrap="square" rtlCol="0" anchor="ctr"/>
          <a:lstStyle/>
          <a:p>
            <a:pPr algn="ctr" indent="0" marL="0">
              <a:buNone/>
            </a:pPr>
            <a:r>
              <a:rPr lang="en-US" sz="1000" b="1" dirty="0">
                <a:solidFill>
                  <a:srgbClr val="F59E0B"/>
                </a:solidFill>
                <a:latin typeface="Calibri" pitchFamily="34" charset="0"/>
                <a:ea typeface="Calibri" pitchFamily="34" charset="-122"/>
                <a:cs typeface="Calibri" pitchFamily="34" charset="-120"/>
              </a:rPr>
              <a:t>46%</a:t>
            </a:r>
            <a:endParaRPr lang="en-US" sz="1000" dirty="0"/>
          </a:p>
        </p:txBody>
      </p:sp>
      <p:sp>
        <p:nvSpPr>
          <p:cNvPr id="15" name="Text 13"/>
          <p:cNvSpPr/>
          <p:nvPr/>
        </p:nvSpPr>
        <p:spPr>
          <a:xfrm>
            <a:off x="3520440" y="1216152"/>
            <a:ext cx="2542032" cy="713232"/>
          </a:xfrm>
          <a:prstGeom prst="rect">
            <a:avLst/>
          </a:prstGeom>
          <a:noFill/>
          <a:ln/>
        </p:spPr>
        <p:txBody>
          <a:bodyPr wrap="square" rtlCol="0" anchor="ctr"/>
          <a:lstStyle/>
          <a:p>
            <a:pPr indent="0" marL="0">
              <a:buNone/>
            </a:pPr>
            <a:r>
              <a:rPr lang="en-US" sz="950" dirty="0">
                <a:solidFill>
                  <a:srgbClr val="374151"/>
                </a:solidFill>
                <a:latin typeface="Calibri" pitchFamily="34" charset="0"/>
                <a:ea typeface="Calibri" pitchFamily="34" charset="-122"/>
                <a:cs typeface="Calibri" pitchFamily="34" charset="-120"/>
              </a:rPr>
              <a:t>General digital forensics; 4-phase model (Collection, Examination, Analysis, Reporting)</a:t>
            </a:r>
            <a:endParaRPr lang="en-US" sz="950" dirty="0"/>
          </a:p>
        </p:txBody>
      </p:sp>
      <p:sp>
        <p:nvSpPr>
          <p:cNvPr id="16" name="Text 14"/>
          <p:cNvSpPr/>
          <p:nvPr/>
        </p:nvSpPr>
        <p:spPr>
          <a:xfrm>
            <a:off x="6126480" y="1216152"/>
            <a:ext cx="2606040" cy="713232"/>
          </a:xfrm>
          <a:prstGeom prst="rect">
            <a:avLst/>
          </a:prstGeom>
          <a:noFill/>
          <a:ln/>
        </p:spPr>
        <p:txBody>
          <a:bodyPr wrap="square" rtlCol="0" anchor="ctr"/>
          <a:lstStyle/>
          <a:p>
            <a:pPr indent="0" marL="0">
              <a:buNone/>
            </a:pPr>
            <a:r>
              <a:rPr lang="en-US" sz="950" dirty="0">
                <a:solidFill>
                  <a:srgbClr val="C0392B"/>
                </a:solidFill>
                <a:latin typeface="Calibri" pitchFamily="34" charset="0"/>
                <a:ea typeface="Calibri" pitchFamily="34" charset="-122"/>
                <a:cs typeface="Calibri" pitchFamily="34" charset="-120"/>
              </a:rPr>
              <a:t>No cloud-native guidance; 54.9% coverage gap (Ibrahim et al., 2026)</a:t>
            </a:r>
            <a:endParaRPr lang="en-US" sz="950" dirty="0"/>
          </a:p>
        </p:txBody>
      </p:sp>
      <p:sp>
        <p:nvSpPr>
          <p:cNvPr id="17" name="Shape 15"/>
          <p:cNvSpPr/>
          <p:nvPr/>
        </p:nvSpPr>
        <p:spPr>
          <a:xfrm>
            <a:off x="274320" y="2057400"/>
            <a:ext cx="8595360" cy="841248"/>
          </a:xfrm>
          <a:prstGeom prst="rect">
            <a:avLst/>
          </a:prstGeom>
          <a:solidFill>
            <a:srgbClr val="FFFFFF"/>
          </a:solidFill>
          <a:ln w="12700">
            <a:solidFill>
              <a:srgbClr val="E5E7EB"/>
            </a:solidFill>
            <a:prstDash val="solid"/>
          </a:ln>
        </p:spPr>
      </p:sp>
      <p:sp>
        <p:nvSpPr>
          <p:cNvPr id="18" name="Text 16"/>
          <p:cNvSpPr/>
          <p:nvPr/>
        </p:nvSpPr>
        <p:spPr>
          <a:xfrm>
            <a:off x="365760" y="2103120"/>
            <a:ext cx="1645920" cy="731520"/>
          </a:xfrm>
          <a:prstGeom prst="rect">
            <a:avLst/>
          </a:prstGeom>
          <a:noFill/>
          <a:ln/>
        </p:spPr>
        <p:txBody>
          <a:bodyPr wrap="square"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ISO/IEC 27037</a:t>
            </a:r>
            <a:endParaRPr lang="en-US" sz="1100" dirty="0"/>
          </a:p>
        </p:txBody>
      </p:sp>
      <p:sp>
        <p:nvSpPr>
          <p:cNvPr id="19" name="Shape 17"/>
          <p:cNvSpPr/>
          <p:nvPr/>
        </p:nvSpPr>
        <p:spPr>
          <a:xfrm>
            <a:off x="2057400" y="2313432"/>
            <a:ext cx="1188720" cy="228600"/>
          </a:xfrm>
          <a:prstGeom prst="rect">
            <a:avLst/>
          </a:prstGeom>
          <a:solidFill>
            <a:srgbClr val="E5E7EB"/>
          </a:solidFill>
          <a:ln w="12700">
            <a:solidFill>
              <a:srgbClr val="D1D5DB"/>
            </a:solidFill>
            <a:prstDash val="solid"/>
          </a:ln>
        </p:spPr>
      </p:sp>
      <p:sp>
        <p:nvSpPr>
          <p:cNvPr id="20" name="Shape 18"/>
          <p:cNvSpPr/>
          <p:nvPr/>
        </p:nvSpPr>
        <p:spPr>
          <a:xfrm>
            <a:off x="2057400" y="2313432"/>
            <a:ext cx="618134" cy="228600"/>
          </a:xfrm>
          <a:prstGeom prst="rect">
            <a:avLst/>
          </a:prstGeom>
          <a:solidFill>
            <a:srgbClr val="22C55E"/>
          </a:solidFill>
          <a:ln w="12700">
            <a:solidFill>
              <a:srgbClr val="22C55E"/>
            </a:solidFill>
            <a:prstDash val="solid"/>
          </a:ln>
        </p:spPr>
      </p:sp>
      <p:sp>
        <p:nvSpPr>
          <p:cNvPr id="21" name="Text 19"/>
          <p:cNvSpPr/>
          <p:nvPr/>
        </p:nvSpPr>
        <p:spPr>
          <a:xfrm>
            <a:off x="2057400" y="2587752"/>
            <a:ext cx="1280160" cy="228600"/>
          </a:xfrm>
          <a:prstGeom prst="rect">
            <a:avLst/>
          </a:prstGeom>
          <a:noFill/>
          <a:ln/>
        </p:spPr>
        <p:txBody>
          <a:bodyPr wrap="square" rtlCol="0" anchor="ctr"/>
          <a:lstStyle/>
          <a:p>
            <a:pPr algn="ctr" indent="0" marL="0">
              <a:buNone/>
            </a:pPr>
            <a:r>
              <a:rPr lang="en-US" sz="1000" b="1" dirty="0">
                <a:solidFill>
                  <a:srgbClr val="22C55E"/>
                </a:solidFill>
                <a:latin typeface="Calibri" pitchFamily="34" charset="0"/>
                <a:ea typeface="Calibri" pitchFamily="34" charset="-122"/>
                <a:cs typeface="Calibri" pitchFamily="34" charset="-120"/>
              </a:rPr>
              <a:t>52%</a:t>
            </a:r>
            <a:endParaRPr lang="en-US" sz="1000" dirty="0"/>
          </a:p>
        </p:txBody>
      </p:sp>
      <p:sp>
        <p:nvSpPr>
          <p:cNvPr id="22" name="Text 20"/>
          <p:cNvSpPr/>
          <p:nvPr/>
        </p:nvSpPr>
        <p:spPr>
          <a:xfrm>
            <a:off x="3520440" y="2130552"/>
            <a:ext cx="2542032" cy="713232"/>
          </a:xfrm>
          <a:prstGeom prst="rect">
            <a:avLst/>
          </a:prstGeom>
          <a:noFill/>
          <a:ln/>
        </p:spPr>
        <p:txBody>
          <a:bodyPr wrap="square" rtlCol="0" anchor="ctr"/>
          <a:lstStyle/>
          <a:p>
            <a:pPr indent="0" marL="0">
              <a:buNone/>
            </a:pPr>
            <a:r>
              <a:rPr lang="en-US" sz="950" dirty="0">
                <a:solidFill>
                  <a:srgbClr val="374151"/>
                </a:solidFill>
                <a:latin typeface="Calibri" pitchFamily="34" charset="0"/>
                <a:ea typeface="Calibri" pitchFamily="34" charset="-122"/>
                <a:cs typeface="Calibri" pitchFamily="34" charset="-120"/>
              </a:rPr>
              <a:t>Evidence identification, collection, acquisition, preservation internationally</a:t>
            </a:r>
            <a:endParaRPr lang="en-US" sz="950" dirty="0"/>
          </a:p>
        </p:txBody>
      </p:sp>
      <p:sp>
        <p:nvSpPr>
          <p:cNvPr id="23" name="Text 21"/>
          <p:cNvSpPr/>
          <p:nvPr/>
        </p:nvSpPr>
        <p:spPr>
          <a:xfrm>
            <a:off x="6126480" y="2130552"/>
            <a:ext cx="2606040" cy="713232"/>
          </a:xfrm>
          <a:prstGeom prst="rect">
            <a:avLst/>
          </a:prstGeom>
          <a:noFill/>
          <a:ln/>
        </p:spPr>
        <p:txBody>
          <a:bodyPr wrap="square" rtlCol="0" anchor="ctr"/>
          <a:lstStyle/>
          <a:p>
            <a:pPr indent="0" marL="0">
              <a:buNone/>
            </a:pPr>
            <a:r>
              <a:rPr lang="en-US" sz="950" dirty="0">
                <a:solidFill>
                  <a:srgbClr val="C0392B"/>
                </a:solidFill>
                <a:latin typeface="Calibri" pitchFamily="34" charset="0"/>
                <a:ea typeface="Calibri" pitchFamily="34" charset="-122"/>
                <a:cs typeface="Calibri" pitchFamily="34" charset="-120"/>
              </a:rPr>
              <a:t>No cloud-service-model specifics; not legally binding in Bangladesh</a:t>
            </a:r>
            <a:endParaRPr lang="en-US" sz="950" dirty="0"/>
          </a:p>
        </p:txBody>
      </p:sp>
      <p:sp>
        <p:nvSpPr>
          <p:cNvPr id="24" name="Shape 22"/>
          <p:cNvSpPr/>
          <p:nvPr/>
        </p:nvSpPr>
        <p:spPr>
          <a:xfrm>
            <a:off x="274320" y="2971800"/>
            <a:ext cx="8595360" cy="841248"/>
          </a:xfrm>
          <a:prstGeom prst="rect">
            <a:avLst/>
          </a:prstGeom>
          <a:solidFill>
            <a:srgbClr val="F4F7FB"/>
          </a:solidFill>
          <a:ln w="12700">
            <a:solidFill>
              <a:srgbClr val="E5E7EB"/>
            </a:solidFill>
            <a:prstDash val="solid"/>
          </a:ln>
        </p:spPr>
      </p:sp>
      <p:sp>
        <p:nvSpPr>
          <p:cNvPr id="25" name="Text 23"/>
          <p:cNvSpPr/>
          <p:nvPr/>
        </p:nvSpPr>
        <p:spPr>
          <a:xfrm>
            <a:off x="365760" y="3017520"/>
            <a:ext cx="1645920" cy="731520"/>
          </a:xfrm>
          <a:prstGeom prst="rect">
            <a:avLst/>
          </a:prstGeom>
          <a:noFill/>
          <a:ln/>
        </p:spPr>
        <p:txBody>
          <a:bodyPr wrap="square"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CLASS Framework</a:t>
            </a:r>
            <a:endParaRPr lang="en-US" sz="1100" dirty="0"/>
          </a:p>
        </p:txBody>
      </p:sp>
      <p:sp>
        <p:nvSpPr>
          <p:cNvPr id="26" name="Shape 24"/>
          <p:cNvSpPr/>
          <p:nvPr/>
        </p:nvSpPr>
        <p:spPr>
          <a:xfrm>
            <a:off x="2057400" y="3227832"/>
            <a:ext cx="1188720" cy="228600"/>
          </a:xfrm>
          <a:prstGeom prst="rect">
            <a:avLst/>
          </a:prstGeom>
          <a:solidFill>
            <a:srgbClr val="E5E7EB"/>
          </a:solidFill>
          <a:ln w="12700">
            <a:solidFill>
              <a:srgbClr val="D1D5DB"/>
            </a:solidFill>
            <a:prstDash val="solid"/>
          </a:ln>
        </p:spPr>
      </p:sp>
      <p:sp>
        <p:nvSpPr>
          <p:cNvPr id="27" name="Shape 25"/>
          <p:cNvSpPr/>
          <p:nvPr/>
        </p:nvSpPr>
        <p:spPr>
          <a:xfrm>
            <a:off x="2057400" y="3227832"/>
            <a:ext cx="451714" cy="228600"/>
          </a:xfrm>
          <a:prstGeom prst="rect">
            <a:avLst/>
          </a:prstGeom>
          <a:solidFill>
            <a:srgbClr val="C0392B"/>
          </a:solidFill>
          <a:ln w="12700">
            <a:solidFill>
              <a:srgbClr val="C0392B"/>
            </a:solidFill>
            <a:prstDash val="solid"/>
          </a:ln>
        </p:spPr>
      </p:sp>
      <p:sp>
        <p:nvSpPr>
          <p:cNvPr id="28" name="Text 26"/>
          <p:cNvSpPr/>
          <p:nvPr/>
        </p:nvSpPr>
        <p:spPr>
          <a:xfrm>
            <a:off x="2057400" y="3502152"/>
            <a:ext cx="1280160" cy="228600"/>
          </a:xfrm>
          <a:prstGeom prst="rect">
            <a:avLst/>
          </a:prstGeom>
          <a:noFill/>
          <a:ln/>
        </p:spPr>
        <p:txBody>
          <a:bodyPr wrap="square" rtlCol="0" anchor="ctr"/>
          <a:lstStyle/>
          <a:p>
            <a:pPr algn="ctr" indent="0" marL="0">
              <a:buNone/>
            </a:pPr>
            <a:r>
              <a:rPr lang="en-US" sz="1000" b="1" dirty="0">
                <a:solidFill>
                  <a:srgbClr val="C0392B"/>
                </a:solidFill>
                <a:latin typeface="Calibri" pitchFamily="34" charset="0"/>
                <a:ea typeface="Calibri" pitchFamily="34" charset="-122"/>
                <a:cs typeface="Calibri" pitchFamily="34" charset="-120"/>
              </a:rPr>
              <a:t>38%</a:t>
            </a:r>
            <a:endParaRPr lang="en-US" sz="1000" dirty="0"/>
          </a:p>
        </p:txBody>
      </p:sp>
      <p:sp>
        <p:nvSpPr>
          <p:cNvPr id="29" name="Text 27"/>
          <p:cNvSpPr/>
          <p:nvPr/>
        </p:nvSpPr>
        <p:spPr>
          <a:xfrm>
            <a:off x="3520440" y="3044952"/>
            <a:ext cx="2542032" cy="713232"/>
          </a:xfrm>
          <a:prstGeom prst="rect">
            <a:avLst/>
          </a:prstGeom>
          <a:noFill/>
          <a:ln/>
        </p:spPr>
        <p:txBody>
          <a:bodyPr wrap="square" rtlCol="0" anchor="ctr"/>
          <a:lstStyle/>
          <a:p>
            <a:pPr indent="0" marL="0">
              <a:buNone/>
            </a:pPr>
            <a:r>
              <a:rPr lang="en-US" sz="950" dirty="0">
                <a:solidFill>
                  <a:srgbClr val="374151"/>
                </a:solidFill>
                <a:latin typeface="Calibri" pitchFamily="34" charset="0"/>
                <a:ea typeface="Calibri" pitchFamily="34" charset="-122"/>
                <a:cs typeface="Calibri" pitchFamily="34" charset="-120"/>
              </a:rPr>
              <a:t>Cloud Log Architecture for Security; logging-based cloud investigation</a:t>
            </a:r>
            <a:endParaRPr lang="en-US" sz="950" dirty="0"/>
          </a:p>
        </p:txBody>
      </p:sp>
      <p:sp>
        <p:nvSpPr>
          <p:cNvPr id="30" name="Text 28"/>
          <p:cNvSpPr/>
          <p:nvPr/>
        </p:nvSpPr>
        <p:spPr>
          <a:xfrm>
            <a:off x="6126480" y="3044952"/>
            <a:ext cx="2606040" cy="713232"/>
          </a:xfrm>
          <a:prstGeom prst="rect">
            <a:avLst/>
          </a:prstGeom>
          <a:noFill/>
          <a:ln/>
        </p:spPr>
        <p:txBody>
          <a:bodyPr wrap="square" rtlCol="0" anchor="ctr"/>
          <a:lstStyle/>
          <a:p>
            <a:pPr indent="0" marL="0">
              <a:buNone/>
            </a:pPr>
            <a:r>
              <a:rPr lang="en-US" sz="950" dirty="0">
                <a:solidFill>
                  <a:srgbClr val="C0392B"/>
                </a:solidFill>
                <a:latin typeface="Calibri" pitchFamily="34" charset="0"/>
                <a:ea typeface="Calibri" pitchFamily="34" charset="-122"/>
                <a:cs typeface="Calibri" pitchFamily="34" charset="-120"/>
              </a:rPr>
              <a:t>Requires CSP cooperation not mandated in BD; assumes IaaS access</a:t>
            </a:r>
            <a:endParaRPr lang="en-US" sz="950" dirty="0"/>
          </a:p>
        </p:txBody>
      </p:sp>
      <p:sp>
        <p:nvSpPr>
          <p:cNvPr id="31" name="Shape 29"/>
          <p:cNvSpPr/>
          <p:nvPr/>
        </p:nvSpPr>
        <p:spPr>
          <a:xfrm>
            <a:off x="274320" y="3886200"/>
            <a:ext cx="8595360" cy="841248"/>
          </a:xfrm>
          <a:prstGeom prst="rect">
            <a:avLst/>
          </a:prstGeom>
          <a:solidFill>
            <a:srgbClr val="FFFFFF"/>
          </a:solidFill>
          <a:ln w="12700">
            <a:solidFill>
              <a:srgbClr val="E5E7EB"/>
            </a:solidFill>
            <a:prstDash val="solid"/>
          </a:ln>
        </p:spPr>
      </p:sp>
      <p:sp>
        <p:nvSpPr>
          <p:cNvPr id="32" name="Text 30"/>
          <p:cNvSpPr/>
          <p:nvPr/>
        </p:nvSpPr>
        <p:spPr>
          <a:xfrm>
            <a:off x="365760" y="3931920"/>
            <a:ext cx="1645920" cy="731520"/>
          </a:xfrm>
          <a:prstGeom prst="rect">
            <a:avLst/>
          </a:prstGeom>
          <a:noFill/>
          <a:ln/>
        </p:spPr>
        <p:txBody>
          <a:bodyPr wrap="square"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CFLOG</a:t>
            </a:r>
            <a:endParaRPr lang="en-US" sz="1100" dirty="0"/>
          </a:p>
        </p:txBody>
      </p:sp>
      <p:sp>
        <p:nvSpPr>
          <p:cNvPr id="33" name="Shape 31"/>
          <p:cNvSpPr/>
          <p:nvPr/>
        </p:nvSpPr>
        <p:spPr>
          <a:xfrm>
            <a:off x="2057400" y="4142232"/>
            <a:ext cx="1188720" cy="228600"/>
          </a:xfrm>
          <a:prstGeom prst="rect">
            <a:avLst/>
          </a:prstGeom>
          <a:solidFill>
            <a:srgbClr val="E5E7EB"/>
          </a:solidFill>
          <a:ln w="12700">
            <a:solidFill>
              <a:srgbClr val="D1D5DB"/>
            </a:solidFill>
            <a:prstDash val="solid"/>
          </a:ln>
        </p:spPr>
      </p:sp>
      <p:sp>
        <p:nvSpPr>
          <p:cNvPr id="34" name="Shape 32"/>
          <p:cNvSpPr/>
          <p:nvPr/>
        </p:nvSpPr>
        <p:spPr>
          <a:xfrm>
            <a:off x="2057400" y="4142232"/>
            <a:ext cx="487375" cy="228600"/>
          </a:xfrm>
          <a:prstGeom prst="rect">
            <a:avLst/>
          </a:prstGeom>
          <a:solidFill>
            <a:srgbClr val="F59E0B"/>
          </a:solidFill>
          <a:ln w="12700">
            <a:solidFill>
              <a:srgbClr val="F59E0B"/>
            </a:solidFill>
            <a:prstDash val="solid"/>
          </a:ln>
        </p:spPr>
      </p:sp>
      <p:sp>
        <p:nvSpPr>
          <p:cNvPr id="35" name="Text 33"/>
          <p:cNvSpPr/>
          <p:nvPr/>
        </p:nvSpPr>
        <p:spPr>
          <a:xfrm>
            <a:off x="2057400" y="4416552"/>
            <a:ext cx="1280160" cy="228600"/>
          </a:xfrm>
          <a:prstGeom prst="rect">
            <a:avLst/>
          </a:prstGeom>
          <a:noFill/>
          <a:ln/>
        </p:spPr>
        <p:txBody>
          <a:bodyPr wrap="square" rtlCol="0" anchor="ctr"/>
          <a:lstStyle/>
          <a:p>
            <a:pPr algn="ctr" indent="0" marL="0">
              <a:buNone/>
            </a:pPr>
            <a:r>
              <a:rPr lang="en-US" sz="1000" b="1" dirty="0">
                <a:solidFill>
                  <a:srgbClr val="F59E0B"/>
                </a:solidFill>
                <a:latin typeface="Calibri" pitchFamily="34" charset="0"/>
                <a:ea typeface="Calibri" pitchFamily="34" charset="-122"/>
                <a:cs typeface="Calibri" pitchFamily="34" charset="-120"/>
              </a:rPr>
              <a:t>41%</a:t>
            </a:r>
            <a:endParaRPr lang="en-US" sz="1000" dirty="0"/>
          </a:p>
        </p:txBody>
      </p:sp>
      <p:sp>
        <p:nvSpPr>
          <p:cNvPr id="36" name="Text 34"/>
          <p:cNvSpPr/>
          <p:nvPr/>
        </p:nvSpPr>
        <p:spPr>
          <a:xfrm>
            <a:off x="3520440" y="3959352"/>
            <a:ext cx="2542032" cy="713232"/>
          </a:xfrm>
          <a:prstGeom prst="rect">
            <a:avLst/>
          </a:prstGeom>
          <a:noFill/>
          <a:ln/>
        </p:spPr>
        <p:txBody>
          <a:bodyPr wrap="square" rtlCol="0" anchor="ctr"/>
          <a:lstStyle/>
          <a:p>
            <a:pPr indent="0" marL="0">
              <a:buNone/>
            </a:pPr>
            <a:r>
              <a:rPr lang="en-US" sz="950" dirty="0">
                <a:solidFill>
                  <a:srgbClr val="374151"/>
                </a:solidFill>
                <a:latin typeface="Calibri" pitchFamily="34" charset="0"/>
                <a:ea typeface="Calibri" pitchFamily="34" charset="-122"/>
                <a:cs typeface="Calibri" pitchFamily="34" charset="-120"/>
              </a:rPr>
              <a:t>Cloud Forensics Log management; blockchain-anchored provenance</a:t>
            </a:r>
            <a:endParaRPr lang="en-US" sz="950" dirty="0"/>
          </a:p>
        </p:txBody>
      </p:sp>
      <p:sp>
        <p:nvSpPr>
          <p:cNvPr id="37" name="Text 35"/>
          <p:cNvSpPr/>
          <p:nvPr/>
        </p:nvSpPr>
        <p:spPr>
          <a:xfrm>
            <a:off x="6126480" y="3959352"/>
            <a:ext cx="2606040" cy="713232"/>
          </a:xfrm>
          <a:prstGeom prst="rect">
            <a:avLst/>
          </a:prstGeom>
          <a:noFill/>
          <a:ln/>
        </p:spPr>
        <p:txBody>
          <a:bodyPr wrap="square" rtlCol="0" anchor="ctr"/>
          <a:lstStyle/>
          <a:p>
            <a:pPr indent="0" marL="0">
              <a:buNone/>
            </a:pPr>
            <a:r>
              <a:rPr lang="en-US" sz="950" dirty="0">
                <a:solidFill>
                  <a:srgbClr val="C0392B"/>
                </a:solidFill>
                <a:latin typeface="Calibri" pitchFamily="34" charset="0"/>
                <a:ea typeface="Calibri" pitchFamily="34" charset="-122"/>
                <a:cs typeface="Calibri" pitchFamily="34" charset="-120"/>
              </a:rPr>
              <a:t>Blockchain infrastructure absent in BD law enforcement agencies</a:t>
            </a:r>
            <a:endParaRPr lang="en-US" sz="950" dirty="0"/>
          </a:p>
        </p:txBody>
      </p:sp>
      <p:sp>
        <p:nvSpPr>
          <p:cNvPr id="38" name="Text 36"/>
          <p:cNvSpPr/>
          <p:nvPr/>
        </p:nvSpPr>
        <p:spPr>
          <a:xfrm>
            <a:off x="365760" y="4919472"/>
            <a:ext cx="8412480" cy="201168"/>
          </a:xfrm>
          <a:prstGeom prst="rect">
            <a:avLst/>
          </a:prstGeom>
          <a:noFill/>
          <a:ln/>
        </p:spPr>
        <p:txBody>
          <a:bodyPr wrap="square"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Note: BD Coverage % estimates from Ibrahim et al. (2026) for analogous developing-country settings; adapted for Bangladesh context.</a:t>
            </a:r>
            <a:endParaRPr lang="en-US" sz="850" dirty="0"/>
          </a:p>
        </p:txBody>
      </p:sp>
      <p:sp>
        <p:nvSpPr>
          <p:cNvPr id="39" name="Shape 37"/>
          <p:cNvSpPr/>
          <p:nvPr/>
        </p:nvSpPr>
        <p:spPr>
          <a:xfrm>
            <a:off x="0" y="5074920"/>
            <a:ext cx="9144000" cy="64008"/>
          </a:xfrm>
          <a:prstGeom prst="rect">
            <a:avLst/>
          </a:prstGeom>
          <a:solidFill>
            <a:srgbClr val="028090"/>
          </a:solidFill>
          <a:ln w="12700">
            <a:solidFill>
              <a:srgbClr val="028090"/>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E2761"/>
          </a:solidFill>
          <a:ln w="12700">
            <a:solidFill>
              <a:srgbClr val="1E2761"/>
            </a:solidFill>
            <a:prstDash val="solid"/>
          </a:ln>
        </p:spPr>
      </p:sp>
      <p:sp>
        <p:nvSpPr>
          <p:cNvPr id="3" name="Text 1"/>
          <p:cNvSpPr/>
          <p:nvPr/>
        </p:nvSpPr>
        <p:spPr>
          <a:xfrm>
            <a:off x="365760" y="137160"/>
            <a:ext cx="8412480" cy="54864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Key Findings &amp; Implications for Bangladesh</a:t>
            </a:r>
            <a:endParaRPr lang="en-US" sz="2600" dirty="0"/>
          </a:p>
        </p:txBody>
      </p:sp>
      <p:sp>
        <p:nvSpPr>
          <p:cNvPr id="4" name="Shape 2"/>
          <p:cNvSpPr/>
          <p:nvPr/>
        </p:nvSpPr>
        <p:spPr>
          <a:xfrm>
            <a:off x="320040" y="777240"/>
            <a:ext cx="8503920" cy="1298448"/>
          </a:xfrm>
          <a:prstGeom prst="rect">
            <a:avLst/>
          </a:prstGeom>
          <a:solidFill>
            <a:srgbClr val="EEF2FF"/>
          </a:solidFill>
          <a:ln w="12700">
            <a:solidFill>
              <a:srgbClr val="1E2761"/>
            </a:solidFill>
            <a:prstDash val="solid"/>
          </a:ln>
        </p:spPr>
      </p:sp>
      <p:sp>
        <p:nvSpPr>
          <p:cNvPr id="5" name="Shape 3"/>
          <p:cNvSpPr/>
          <p:nvPr/>
        </p:nvSpPr>
        <p:spPr>
          <a:xfrm>
            <a:off x="320040" y="777240"/>
            <a:ext cx="566928" cy="1298448"/>
          </a:xfrm>
          <a:prstGeom prst="rect">
            <a:avLst/>
          </a:prstGeom>
          <a:solidFill>
            <a:srgbClr val="1E2761"/>
          </a:solidFill>
          <a:ln w="12700">
            <a:solidFill>
              <a:srgbClr val="1E2761"/>
            </a:solidFill>
            <a:prstDash val="solid"/>
          </a:ln>
        </p:spPr>
      </p:sp>
      <p:sp>
        <p:nvSpPr>
          <p:cNvPr id="6" name="Text 4"/>
          <p:cNvSpPr/>
          <p:nvPr/>
        </p:nvSpPr>
        <p:spPr>
          <a:xfrm>
            <a:off x="320040" y="1051560"/>
            <a:ext cx="566928" cy="6858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RQ1</a:t>
            </a:r>
            <a:endParaRPr lang="en-US" sz="1100" dirty="0"/>
          </a:p>
        </p:txBody>
      </p:sp>
      <p:sp>
        <p:nvSpPr>
          <p:cNvPr id="7" name="Text 5"/>
          <p:cNvSpPr/>
          <p:nvPr/>
        </p:nvSpPr>
        <p:spPr>
          <a:xfrm>
            <a:off x="1005840" y="850392"/>
            <a:ext cx="7680960" cy="347472"/>
          </a:xfrm>
          <a:prstGeom prst="rect">
            <a:avLst/>
          </a:prstGeom>
          <a:noFill/>
          <a:ln/>
        </p:spPr>
        <p:txBody>
          <a:bodyPr wrap="square"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Challenges (Technical, Legal, Organizational)</a:t>
            </a:r>
            <a:endParaRPr lang="en-US" sz="1350" dirty="0"/>
          </a:p>
        </p:txBody>
      </p:sp>
      <p:sp>
        <p:nvSpPr>
          <p:cNvPr id="8" name="Text 6"/>
          <p:cNvSpPr/>
          <p:nvPr/>
        </p:nvSpPr>
        <p:spPr>
          <a:xfrm>
            <a:off x="1005840" y="1234440"/>
            <a:ext cx="7680960" cy="777240"/>
          </a:xfrm>
          <a:prstGeom prst="rect">
            <a:avLst/>
          </a:prstGeom>
          <a:noFill/>
          <a:ln/>
        </p:spPr>
        <p:txBody>
          <a:bodyPr wrap="square" rtlCol="0" anchor="ctr"/>
          <a:lstStyle/>
          <a:p>
            <a:pPr indent="0" marL="0">
              <a:buNone/>
            </a:pPr>
            <a:r>
              <a:rPr lang="en-US" sz="1150" dirty="0">
                <a:solidFill>
                  <a:srgbClr val="374151"/>
                </a:solidFill>
                <a:latin typeface="Calibri" pitchFamily="34" charset="0"/>
                <a:ea typeface="Calibri" pitchFamily="34" charset="-122"/>
                <a:cs typeface="Calibri" pitchFamily="34" charset="-120"/>
              </a:rPr>
              <a:t>Multi-tenancy and volatile evidence are the dominant technical barriers. In Bangladesh, organizational capacity deficits — no dedicated cyber police, CID tooling gaps — compound the problem. Legal challenges are uniquely severe given the absence of cloud-specific statutory provisions.</a:t>
            </a:r>
            <a:endParaRPr lang="en-US" sz="1150" dirty="0"/>
          </a:p>
        </p:txBody>
      </p:sp>
      <p:sp>
        <p:nvSpPr>
          <p:cNvPr id="9" name="Shape 7"/>
          <p:cNvSpPr/>
          <p:nvPr/>
        </p:nvSpPr>
        <p:spPr>
          <a:xfrm>
            <a:off x="320040" y="2194560"/>
            <a:ext cx="8503920" cy="1298448"/>
          </a:xfrm>
          <a:prstGeom prst="rect">
            <a:avLst/>
          </a:prstGeom>
          <a:solidFill>
            <a:srgbClr val="E8FAF7"/>
          </a:solidFill>
          <a:ln w="12700">
            <a:solidFill>
              <a:srgbClr val="028090"/>
            </a:solidFill>
            <a:prstDash val="solid"/>
          </a:ln>
        </p:spPr>
      </p:sp>
      <p:sp>
        <p:nvSpPr>
          <p:cNvPr id="10" name="Shape 8"/>
          <p:cNvSpPr/>
          <p:nvPr/>
        </p:nvSpPr>
        <p:spPr>
          <a:xfrm>
            <a:off x="320040" y="2194560"/>
            <a:ext cx="566928" cy="1298448"/>
          </a:xfrm>
          <a:prstGeom prst="rect">
            <a:avLst/>
          </a:prstGeom>
          <a:solidFill>
            <a:srgbClr val="028090"/>
          </a:solidFill>
          <a:ln w="12700">
            <a:solidFill>
              <a:srgbClr val="028090"/>
            </a:solidFill>
            <a:prstDash val="solid"/>
          </a:ln>
        </p:spPr>
      </p:sp>
      <p:sp>
        <p:nvSpPr>
          <p:cNvPr id="11" name="Text 9"/>
          <p:cNvSpPr/>
          <p:nvPr/>
        </p:nvSpPr>
        <p:spPr>
          <a:xfrm>
            <a:off x="320040" y="2468880"/>
            <a:ext cx="566928" cy="6858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RQ2</a:t>
            </a:r>
            <a:endParaRPr lang="en-US" sz="1100" dirty="0"/>
          </a:p>
        </p:txBody>
      </p:sp>
      <p:sp>
        <p:nvSpPr>
          <p:cNvPr id="12" name="Text 10"/>
          <p:cNvSpPr/>
          <p:nvPr/>
        </p:nvSpPr>
        <p:spPr>
          <a:xfrm>
            <a:off x="1005840" y="2267712"/>
            <a:ext cx="7680960" cy="347472"/>
          </a:xfrm>
          <a:prstGeom prst="rect">
            <a:avLst/>
          </a:prstGeom>
          <a:noFill/>
          <a:ln/>
        </p:spPr>
        <p:txBody>
          <a:bodyPr wrap="square" rtlCol="0" anchor="ctr"/>
          <a:lstStyle/>
          <a:p>
            <a:pPr indent="0" marL="0">
              <a:buNone/>
            </a:pPr>
            <a:r>
              <a:rPr lang="en-US" sz="1350" b="1" dirty="0">
                <a:solidFill>
                  <a:srgbClr val="028090"/>
                </a:solidFill>
                <a:latin typeface="Cambria" pitchFamily="34" charset="0"/>
                <a:ea typeface="Cambria" pitchFamily="34" charset="-122"/>
                <a:cs typeface="Cambria" pitchFamily="34" charset="-120"/>
              </a:rPr>
              <a:t>Frameworks Need Context-Sensitive Adaptation</a:t>
            </a:r>
            <a:endParaRPr lang="en-US" sz="1350" dirty="0"/>
          </a:p>
        </p:txBody>
      </p:sp>
      <p:sp>
        <p:nvSpPr>
          <p:cNvPr id="13" name="Text 11"/>
          <p:cNvSpPr/>
          <p:nvPr/>
        </p:nvSpPr>
        <p:spPr>
          <a:xfrm>
            <a:off x="1005840" y="2651760"/>
            <a:ext cx="7680960" cy="777240"/>
          </a:xfrm>
          <a:prstGeom prst="rect">
            <a:avLst/>
          </a:prstGeom>
          <a:noFill/>
          <a:ln/>
        </p:spPr>
        <p:txBody>
          <a:bodyPr wrap="square" rtlCol="0" anchor="ctr"/>
          <a:lstStyle/>
          <a:p>
            <a:pPr indent="0" marL="0">
              <a:buNone/>
            </a:pPr>
            <a:r>
              <a:rPr lang="en-US" sz="1150" dirty="0">
                <a:solidFill>
                  <a:srgbClr val="374151"/>
                </a:solidFill>
                <a:latin typeface="Calibri" pitchFamily="34" charset="0"/>
                <a:ea typeface="Calibri" pitchFamily="34" charset="-122"/>
                <a:cs typeface="Calibri" pitchFamily="34" charset="-120"/>
              </a:rPr>
              <a:t>NIST SP 800-86 and ISO/IEC 27037 provide incomplete coverage for cloud environments (~46–52% in comparable developing-nation settings). Emerging blockchain-based frameworks (CFLOG) show promise but require infrastructure investments beyond current BD law enforcement capacity.</a:t>
            </a:r>
            <a:endParaRPr lang="en-US" sz="1150" dirty="0"/>
          </a:p>
        </p:txBody>
      </p:sp>
      <p:sp>
        <p:nvSpPr>
          <p:cNvPr id="14" name="Shape 12"/>
          <p:cNvSpPr/>
          <p:nvPr/>
        </p:nvSpPr>
        <p:spPr>
          <a:xfrm>
            <a:off x="320040" y="3611880"/>
            <a:ext cx="8503920" cy="1298448"/>
          </a:xfrm>
          <a:prstGeom prst="rect">
            <a:avLst/>
          </a:prstGeom>
          <a:solidFill>
            <a:srgbClr val="FFF0F0"/>
          </a:solidFill>
          <a:ln w="12700">
            <a:solidFill>
              <a:srgbClr val="8B3A3A"/>
            </a:solidFill>
            <a:prstDash val="solid"/>
          </a:ln>
        </p:spPr>
      </p:sp>
      <p:sp>
        <p:nvSpPr>
          <p:cNvPr id="15" name="Shape 13"/>
          <p:cNvSpPr/>
          <p:nvPr/>
        </p:nvSpPr>
        <p:spPr>
          <a:xfrm>
            <a:off x="320040" y="3611880"/>
            <a:ext cx="566928" cy="1298448"/>
          </a:xfrm>
          <a:prstGeom prst="rect">
            <a:avLst/>
          </a:prstGeom>
          <a:solidFill>
            <a:srgbClr val="8B3A3A"/>
          </a:solidFill>
          <a:ln w="12700">
            <a:solidFill>
              <a:srgbClr val="8B3A3A"/>
            </a:solidFill>
            <a:prstDash val="solid"/>
          </a:ln>
        </p:spPr>
      </p:sp>
      <p:sp>
        <p:nvSpPr>
          <p:cNvPr id="16" name="Text 14"/>
          <p:cNvSpPr/>
          <p:nvPr/>
        </p:nvSpPr>
        <p:spPr>
          <a:xfrm>
            <a:off x="320040" y="3886200"/>
            <a:ext cx="566928" cy="6858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RQ3</a:t>
            </a:r>
            <a:endParaRPr lang="en-US" sz="1100" dirty="0"/>
          </a:p>
        </p:txBody>
      </p:sp>
      <p:sp>
        <p:nvSpPr>
          <p:cNvPr id="17" name="Text 15"/>
          <p:cNvSpPr/>
          <p:nvPr/>
        </p:nvSpPr>
        <p:spPr>
          <a:xfrm>
            <a:off x="1005840" y="3685032"/>
            <a:ext cx="7680960" cy="347472"/>
          </a:xfrm>
          <a:prstGeom prst="rect">
            <a:avLst/>
          </a:prstGeom>
          <a:noFill/>
          <a:ln/>
        </p:spPr>
        <p:txBody>
          <a:bodyPr wrap="square" rtlCol="0" anchor="ctr"/>
          <a:lstStyle/>
          <a:p>
            <a:pPr indent="0" marL="0">
              <a:buNone/>
            </a:pPr>
            <a:r>
              <a:rPr lang="en-US" sz="1350" b="1" dirty="0">
                <a:solidFill>
                  <a:srgbClr val="8B3A3A"/>
                </a:solidFill>
                <a:latin typeface="Cambria" pitchFamily="34" charset="0"/>
                <a:ea typeface="Cambria" pitchFamily="34" charset="-122"/>
                <a:cs typeface="Cambria" pitchFamily="34" charset="-120"/>
              </a:rPr>
              <a:t>Legal Framework Has Critical Normative Gaps</a:t>
            </a:r>
            <a:endParaRPr lang="en-US" sz="1350" dirty="0"/>
          </a:p>
        </p:txBody>
      </p:sp>
      <p:sp>
        <p:nvSpPr>
          <p:cNvPr id="18" name="Text 16"/>
          <p:cNvSpPr/>
          <p:nvPr/>
        </p:nvSpPr>
        <p:spPr>
          <a:xfrm>
            <a:off x="1005840" y="4069080"/>
            <a:ext cx="7680960" cy="777240"/>
          </a:xfrm>
          <a:prstGeom prst="rect">
            <a:avLst/>
          </a:prstGeom>
          <a:noFill/>
          <a:ln/>
        </p:spPr>
        <p:txBody>
          <a:bodyPr wrap="square" rtlCol="0" anchor="ctr"/>
          <a:lstStyle/>
          <a:p>
            <a:pPr indent="0" marL="0">
              <a:buNone/>
            </a:pPr>
            <a:r>
              <a:rPr lang="en-US" sz="1150" dirty="0">
                <a:solidFill>
                  <a:srgbClr val="374151"/>
                </a:solidFill>
                <a:latin typeface="Calibri" pitchFamily="34" charset="0"/>
                <a:ea typeface="Calibri" pitchFamily="34" charset="-122"/>
                <a:cs typeface="Calibri" pitchFamily="34" charset="-120"/>
              </a:rPr>
              <a:t>The Cyber Security Act 2023 is an improvement but does not define cloud evidence, mandate CSP cooperation, or establish a forensic-grade chain-of-custody standard. Absence of MLATs with cloud-hosting nations creates an irresolvable jurisdictional bottleneck for cross-border investigations.</a:t>
            </a:r>
            <a:endParaRPr lang="en-US" sz="1150" dirty="0"/>
          </a:p>
        </p:txBody>
      </p:sp>
      <p:sp>
        <p:nvSpPr>
          <p:cNvPr id="19" name="Shape 17"/>
          <p:cNvSpPr/>
          <p:nvPr/>
        </p:nvSpPr>
        <p:spPr>
          <a:xfrm>
            <a:off x="0" y="5074920"/>
            <a:ext cx="9144000" cy="64008"/>
          </a:xfrm>
          <a:prstGeom prst="rect">
            <a:avLst/>
          </a:prstGeom>
          <a:solidFill>
            <a:srgbClr val="1E2761"/>
          </a:solidFill>
          <a:ln w="12700">
            <a:solidFill>
              <a:srgbClr val="1E2761"/>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28090"/>
          </a:solidFill>
          <a:ln w="12700">
            <a:solidFill>
              <a:srgbClr val="028090"/>
            </a:solidFill>
            <a:prstDash val="solid"/>
          </a:ln>
        </p:spPr>
      </p:sp>
      <p:sp>
        <p:nvSpPr>
          <p:cNvPr id="3" name="Text 1"/>
          <p:cNvSpPr/>
          <p:nvPr/>
        </p:nvSpPr>
        <p:spPr>
          <a:xfrm>
            <a:off x="365760" y="137160"/>
            <a:ext cx="8412480" cy="548640"/>
          </a:xfrm>
          <a:prstGeom prst="rect">
            <a:avLst/>
          </a:prstGeom>
          <a:noFill/>
          <a:ln/>
        </p:spPr>
        <p:txBody>
          <a:bodyPr wrap="square"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Recommendations &amp; Future Research Directions</a:t>
            </a:r>
            <a:endParaRPr lang="en-US" sz="2400" dirty="0"/>
          </a:p>
        </p:txBody>
      </p:sp>
      <p:sp>
        <p:nvSpPr>
          <p:cNvPr id="4" name="Shape 2"/>
          <p:cNvSpPr/>
          <p:nvPr/>
        </p:nvSpPr>
        <p:spPr>
          <a:xfrm>
            <a:off x="365760" y="658368"/>
            <a:ext cx="3474720" cy="36576"/>
          </a:xfrm>
          <a:prstGeom prst="rect">
            <a:avLst/>
          </a:prstGeom>
          <a:solidFill>
            <a:srgbClr val="028090"/>
          </a:solidFill>
          <a:ln w="12700">
            <a:solidFill>
              <a:srgbClr val="028090"/>
            </a:solidFill>
            <a:prstDash val="solid"/>
          </a:ln>
        </p:spPr>
      </p:sp>
      <p:sp>
        <p:nvSpPr>
          <p:cNvPr id="5" name="Shape 3"/>
          <p:cNvSpPr/>
          <p:nvPr/>
        </p:nvSpPr>
        <p:spPr>
          <a:xfrm>
            <a:off x="274320" y="795528"/>
            <a:ext cx="4023360" cy="347472"/>
          </a:xfrm>
          <a:prstGeom prst="rect">
            <a:avLst/>
          </a:prstGeom>
          <a:solidFill>
            <a:srgbClr val="1E2761"/>
          </a:solidFill>
          <a:ln w="12700">
            <a:solidFill>
              <a:srgbClr val="1E2761"/>
            </a:solidFill>
            <a:prstDash val="solid"/>
          </a:ln>
        </p:spPr>
      </p:sp>
      <p:sp>
        <p:nvSpPr>
          <p:cNvPr id="6" name="Text 4"/>
          <p:cNvSpPr/>
          <p:nvPr/>
        </p:nvSpPr>
        <p:spPr>
          <a:xfrm>
            <a:off x="365760" y="859536"/>
            <a:ext cx="3840480" cy="237744"/>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Short-Term Policy Actions</a:t>
            </a:r>
            <a:endParaRPr lang="en-US" sz="1200" dirty="0"/>
          </a:p>
        </p:txBody>
      </p:sp>
      <p:sp>
        <p:nvSpPr>
          <p:cNvPr id="7" name="Text 5"/>
          <p:cNvSpPr/>
          <p:nvPr/>
        </p:nvSpPr>
        <p:spPr>
          <a:xfrm>
            <a:off x="365760" y="1207008"/>
            <a:ext cx="3840480" cy="621792"/>
          </a:xfrm>
          <a:prstGeom prst="rect">
            <a:avLst/>
          </a:prstGeom>
          <a:noFill/>
          <a:ln/>
        </p:spPr>
        <p:txBody>
          <a:bodyPr wrap="square" rtlCol="0" anchor="ctr"/>
          <a:lstStyle/>
          <a:p>
            <a:pPr indent="0" marL="0">
              <a:buNone/>
            </a:pPr>
            <a:r>
              <a:rPr lang="en-US" sz="1050" dirty="0">
                <a:solidFill>
                  <a:srgbClr val="374151"/>
                </a:solidFill>
                <a:latin typeface="Calibri" pitchFamily="34" charset="0"/>
                <a:ea typeface="Calibri" pitchFamily="34" charset="-122"/>
                <a:cs typeface="Calibri" pitchFamily="34" charset="-120"/>
              </a:rPr>
              <a:t>1. Amend CSA 2023 to include a statutory definition of "cloud evidence" and recognized chain-of-custody procedures</a:t>
            </a:r>
            <a:endParaRPr lang="en-US" sz="1050" dirty="0"/>
          </a:p>
        </p:txBody>
      </p:sp>
      <p:sp>
        <p:nvSpPr>
          <p:cNvPr id="8" name="Text 6"/>
          <p:cNvSpPr/>
          <p:nvPr/>
        </p:nvSpPr>
        <p:spPr>
          <a:xfrm>
            <a:off x="365760" y="1892808"/>
            <a:ext cx="3840480" cy="621792"/>
          </a:xfrm>
          <a:prstGeom prst="rect">
            <a:avLst/>
          </a:prstGeom>
          <a:noFill/>
          <a:ln/>
        </p:spPr>
        <p:txBody>
          <a:bodyPr wrap="square" rtlCol="0" anchor="ctr"/>
          <a:lstStyle/>
          <a:p>
            <a:pPr indent="0" marL="0">
              <a:buNone/>
            </a:pPr>
            <a:r>
              <a:rPr lang="en-US" sz="1050" dirty="0">
                <a:solidFill>
                  <a:srgbClr val="374151"/>
                </a:solidFill>
                <a:latin typeface="Calibri" pitchFamily="34" charset="0"/>
                <a:ea typeface="Calibri" pitchFamily="34" charset="-122"/>
                <a:cs typeface="Calibri" pitchFamily="34" charset="-120"/>
              </a:rPr>
              <a:t>2. Mandate CSP cooperation agreements with major cloud providers (AWS, Azure, Google Cloud) operating in Bangladesh</a:t>
            </a:r>
            <a:endParaRPr lang="en-US" sz="1050" dirty="0"/>
          </a:p>
        </p:txBody>
      </p:sp>
      <p:sp>
        <p:nvSpPr>
          <p:cNvPr id="9" name="Text 7"/>
          <p:cNvSpPr/>
          <p:nvPr/>
        </p:nvSpPr>
        <p:spPr>
          <a:xfrm>
            <a:off x="365760" y="2578608"/>
            <a:ext cx="3840480" cy="621792"/>
          </a:xfrm>
          <a:prstGeom prst="rect">
            <a:avLst/>
          </a:prstGeom>
          <a:noFill/>
          <a:ln/>
        </p:spPr>
        <p:txBody>
          <a:bodyPr wrap="square" rtlCol="0" anchor="ctr"/>
          <a:lstStyle/>
          <a:p>
            <a:pPr indent="0" marL="0">
              <a:buNone/>
            </a:pPr>
            <a:r>
              <a:rPr lang="en-US" sz="1050" dirty="0">
                <a:solidFill>
                  <a:srgbClr val="374151"/>
                </a:solidFill>
                <a:latin typeface="Calibri" pitchFamily="34" charset="0"/>
                <a:ea typeface="Calibri" pitchFamily="34" charset="-122"/>
                <a:cs typeface="Calibri" pitchFamily="34" charset="-120"/>
              </a:rPr>
              <a:t>3. Establish a dedicated Cloud Forensics Unit within CID with certified forensic examiners</a:t>
            </a:r>
            <a:endParaRPr lang="en-US" sz="1050" dirty="0"/>
          </a:p>
        </p:txBody>
      </p:sp>
      <p:sp>
        <p:nvSpPr>
          <p:cNvPr id="10" name="Text 8"/>
          <p:cNvSpPr/>
          <p:nvPr/>
        </p:nvSpPr>
        <p:spPr>
          <a:xfrm>
            <a:off x="365760" y="3264408"/>
            <a:ext cx="3840480" cy="621792"/>
          </a:xfrm>
          <a:prstGeom prst="rect">
            <a:avLst/>
          </a:prstGeom>
          <a:noFill/>
          <a:ln/>
        </p:spPr>
        <p:txBody>
          <a:bodyPr wrap="square" rtlCol="0" anchor="ctr"/>
          <a:lstStyle/>
          <a:p>
            <a:pPr indent="0" marL="0">
              <a:buNone/>
            </a:pPr>
            <a:r>
              <a:rPr lang="en-US" sz="1050" dirty="0">
                <a:solidFill>
                  <a:srgbClr val="374151"/>
                </a:solidFill>
                <a:latin typeface="Calibri" pitchFamily="34" charset="0"/>
                <a:ea typeface="Calibri" pitchFamily="34" charset="-122"/>
                <a:cs typeface="Calibri" pitchFamily="34" charset="-120"/>
              </a:rPr>
              <a:t>4. Develop Bangladesh-specific forensic procedures adapting NIST SP 800-86 to local CSP landscape</a:t>
            </a:r>
            <a:endParaRPr lang="en-US" sz="1050" dirty="0"/>
          </a:p>
        </p:txBody>
      </p:sp>
      <p:sp>
        <p:nvSpPr>
          <p:cNvPr id="11" name="Shape 9"/>
          <p:cNvSpPr/>
          <p:nvPr/>
        </p:nvSpPr>
        <p:spPr>
          <a:xfrm>
            <a:off x="4754880" y="795528"/>
            <a:ext cx="4114800" cy="347472"/>
          </a:xfrm>
          <a:prstGeom prst="rect">
            <a:avLst/>
          </a:prstGeom>
          <a:solidFill>
            <a:srgbClr val="028090"/>
          </a:solidFill>
          <a:ln w="12700">
            <a:solidFill>
              <a:srgbClr val="028090"/>
            </a:solidFill>
            <a:prstDash val="solid"/>
          </a:ln>
        </p:spPr>
      </p:sp>
      <p:sp>
        <p:nvSpPr>
          <p:cNvPr id="12" name="Text 10"/>
          <p:cNvSpPr/>
          <p:nvPr/>
        </p:nvSpPr>
        <p:spPr>
          <a:xfrm>
            <a:off x="4846320" y="859536"/>
            <a:ext cx="3931920" cy="237744"/>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Future Research Agenda</a:t>
            </a:r>
            <a:endParaRPr lang="en-US" sz="1200" dirty="0"/>
          </a:p>
        </p:txBody>
      </p:sp>
      <p:sp>
        <p:nvSpPr>
          <p:cNvPr id="13" name="Text 11"/>
          <p:cNvSpPr/>
          <p:nvPr/>
        </p:nvSpPr>
        <p:spPr>
          <a:xfrm>
            <a:off x="4846320" y="1207008"/>
            <a:ext cx="3931920" cy="621792"/>
          </a:xfrm>
          <a:prstGeom prst="rect">
            <a:avLst/>
          </a:prstGeom>
          <a:noFill/>
          <a:ln/>
        </p:spPr>
        <p:txBody>
          <a:bodyPr wrap="square" rtlCol="0" anchor="ctr"/>
          <a:lstStyle/>
          <a:p>
            <a:pPr indent="0" marL="0">
              <a:buNone/>
            </a:pPr>
            <a:r>
              <a:rPr lang="en-US" sz="1050" dirty="0">
                <a:solidFill>
                  <a:srgbClr val="374151"/>
                </a:solidFill>
                <a:latin typeface="Calibri" pitchFamily="34" charset="0"/>
                <a:ea typeface="Calibri" pitchFamily="34" charset="-122"/>
                <a:cs typeface="Calibri" pitchFamily="34" charset="-120"/>
              </a:rPr>
              <a:t>1. Empirical study of cloud forensic readiness of Bangladesh law enforcement agencies (CID, CTTC, RAB cyber cells)</a:t>
            </a:r>
            <a:endParaRPr lang="en-US" sz="1050" dirty="0"/>
          </a:p>
        </p:txBody>
      </p:sp>
      <p:sp>
        <p:nvSpPr>
          <p:cNvPr id="14" name="Text 12"/>
          <p:cNvSpPr/>
          <p:nvPr/>
        </p:nvSpPr>
        <p:spPr>
          <a:xfrm>
            <a:off x="4846320" y="1892808"/>
            <a:ext cx="3931920" cy="621792"/>
          </a:xfrm>
          <a:prstGeom prst="rect">
            <a:avLst/>
          </a:prstGeom>
          <a:noFill/>
          <a:ln/>
        </p:spPr>
        <p:txBody>
          <a:bodyPr wrap="square" rtlCol="0" anchor="ctr"/>
          <a:lstStyle/>
          <a:p>
            <a:pPr indent="0" marL="0">
              <a:buNone/>
            </a:pPr>
            <a:r>
              <a:rPr lang="en-US" sz="1050" dirty="0">
                <a:solidFill>
                  <a:srgbClr val="374151"/>
                </a:solidFill>
                <a:latin typeface="Calibri" pitchFamily="34" charset="0"/>
                <a:ea typeface="Calibri" pitchFamily="34" charset="-122"/>
                <a:cs typeface="Calibri" pitchFamily="34" charset="-120"/>
              </a:rPr>
              <a:t>2. Comparative legal analysis: Bangladesh CSA 2023 vs. India IT Act, Sri Lanka Computer Crimes Act on cloud evidence</a:t>
            </a:r>
            <a:endParaRPr lang="en-US" sz="1050" dirty="0"/>
          </a:p>
        </p:txBody>
      </p:sp>
      <p:sp>
        <p:nvSpPr>
          <p:cNvPr id="15" name="Text 13"/>
          <p:cNvSpPr/>
          <p:nvPr/>
        </p:nvSpPr>
        <p:spPr>
          <a:xfrm>
            <a:off x="4846320" y="2578608"/>
            <a:ext cx="3931920" cy="621792"/>
          </a:xfrm>
          <a:prstGeom prst="rect">
            <a:avLst/>
          </a:prstGeom>
          <a:noFill/>
          <a:ln/>
        </p:spPr>
        <p:txBody>
          <a:bodyPr wrap="square" rtlCol="0" anchor="ctr"/>
          <a:lstStyle/>
          <a:p>
            <a:pPr indent="0" marL="0">
              <a:buNone/>
            </a:pPr>
            <a:r>
              <a:rPr lang="en-US" sz="1050" dirty="0">
                <a:solidFill>
                  <a:srgbClr val="374151"/>
                </a:solidFill>
                <a:latin typeface="Calibri" pitchFamily="34" charset="0"/>
                <a:ea typeface="Calibri" pitchFamily="34" charset="-122"/>
                <a:cs typeface="Calibri" pitchFamily="34" charset="-120"/>
              </a:rPr>
              <a:t>3. Develop and pilot a Bangladesh Cloud Forensics Framework (BCFF) adapted from NIST SP 800-86 + ISO/IEC 27037</a:t>
            </a:r>
            <a:endParaRPr lang="en-US" sz="1050" dirty="0"/>
          </a:p>
        </p:txBody>
      </p:sp>
      <p:sp>
        <p:nvSpPr>
          <p:cNvPr id="16" name="Text 14"/>
          <p:cNvSpPr/>
          <p:nvPr/>
        </p:nvSpPr>
        <p:spPr>
          <a:xfrm>
            <a:off x="4846320" y="3264408"/>
            <a:ext cx="3931920" cy="621792"/>
          </a:xfrm>
          <a:prstGeom prst="rect">
            <a:avLst/>
          </a:prstGeom>
          <a:noFill/>
          <a:ln/>
        </p:spPr>
        <p:txBody>
          <a:bodyPr wrap="square" rtlCol="0" anchor="ctr"/>
          <a:lstStyle/>
          <a:p>
            <a:pPr indent="0" marL="0">
              <a:buNone/>
            </a:pPr>
            <a:r>
              <a:rPr lang="en-US" sz="1050" dirty="0">
                <a:solidFill>
                  <a:srgbClr val="374151"/>
                </a:solidFill>
                <a:latin typeface="Calibri" pitchFamily="34" charset="0"/>
                <a:ea typeface="Calibri" pitchFamily="34" charset="-122"/>
                <a:cs typeface="Calibri" pitchFamily="34" charset="-120"/>
              </a:rPr>
              <a:t>4. Investigate CSP cooperation mechanisms: design an MLAT negotiation roadmap for the SAARC region</a:t>
            </a:r>
            <a:endParaRPr lang="en-US" sz="1050" dirty="0"/>
          </a:p>
        </p:txBody>
      </p:sp>
      <p:sp>
        <p:nvSpPr>
          <p:cNvPr id="17" name="Shape 15"/>
          <p:cNvSpPr/>
          <p:nvPr/>
        </p:nvSpPr>
        <p:spPr>
          <a:xfrm>
            <a:off x="274320" y="4096512"/>
            <a:ext cx="8595360" cy="777240"/>
          </a:xfrm>
          <a:prstGeom prst="rect">
            <a:avLst/>
          </a:prstGeom>
          <a:solidFill>
            <a:srgbClr val="FEF9C3"/>
          </a:solidFill>
          <a:ln w="12700">
            <a:solidFill>
              <a:srgbClr val="FCD34D"/>
            </a:solidFill>
            <a:prstDash val="solid"/>
          </a:ln>
        </p:spPr>
      </p:sp>
      <p:sp>
        <p:nvSpPr>
          <p:cNvPr id="18" name="Text 16"/>
          <p:cNvSpPr/>
          <p:nvPr/>
        </p:nvSpPr>
        <p:spPr>
          <a:xfrm>
            <a:off x="411480" y="4160520"/>
            <a:ext cx="8229600" cy="256032"/>
          </a:xfrm>
          <a:prstGeom prst="rect">
            <a:avLst/>
          </a:prstGeom>
          <a:noFill/>
          <a:ln/>
        </p:spPr>
        <p:txBody>
          <a:bodyPr wrap="square" rtlCol="0" anchor="ctr"/>
          <a:lstStyle/>
          <a:p>
            <a:pPr indent="0" marL="0">
              <a:buNone/>
            </a:pPr>
            <a:r>
              <a:rPr lang="en-US" sz="1100" b="1" dirty="0">
                <a:solidFill>
                  <a:srgbClr val="92400E"/>
                </a:solidFill>
                <a:latin typeface="Cambria" pitchFamily="34" charset="0"/>
                <a:ea typeface="Cambria" pitchFamily="34" charset="-122"/>
                <a:cs typeface="Cambria" pitchFamily="34" charset="-120"/>
              </a:rPr>
              <a:t>📌  Methodological Limitation Note</a:t>
            </a:r>
            <a:endParaRPr lang="en-US" sz="1100" dirty="0"/>
          </a:p>
        </p:txBody>
      </p:sp>
      <p:sp>
        <p:nvSpPr>
          <p:cNvPr id="19" name="Text 17"/>
          <p:cNvSpPr/>
          <p:nvPr/>
        </p:nvSpPr>
        <p:spPr>
          <a:xfrm>
            <a:off x="411480" y="4416552"/>
            <a:ext cx="8229600" cy="384048"/>
          </a:xfrm>
          <a:prstGeom prst="rect">
            <a:avLst/>
          </a:prstGeom>
          <a:noFill/>
          <a:ln/>
        </p:spPr>
        <p:txBody>
          <a:bodyPr wrap="square" rtlCol="0" anchor="ctr"/>
          <a:lstStyle/>
          <a:p>
            <a:pPr indent="0" marL="0">
              <a:buNone/>
            </a:pPr>
            <a:r>
              <a:rPr lang="en-US" sz="1000" dirty="0">
                <a:solidFill>
                  <a:srgbClr val="92400E"/>
                </a:solidFill>
                <a:latin typeface="Calibri" pitchFamily="34" charset="0"/>
                <a:ea typeface="Calibri" pitchFamily="34" charset="-122"/>
                <a:cs typeface="Calibri" pitchFamily="34" charset="-120"/>
              </a:rPr>
              <a:t>This review is limited to English-language publications. Grey literature (BTRC circulars, CID protocols) and Bengali-language scholarship were excluded. Findings reflect the literature through June 2026; subsequent legislative developments (anticipated Data Protection Act) may alter the legal analysis.</a:t>
            </a:r>
            <a:endParaRPr lang="en-US" sz="1000" dirty="0"/>
          </a:p>
        </p:txBody>
      </p:sp>
      <p:sp>
        <p:nvSpPr>
          <p:cNvPr id="20" name="Shape 18"/>
          <p:cNvSpPr/>
          <p:nvPr/>
        </p:nvSpPr>
        <p:spPr>
          <a:xfrm>
            <a:off x="0" y="5074920"/>
            <a:ext cx="9144000" cy="64008"/>
          </a:xfrm>
          <a:prstGeom prst="rect">
            <a:avLst/>
          </a:prstGeom>
          <a:solidFill>
            <a:srgbClr val="028090"/>
          </a:solidFill>
          <a:ln w="12700">
            <a:solidFill>
              <a:srgbClr val="028090"/>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2C39A"/>
          </a:solidFill>
          <a:ln w="12700">
            <a:solidFill>
              <a:srgbClr val="02C39A"/>
            </a:solidFill>
            <a:prstDash val="solid"/>
          </a:ln>
        </p:spPr>
      </p:sp>
      <p:sp>
        <p:nvSpPr>
          <p:cNvPr id="3" name="Text 1"/>
          <p:cNvSpPr/>
          <p:nvPr/>
        </p:nvSpPr>
        <p:spPr>
          <a:xfrm>
            <a:off x="457200" y="182880"/>
            <a:ext cx="8229600" cy="640080"/>
          </a:xfrm>
          <a:prstGeom prst="rect">
            <a:avLst/>
          </a:prstGeom>
          <a:noFill/>
          <a:ln/>
        </p:spPr>
        <p:txBody>
          <a:bodyPr wrap="square" rtlCol="0" anchor="ctr"/>
          <a:lstStyle/>
          <a:p>
            <a:pPr algn="ctr" indent="0" marL="0">
              <a:buNone/>
            </a:pPr>
            <a:r>
              <a:rPr lang="en-US" sz="3600" b="1" dirty="0">
                <a:solidFill>
                  <a:srgbClr val="FFFFFF"/>
                </a:solidFill>
                <a:latin typeface="Cambria" pitchFamily="34" charset="0"/>
                <a:ea typeface="Cambria" pitchFamily="34" charset="-122"/>
                <a:cs typeface="Cambria" pitchFamily="34" charset="-120"/>
              </a:rPr>
              <a:t>Conclusion</a:t>
            </a:r>
            <a:endParaRPr lang="en-US" sz="3600" dirty="0"/>
          </a:p>
        </p:txBody>
      </p:sp>
      <p:sp>
        <p:nvSpPr>
          <p:cNvPr id="4" name="Shape 2"/>
          <p:cNvSpPr/>
          <p:nvPr/>
        </p:nvSpPr>
        <p:spPr>
          <a:xfrm>
            <a:off x="3200400" y="804672"/>
            <a:ext cx="2743200" cy="36576"/>
          </a:xfrm>
          <a:prstGeom prst="rect">
            <a:avLst/>
          </a:prstGeom>
          <a:solidFill>
            <a:srgbClr val="02C39A"/>
          </a:solidFill>
          <a:ln w="12700">
            <a:solidFill>
              <a:srgbClr val="02C39A"/>
            </a:solidFill>
            <a:prstDash val="solid"/>
          </a:ln>
        </p:spPr>
      </p:sp>
      <p:sp>
        <p:nvSpPr>
          <p:cNvPr id="5" name="Shape 3"/>
          <p:cNvSpPr/>
          <p:nvPr/>
        </p:nvSpPr>
        <p:spPr>
          <a:xfrm>
            <a:off x="548640" y="987552"/>
            <a:ext cx="384048" cy="384048"/>
          </a:xfrm>
          <a:prstGeom prst="rect">
            <a:avLst/>
          </a:prstGeom>
          <a:solidFill>
            <a:srgbClr val="028090"/>
          </a:solidFill>
          <a:ln w="12700">
            <a:solidFill>
              <a:srgbClr val="028090"/>
            </a:solidFill>
            <a:prstDash val="solid"/>
          </a:ln>
        </p:spPr>
      </p:sp>
      <p:sp>
        <p:nvSpPr>
          <p:cNvPr id="6" name="Text 4"/>
          <p:cNvSpPr/>
          <p:nvPr/>
        </p:nvSpPr>
        <p:spPr>
          <a:xfrm>
            <a:off x="548640" y="1005840"/>
            <a:ext cx="384048" cy="347472"/>
          </a:xfrm>
          <a:prstGeom prst="rect">
            <a:avLst/>
          </a:prstGeom>
          <a:noFill/>
          <a:ln/>
        </p:spPr>
        <p:txBody>
          <a:bodyPr wrap="square" rtlCol="0" anchor="ctr"/>
          <a:lstStyle/>
          <a:p>
            <a:pPr algn="ctr" indent="0" marL="0">
              <a:buNone/>
            </a:pPr>
            <a:r>
              <a:rPr lang="en-US" sz="1600" dirty="0">
                <a:solidFill>
                  <a:srgbClr val="000000"/>
                </a:solidFill>
              </a:rPr>
              <a:t>🔍</a:t>
            </a:r>
            <a:endParaRPr lang="en-US" sz="1600" dirty="0"/>
          </a:p>
        </p:txBody>
      </p:sp>
      <p:sp>
        <p:nvSpPr>
          <p:cNvPr id="7" name="Text 5"/>
          <p:cNvSpPr/>
          <p:nvPr/>
        </p:nvSpPr>
        <p:spPr>
          <a:xfrm>
            <a:off x="1078992" y="1005840"/>
            <a:ext cx="7772400" cy="640080"/>
          </a:xfrm>
          <a:prstGeom prst="rect">
            <a:avLst/>
          </a:prstGeom>
          <a:noFill/>
          <a:ln/>
        </p:spPr>
        <p:txBody>
          <a:bodyPr wrap="square" rtlCol="0" anchor="ctr"/>
          <a:lstStyle/>
          <a:p>
            <a:pPr indent="0" marL="0">
              <a:buNone/>
            </a:pPr>
            <a:r>
              <a:rPr lang="en-US" sz="1250" dirty="0">
                <a:solidFill>
                  <a:srgbClr val="CADCFC"/>
                </a:solidFill>
                <a:latin typeface="Calibri" pitchFamily="34" charset="0"/>
                <a:ea typeface="Calibri" pitchFamily="34" charset="-122"/>
                <a:cs typeface="Calibri" pitchFamily="34" charset="-120"/>
              </a:rPr>
              <a:t>18 studies synthesized via PRISMA 2020 from 756 initial records across IEEE Xplore, Scopus, Google Scholar, and ACM DL</a:t>
            </a:r>
            <a:endParaRPr lang="en-US" sz="1250" dirty="0"/>
          </a:p>
        </p:txBody>
      </p:sp>
      <p:sp>
        <p:nvSpPr>
          <p:cNvPr id="8" name="Shape 6"/>
          <p:cNvSpPr/>
          <p:nvPr/>
        </p:nvSpPr>
        <p:spPr>
          <a:xfrm>
            <a:off x="548640" y="1764792"/>
            <a:ext cx="384048" cy="384048"/>
          </a:xfrm>
          <a:prstGeom prst="rect">
            <a:avLst/>
          </a:prstGeom>
          <a:solidFill>
            <a:srgbClr val="028090"/>
          </a:solidFill>
          <a:ln w="12700">
            <a:solidFill>
              <a:srgbClr val="028090"/>
            </a:solidFill>
            <a:prstDash val="solid"/>
          </a:ln>
        </p:spPr>
      </p:sp>
      <p:sp>
        <p:nvSpPr>
          <p:cNvPr id="9" name="Text 7"/>
          <p:cNvSpPr/>
          <p:nvPr/>
        </p:nvSpPr>
        <p:spPr>
          <a:xfrm>
            <a:off x="548640" y="1783080"/>
            <a:ext cx="384048" cy="347472"/>
          </a:xfrm>
          <a:prstGeom prst="rect">
            <a:avLst/>
          </a:prstGeom>
          <a:noFill/>
          <a:ln/>
        </p:spPr>
        <p:txBody>
          <a:bodyPr wrap="square" rtlCol="0" anchor="ctr"/>
          <a:lstStyle/>
          <a:p>
            <a:pPr algn="ctr" indent="0" marL="0">
              <a:buNone/>
            </a:pPr>
            <a:r>
              <a:rPr lang="en-US" sz="1600" dirty="0">
                <a:solidFill>
                  <a:srgbClr val="000000"/>
                </a:solidFill>
              </a:rPr>
              <a:t>⚙️</a:t>
            </a:r>
            <a:endParaRPr lang="en-US" sz="1600" dirty="0"/>
          </a:p>
        </p:txBody>
      </p:sp>
      <p:sp>
        <p:nvSpPr>
          <p:cNvPr id="10" name="Text 8"/>
          <p:cNvSpPr/>
          <p:nvPr/>
        </p:nvSpPr>
        <p:spPr>
          <a:xfrm>
            <a:off x="1078992" y="1783080"/>
            <a:ext cx="7772400" cy="640080"/>
          </a:xfrm>
          <a:prstGeom prst="rect">
            <a:avLst/>
          </a:prstGeom>
          <a:noFill/>
          <a:ln/>
        </p:spPr>
        <p:txBody>
          <a:bodyPr wrap="square" rtlCol="0" anchor="ctr"/>
          <a:lstStyle/>
          <a:p>
            <a:pPr indent="0" marL="0">
              <a:buNone/>
            </a:pPr>
            <a:r>
              <a:rPr lang="en-US" sz="1250" dirty="0">
                <a:solidFill>
                  <a:srgbClr val="CADCFC"/>
                </a:solidFill>
                <a:latin typeface="Calibri" pitchFamily="34" charset="0"/>
                <a:ea typeface="Calibri" pitchFamily="34" charset="-122"/>
                <a:cs typeface="Calibri" pitchFamily="34" charset="-120"/>
              </a:rPr>
              <a:t>Technical challenges (42%) dominate globally; Bangladesh additionally faces severe organizational capacity deficits at the CID and CTTC level</a:t>
            </a:r>
            <a:endParaRPr lang="en-US" sz="1250" dirty="0"/>
          </a:p>
        </p:txBody>
      </p:sp>
      <p:sp>
        <p:nvSpPr>
          <p:cNvPr id="11" name="Shape 9"/>
          <p:cNvSpPr/>
          <p:nvPr/>
        </p:nvSpPr>
        <p:spPr>
          <a:xfrm>
            <a:off x="548640" y="2542032"/>
            <a:ext cx="384048" cy="384048"/>
          </a:xfrm>
          <a:prstGeom prst="rect">
            <a:avLst/>
          </a:prstGeom>
          <a:solidFill>
            <a:srgbClr val="028090"/>
          </a:solidFill>
          <a:ln w="12700">
            <a:solidFill>
              <a:srgbClr val="028090"/>
            </a:solidFill>
            <a:prstDash val="solid"/>
          </a:ln>
        </p:spPr>
      </p:sp>
      <p:sp>
        <p:nvSpPr>
          <p:cNvPr id="12" name="Text 10"/>
          <p:cNvSpPr/>
          <p:nvPr/>
        </p:nvSpPr>
        <p:spPr>
          <a:xfrm>
            <a:off x="548640" y="2560320"/>
            <a:ext cx="384048" cy="347472"/>
          </a:xfrm>
          <a:prstGeom prst="rect">
            <a:avLst/>
          </a:prstGeom>
          <a:noFill/>
          <a:ln/>
        </p:spPr>
        <p:txBody>
          <a:bodyPr wrap="square" rtlCol="0" anchor="ctr"/>
          <a:lstStyle/>
          <a:p>
            <a:pPr algn="ctr" indent="0" marL="0">
              <a:buNone/>
            </a:pPr>
            <a:r>
              <a:rPr lang="en-US" sz="1600" dirty="0">
                <a:solidFill>
                  <a:srgbClr val="000000"/>
                </a:solidFill>
              </a:rPr>
              <a:t>⚖️</a:t>
            </a:r>
            <a:endParaRPr lang="en-US" sz="1600" dirty="0"/>
          </a:p>
        </p:txBody>
      </p:sp>
      <p:sp>
        <p:nvSpPr>
          <p:cNvPr id="13" name="Text 11"/>
          <p:cNvSpPr/>
          <p:nvPr/>
        </p:nvSpPr>
        <p:spPr>
          <a:xfrm>
            <a:off x="1078992" y="2560320"/>
            <a:ext cx="7772400" cy="640080"/>
          </a:xfrm>
          <a:prstGeom prst="rect">
            <a:avLst/>
          </a:prstGeom>
          <a:noFill/>
          <a:ln/>
        </p:spPr>
        <p:txBody>
          <a:bodyPr wrap="square" rtlCol="0" anchor="ctr"/>
          <a:lstStyle/>
          <a:p>
            <a:pPr indent="0" marL="0">
              <a:buNone/>
            </a:pPr>
            <a:r>
              <a:rPr lang="en-US" sz="1250" dirty="0">
                <a:solidFill>
                  <a:srgbClr val="CADCFC"/>
                </a:solidFill>
                <a:latin typeface="Calibri" pitchFamily="34" charset="0"/>
                <a:ea typeface="Calibri" pitchFamily="34" charset="-122"/>
                <a:cs typeface="Calibri" pitchFamily="34" charset="-120"/>
              </a:rPr>
              <a:t>Bangladesh's cyber law stack (ICT 2006 → DSA 2018 → CSA 2023) lacks every critical cloud forensics provision: no definitions, no CSP mandates, no chain-of-custody standards</a:t>
            </a:r>
            <a:endParaRPr lang="en-US" sz="1250" dirty="0"/>
          </a:p>
        </p:txBody>
      </p:sp>
      <p:sp>
        <p:nvSpPr>
          <p:cNvPr id="14" name="Shape 12"/>
          <p:cNvSpPr/>
          <p:nvPr/>
        </p:nvSpPr>
        <p:spPr>
          <a:xfrm>
            <a:off x="548640" y="3319272"/>
            <a:ext cx="384048" cy="384048"/>
          </a:xfrm>
          <a:prstGeom prst="rect">
            <a:avLst/>
          </a:prstGeom>
          <a:solidFill>
            <a:srgbClr val="028090"/>
          </a:solidFill>
          <a:ln w="12700">
            <a:solidFill>
              <a:srgbClr val="028090"/>
            </a:solidFill>
            <a:prstDash val="solid"/>
          </a:ln>
        </p:spPr>
      </p:sp>
      <p:sp>
        <p:nvSpPr>
          <p:cNvPr id="15" name="Text 13"/>
          <p:cNvSpPr/>
          <p:nvPr/>
        </p:nvSpPr>
        <p:spPr>
          <a:xfrm>
            <a:off x="548640" y="3337560"/>
            <a:ext cx="384048" cy="347472"/>
          </a:xfrm>
          <a:prstGeom prst="rect">
            <a:avLst/>
          </a:prstGeom>
          <a:noFill/>
          <a:ln/>
        </p:spPr>
        <p:txBody>
          <a:bodyPr wrap="square" rtlCol="0" anchor="ctr"/>
          <a:lstStyle/>
          <a:p>
            <a:pPr algn="ctr" indent="0" marL="0">
              <a:buNone/>
            </a:pPr>
            <a:r>
              <a:rPr lang="en-US" sz="1600" dirty="0">
                <a:solidFill>
                  <a:srgbClr val="000000"/>
                </a:solidFill>
              </a:rPr>
              <a:t>📐</a:t>
            </a:r>
            <a:endParaRPr lang="en-US" sz="1600" dirty="0"/>
          </a:p>
        </p:txBody>
      </p:sp>
      <p:sp>
        <p:nvSpPr>
          <p:cNvPr id="16" name="Text 14"/>
          <p:cNvSpPr/>
          <p:nvPr/>
        </p:nvSpPr>
        <p:spPr>
          <a:xfrm>
            <a:off x="1078992" y="3337560"/>
            <a:ext cx="7772400" cy="640080"/>
          </a:xfrm>
          <a:prstGeom prst="rect">
            <a:avLst/>
          </a:prstGeom>
          <a:noFill/>
          <a:ln/>
        </p:spPr>
        <p:txBody>
          <a:bodyPr wrap="square" rtlCol="0" anchor="ctr"/>
          <a:lstStyle/>
          <a:p>
            <a:pPr indent="0" marL="0">
              <a:buNone/>
            </a:pPr>
            <a:r>
              <a:rPr lang="en-US" sz="1250" dirty="0">
                <a:solidFill>
                  <a:srgbClr val="CADCFC"/>
                </a:solidFill>
                <a:latin typeface="Calibri" pitchFamily="34" charset="0"/>
                <a:ea typeface="Calibri" pitchFamily="34" charset="-122"/>
                <a:cs typeface="Calibri" pitchFamily="34" charset="-120"/>
              </a:rPr>
              <a:t>No existing global framework (NIST, ISO, CLASS, CFLOG) is directly deployable in Bangladesh without substantial institutional and legal adaptation</a:t>
            </a:r>
            <a:endParaRPr lang="en-US" sz="1250" dirty="0"/>
          </a:p>
        </p:txBody>
      </p:sp>
      <p:sp>
        <p:nvSpPr>
          <p:cNvPr id="17" name="Shape 15"/>
          <p:cNvSpPr/>
          <p:nvPr/>
        </p:nvSpPr>
        <p:spPr>
          <a:xfrm>
            <a:off x="548640" y="4096512"/>
            <a:ext cx="384048" cy="384048"/>
          </a:xfrm>
          <a:prstGeom prst="rect">
            <a:avLst/>
          </a:prstGeom>
          <a:solidFill>
            <a:srgbClr val="028090"/>
          </a:solidFill>
          <a:ln w="12700">
            <a:solidFill>
              <a:srgbClr val="028090"/>
            </a:solidFill>
            <a:prstDash val="solid"/>
          </a:ln>
        </p:spPr>
      </p:sp>
      <p:sp>
        <p:nvSpPr>
          <p:cNvPr id="18" name="Text 16"/>
          <p:cNvSpPr/>
          <p:nvPr/>
        </p:nvSpPr>
        <p:spPr>
          <a:xfrm>
            <a:off x="548640" y="4114800"/>
            <a:ext cx="384048" cy="347472"/>
          </a:xfrm>
          <a:prstGeom prst="rect">
            <a:avLst/>
          </a:prstGeom>
          <a:noFill/>
          <a:ln/>
        </p:spPr>
        <p:txBody>
          <a:bodyPr wrap="square" rtlCol="0" anchor="ctr"/>
          <a:lstStyle/>
          <a:p>
            <a:pPr algn="ctr" indent="0" marL="0">
              <a:buNone/>
            </a:pPr>
            <a:r>
              <a:rPr lang="en-US" sz="1600" dirty="0">
                <a:solidFill>
                  <a:srgbClr val="000000"/>
                </a:solidFill>
              </a:rPr>
              <a:t>🚀</a:t>
            </a:r>
            <a:endParaRPr lang="en-US" sz="1600" dirty="0"/>
          </a:p>
        </p:txBody>
      </p:sp>
      <p:sp>
        <p:nvSpPr>
          <p:cNvPr id="19" name="Text 17"/>
          <p:cNvSpPr/>
          <p:nvPr/>
        </p:nvSpPr>
        <p:spPr>
          <a:xfrm>
            <a:off x="1078992" y="4114800"/>
            <a:ext cx="7772400" cy="640080"/>
          </a:xfrm>
          <a:prstGeom prst="rect">
            <a:avLst/>
          </a:prstGeom>
          <a:noFill/>
          <a:ln/>
        </p:spPr>
        <p:txBody>
          <a:bodyPr wrap="square" rtlCol="0" anchor="ctr"/>
          <a:lstStyle/>
          <a:p>
            <a:pPr indent="0" marL="0">
              <a:buNone/>
            </a:pPr>
            <a:r>
              <a:rPr lang="en-US" sz="1250" dirty="0">
                <a:solidFill>
                  <a:srgbClr val="CADCFC"/>
                </a:solidFill>
                <a:latin typeface="Calibri" pitchFamily="34" charset="0"/>
                <a:ea typeface="Calibri" pitchFamily="34" charset="-122"/>
                <a:cs typeface="Calibri" pitchFamily="34" charset="-120"/>
              </a:rPr>
              <a:t>Priority actions: amend CSA 2023, establish dedicated cloud forensic unit, negotiate CSP cooperation agreements, develop a Bangladesh Cloud Forensics Framework (BCFF)</a:t>
            </a:r>
            <a:endParaRPr lang="en-US" sz="1250" dirty="0"/>
          </a:p>
        </p:txBody>
      </p:sp>
      <p:sp>
        <p:nvSpPr>
          <p:cNvPr id="20" name="Text 18"/>
          <p:cNvSpPr/>
          <p:nvPr/>
        </p:nvSpPr>
        <p:spPr>
          <a:xfrm>
            <a:off x="914400" y="4663440"/>
            <a:ext cx="7315200" cy="365760"/>
          </a:xfrm>
          <a:prstGeom prst="rect">
            <a:avLst/>
          </a:prstGeom>
          <a:noFill/>
          <a:ln/>
        </p:spPr>
        <p:txBody>
          <a:bodyPr wrap="square" rtlCol="0" anchor="ctr"/>
          <a:lstStyle/>
          <a:p>
            <a:pPr algn="ctr" indent="0" marL="0">
              <a:buNone/>
            </a:pPr>
            <a:r>
              <a:rPr lang="en-US" sz="1600" b="1" dirty="0">
                <a:solidFill>
                  <a:srgbClr val="02C39A"/>
                </a:solidFill>
                <a:latin typeface="Cambria" pitchFamily="34" charset="0"/>
                <a:ea typeface="Cambria" pitchFamily="34" charset="-122"/>
                <a:cs typeface="Cambria" pitchFamily="34" charset="-120"/>
              </a:rPr>
              <a:t>Thank You  |  Questions Welcome</a:t>
            </a:r>
            <a:endParaRPr lang="en-US" sz="1600" dirty="0"/>
          </a:p>
        </p:txBody>
      </p:sp>
      <p:sp>
        <p:nvSpPr>
          <p:cNvPr id="21" name="Shape 19"/>
          <p:cNvSpPr/>
          <p:nvPr/>
        </p:nvSpPr>
        <p:spPr>
          <a:xfrm>
            <a:off x="0" y="5074920"/>
            <a:ext cx="9144000" cy="64008"/>
          </a:xfrm>
          <a:prstGeom prst="rect">
            <a:avLst/>
          </a:prstGeom>
          <a:solidFill>
            <a:srgbClr val="02C39A"/>
          </a:solidFill>
          <a:ln w="12700">
            <a:solidFill>
              <a:srgbClr val="02C39A"/>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2026-08-24T05:50:24Z</dcterms:created>
  <dcterms:modified xsi:type="dcterms:W3CDTF">2026-08-24T05:50:24Z</dcterms:modified>
</cp:coreProperties>
</file>