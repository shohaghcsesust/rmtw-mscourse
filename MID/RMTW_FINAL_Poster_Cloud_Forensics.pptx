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32918400" cy="4437221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FCCE8-A067-BC60-9055-3952C1EA5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14800" y="7261844"/>
            <a:ext cx="24688800" cy="15448104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6BB0E-338C-B39E-E342-0A6DA7DBD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14800" y="23305687"/>
            <a:ext cx="24688800" cy="1071301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9B5571-E8F1-43BA-1399-BD0ACCF77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3CDD7-FEB8-7191-5EE9-31B5126D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A0F54-6308-6D30-57A2-6B0AC7E4E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4932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950E0-9C36-35A1-5DE9-836E83565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E3ACE-2639-BBB8-31A4-33FF6857C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ED7A7-8CF9-C4AB-4E1C-698BAD05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31E999-C111-A196-9BFD-A6E19A2A2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363F4-B19E-2627-0284-5527B84A0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677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AA36-586D-2BAD-B900-52F6284F7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995" y="11062253"/>
            <a:ext cx="28392120" cy="1845760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4C149-932B-232D-37D0-FFBD86DD6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45995" y="29694474"/>
            <a:ext cx="28392120" cy="970641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80A61-7141-7A64-CCD5-92FA2E828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889F3-F678-FBAF-0AFE-9E262862D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BF45F-7B36-0C69-D316-E5C40D07E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017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B7E2E-E055-8164-0D72-199CFFD1C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DB2C1-F258-26FE-552D-647A8C2B7B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263140" y="11812048"/>
            <a:ext cx="13990320" cy="2815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BC8AA-4CEF-453A-BBEF-E75A92C47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64940" y="11812048"/>
            <a:ext cx="13990320" cy="281537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5D091-86F1-9BDE-52DD-0AA940EC1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CE3361-71C3-1FB6-3C26-899DB5127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85C25-5628-4099-06A5-3BA8937F1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806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926D-0B51-3EA6-A994-FDFDC176E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428" y="2362420"/>
            <a:ext cx="28392120" cy="85765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3FC91B-09CB-BEA4-9883-BB4EE95901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7431" y="10877359"/>
            <a:ext cx="13926025" cy="5330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C2E4D1-6E86-7CEE-8899-0D980065CD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67431" y="16208184"/>
            <a:ext cx="13926025" cy="23839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BEF13F-CDBA-21E0-D39D-FA285B2EF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664940" y="10877359"/>
            <a:ext cx="13994608" cy="53308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01F2EA-1A84-F7A1-6C4E-8D8F1E398F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664940" y="16208184"/>
            <a:ext cx="13994608" cy="23839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50330-C3BB-B112-978E-1DC33EF08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3FBD82-F641-1EAC-1824-FF4559D3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0AC33D-DDAE-E69B-6B57-D2B46631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8498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5FF6-ACE9-4A5E-359B-DA93AEB72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74421-72E5-F0BA-8E2F-3404602CA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0A9278-B81F-F9FE-8391-B50778388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07B649-BABD-E566-0561-815A1081B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635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71D254-92AE-11D0-6222-DB71CE61A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08AC8C-E373-9EDE-1213-89F5EA0A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3EBF5-2AE5-5C4F-A1A8-34686E41C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8417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CF72F-420A-6F0C-635A-3F890A3BD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429" y="2958148"/>
            <a:ext cx="10617040" cy="103535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18F43-5C50-3C55-96F1-15FBD07FA3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4608" y="6388787"/>
            <a:ext cx="16664940" cy="3153303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823E7D-FDEB-ED85-FBD8-CA587722C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7429" y="13311664"/>
            <a:ext cx="10617040" cy="2466150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4D8E62-8D25-8268-8EE5-F153A786C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2B0E-AFC4-464A-B985-66B9C3C2A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658B6-918C-4283-54DD-24877CCC7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614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ED16C-1225-35BE-99E3-3829985C7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7429" y="2958148"/>
            <a:ext cx="10617040" cy="1035351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E25D8D-FE94-83B0-AA70-1463C01D24B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3994608" y="6388787"/>
            <a:ext cx="16664940" cy="3153303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402987-343B-75E2-CC32-70E7CDAC5C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267429" y="13311664"/>
            <a:ext cx="10617040" cy="2466150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95341B-37AD-45AD-44CA-2152DA32A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6909E-72D2-9F55-D53B-594E24D30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F5E5B-D149-4784-2141-5B66DFFA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6830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38756-0D3B-F162-0829-479CE1843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38FE3-C563-FED7-6FDA-B3FC4C3471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27E7C-C1B8-6CAD-A6E1-0B12883E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2494E-0681-DB0E-A06B-78DA9BD61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19977-231F-ECDB-DAA1-EF873CFA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66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C4E71-1BD0-E6B1-5038-E030ABAC89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3557230" y="2362410"/>
            <a:ext cx="7098030" cy="376033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A9666-3DC9-3B36-1D65-39F9421E23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63140" y="2362410"/>
            <a:ext cx="20882610" cy="376033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76A3E-849D-275C-29C8-D66BEBEE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406D0-AB06-34AF-2EBF-528F5C8E0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23FDE8-1EA0-DF22-CBEC-1AE66F86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4869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764B99-CD2E-CA60-980C-AF9B59985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3140" y="2362420"/>
            <a:ext cx="28392120" cy="8576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ACCC86-7FEA-A4C2-7CE9-A0BBE805A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63140" y="11812048"/>
            <a:ext cx="28392120" cy="28153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FA556-1F9F-F496-7010-DFC070BB07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63140" y="41126478"/>
            <a:ext cx="7406640" cy="236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B80893-9CB6-462F-ABF4-4218F638CBA6}" type="datetimeFigureOut">
              <a:rPr lang="en-GB" smtClean="0"/>
              <a:t>25/09/2026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52077-A668-6EF7-346A-24994FECF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4220" y="41126478"/>
            <a:ext cx="11109960" cy="236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6B725-7EED-C1F9-BBF3-77F151AE42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3248620" y="41126478"/>
            <a:ext cx="7406640" cy="23624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7AF64C-72BF-4470-96B4-89D7809CA5D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703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78F4528-BEA8-3984-CDCD-1380A0725818}"/>
              </a:ext>
            </a:extLst>
          </p:cNvPr>
          <p:cNvSpPr txBox="1"/>
          <p:nvPr/>
        </p:nvSpPr>
        <p:spPr>
          <a:xfrm>
            <a:off x="1143000" y="5238950"/>
            <a:ext cx="30632400" cy="1405513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600">
                <a:solidFill>
                  <a:srgbClr val="5A3C00"/>
                </a:solidFill>
                <a:latin typeface="Calibri" panose="020F0502020204030204" pitchFamily="34" charset="0"/>
              </a:rPr>
              <a:t>The Cyber Security Ordinance 2025 REPEALED the Cyber Security Act 2023 outright -- the same cloud-evidence gap persists under the new law. NEW: the Personal Data Protection (Amendment) Ordinance 2026 (signed 5 Feb 2026) now requires a real-time in-country cloud copy for "restricted" data or Critical Information Infrastructure (CII) -- an incidental opening for future forensic-audit-access legislation that this review's framework is positioned to use.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0ED8BD-848D-C301-820D-DCC0C66E2BF2}"/>
              </a:ext>
            </a:extLst>
          </p:cNvPr>
          <p:cNvSpPr txBox="1"/>
          <p:nvPr/>
        </p:nvSpPr>
        <p:spPr>
          <a:xfrm>
            <a:off x="1143000" y="4388923"/>
            <a:ext cx="30632400" cy="69762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200" b="1">
                <a:solidFill>
                  <a:srgbClr val="8C5A00"/>
                </a:solidFill>
                <a:latin typeface="Calibri" panose="020F0502020204030204" pitchFamily="34" charset="0"/>
              </a:rPr>
              <a:t>LATEST REGULATORY UPDATE (2026)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28C5B4-127F-C880-044C-E2AEFCF84534}"/>
              </a:ext>
            </a:extLst>
          </p:cNvPr>
          <p:cNvSpPr txBox="1"/>
          <p:nvPr/>
        </p:nvSpPr>
        <p:spPr>
          <a:xfrm>
            <a:off x="0" y="240505"/>
            <a:ext cx="32918400" cy="3703916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noAutofit/>
          </a:bodyPr>
          <a:lstStyle/>
          <a:p>
            <a:r>
              <a:rPr lang="en-GB" sz="1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2CA3D1-2DF7-4FA6-F50E-D58E9F737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62D29A-25AC-6924-55BD-F9B7D57D652D}"/>
              </a:ext>
            </a:extLst>
          </p:cNvPr>
          <p:cNvSpPr txBox="1"/>
          <p:nvPr/>
        </p:nvSpPr>
        <p:spPr>
          <a:xfrm>
            <a:off x="762000" y="748506"/>
            <a:ext cx="31394400" cy="2051844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GB" sz="6000" b="1">
                <a:solidFill>
                  <a:srgbClr val="FFFFFF"/>
                </a:solidFill>
                <a:latin typeface="Calibri" panose="020F0502020204030204" pitchFamily="34" charset="0"/>
              </a:rPr>
              <a:t>Cloud Forensics Challenges in Bangladesh: A PRISMA Systematic Review with AI-Enhanced Resolution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267ED-187A-485C-0BE1-CCFEEE10C61E}"/>
              </a:ext>
            </a:extLst>
          </p:cNvPr>
          <p:cNvSpPr txBox="1"/>
          <p:nvPr/>
        </p:nvSpPr>
        <p:spPr>
          <a:xfrm>
            <a:off x="762000" y="2990850"/>
            <a:ext cx="31394400" cy="636072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GB" sz="2800">
                <a:solidFill>
                  <a:srgbClr val="D2DCEB"/>
                </a:solidFill>
                <a:latin typeface="Calibri" panose="020F0502020204030204" pitchFamily="34" charset="0"/>
              </a:rPr>
              <a:t>Md. Ahsan Kabir  |  Dept. of CSE, United International University, Dhaka  |  mkabir2520016@mscse.uiu.ac.bd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D0285-34C8-79CA-4C1A-1C56020D07A2}"/>
              </a:ext>
            </a:extLst>
          </p:cNvPr>
          <p:cNvSpPr txBox="1"/>
          <p:nvPr/>
        </p:nvSpPr>
        <p:spPr>
          <a:xfrm>
            <a:off x="762000" y="4198422"/>
            <a:ext cx="31394400" cy="220573"/>
          </a:xfrm>
          <a:prstGeom prst="rect">
            <a:avLst/>
          </a:prstGeom>
          <a:solidFill>
            <a:srgbClr val="FFF3CD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1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135A8-1E03-9332-419D-A3A0169CA262}"/>
              </a:ext>
            </a:extLst>
          </p:cNvPr>
          <p:cNvSpPr txBox="1"/>
          <p:nvPr/>
        </p:nvSpPr>
        <p:spPr>
          <a:xfrm>
            <a:off x="762000" y="7342963"/>
            <a:ext cx="14935200" cy="728405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Calibri" panose="020F0502020204030204" pitchFamily="34" charset="0"/>
              </a:rPr>
              <a:t>1. Introduction &amp; Motivation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B1698-86EC-4C02-3DFF-0CC98BFA84A3}"/>
              </a:ext>
            </a:extLst>
          </p:cNvPr>
          <p:cNvSpPr txBox="1"/>
          <p:nvPr/>
        </p:nvSpPr>
        <p:spPr>
          <a:xfrm>
            <a:off x="762000" y="8223768"/>
            <a:ext cx="14935200" cy="174406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Bangladesh: 100M+ internet-enabled devices; USD 1.2B+ public-sector cloud procurement since 2020. Investigative laws (ICT Act 2006, Cyber Security Ordinance 2025) were drafted for physical devices and are silent on cloud-hosted evidence. Result: a disproportionately high acquittal rate on cloud-evidence cases -- driven by chain-of-custody failures and Section 65B admissibility gaps, not disputed facts.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7DBAB7C-2D22-B1EC-D627-42790D775117}"/>
              </a:ext>
            </a:extLst>
          </p:cNvPr>
          <p:cNvSpPr txBox="1"/>
          <p:nvPr/>
        </p:nvSpPr>
        <p:spPr>
          <a:xfrm>
            <a:off x="762000" y="10412335"/>
            <a:ext cx="14935200" cy="728405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Calibri" panose="020F0502020204030204" pitchFamily="34" charset="0"/>
              </a:rPr>
              <a:t>2. Research Gap &amp; Questions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FB24E-C6D5-F53E-602A-B125D0EA7EFF}"/>
              </a:ext>
            </a:extLst>
          </p:cNvPr>
          <p:cNvSpPr txBox="1"/>
          <p:nvPr/>
        </p:nvSpPr>
        <p:spPr>
          <a:xfrm>
            <a:off x="762000" y="11293139"/>
            <a:ext cx="14935200" cy="2128788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No prior PRISMA-based study maps cloud forensics challenges to Bangladesh's legal context.</a:t>
            </a:r>
          </a:p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RQ1: Technical cloud-forensics challenges in Bangladesh?</a:t>
            </a:r>
          </a:p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RQ2: Legal barriers to cloud-evidence admissibility?</a:t>
            </a:r>
          </a:p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RQ3: How can AI tools address RQ1/RQ2?</a:t>
            </a:r>
          </a:p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RQ4: What implementable framework improves Bangladesh's readiness?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147D25-EE46-6DC9-434F-1D04C83FE744}"/>
              </a:ext>
            </a:extLst>
          </p:cNvPr>
          <p:cNvSpPr txBox="1"/>
          <p:nvPr/>
        </p:nvSpPr>
        <p:spPr>
          <a:xfrm>
            <a:off x="762000" y="13866429"/>
            <a:ext cx="14935200" cy="728405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Calibri" panose="020F0502020204030204" pitchFamily="34" charset="0"/>
              </a:rPr>
              <a:t>3. Methodology (PRISMA 2020)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C5397A-E581-75E0-0F18-E6F5E46CC70F}"/>
              </a:ext>
            </a:extLst>
          </p:cNvPr>
          <p:cNvSpPr txBox="1"/>
          <p:nvPr/>
        </p:nvSpPr>
        <p:spPr>
          <a:xfrm>
            <a:off x="762000" y="14747233"/>
            <a:ext cx="14935200" cy="97462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782 records identified -&gt; 534 screened -&gt; 48 full-text reviewed -&gt; 16 studies included (2021-2026, open-access). 7 repositories, 6 query strings, single-reviewer thematic coding.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C34AEAF-FF9F-9056-8DF4-536B331E409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5975859"/>
            <a:ext cx="14935200" cy="1135075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64306BF7-F1E1-B38D-BE5A-AC30A87A78DA}"/>
              </a:ext>
            </a:extLst>
          </p:cNvPr>
          <p:cNvSpPr txBox="1"/>
          <p:nvPr/>
        </p:nvSpPr>
        <p:spPr>
          <a:xfrm>
            <a:off x="762000" y="27771112"/>
            <a:ext cx="14935200" cy="728405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Calibri" panose="020F0502020204030204" pitchFamily="34" charset="0"/>
              </a:rPr>
              <a:t>4. Discussion &amp; Contribution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EE0C32-8769-D99D-CD9D-5B719382F0B1}"/>
              </a:ext>
            </a:extLst>
          </p:cNvPr>
          <p:cNvSpPr txBox="1"/>
          <p:nvPr/>
        </p:nvSpPr>
        <p:spPr>
          <a:xfrm>
            <a:off x="762000" y="28651917"/>
            <a:ext cx="14935200" cy="174406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First Bangladesh-specific PRISMA synthesis linking cloud forensics gaps to validated AI tools. Reframes the problem: the tools already exist -- the real gap is legal recognition and adoption, not missing technology. "Power of Disposal" (Karagiannis &amp; Vergidis, 2021): only the cloud provider, not the Bangladeshi state, can currently grant access to cloud-hosted data.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8AD284-4DDB-A051-51F9-19F2366D212A}"/>
              </a:ext>
            </a:extLst>
          </p:cNvPr>
          <p:cNvSpPr txBox="1"/>
          <p:nvPr/>
        </p:nvSpPr>
        <p:spPr>
          <a:xfrm>
            <a:off x="16967200" y="7342963"/>
            <a:ext cx="14935200" cy="728405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Calibri" panose="020F0502020204030204" pitchFamily="34" charset="0"/>
              </a:rPr>
              <a:t>5. Results: AI-CFRF-BD Framework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C6A18F-3042-AE44-8E63-46E21CB6CA73}"/>
              </a:ext>
            </a:extLst>
          </p:cNvPr>
          <p:cNvSpPr txBox="1"/>
          <p:nvPr/>
        </p:nvSpPr>
        <p:spPr>
          <a:xfrm>
            <a:off x="16967200" y="8223768"/>
            <a:ext cx="14935200" cy="589905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Five challenge clusters (C1-C5), each mapped to a validated AI/automation tool with quantitative evidence.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A9FB21D-A9B8-E76D-55DB-78056EA8A69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67200" y="9067672"/>
            <a:ext cx="14935200" cy="1135075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378213E5-B98B-06E1-E42B-1A91610CD21F}"/>
              </a:ext>
            </a:extLst>
          </p:cNvPr>
          <p:cNvSpPr txBox="1"/>
          <p:nvPr/>
        </p:nvSpPr>
        <p:spPr>
          <a:xfrm>
            <a:off x="16967200" y="20862924"/>
            <a:ext cx="14935200" cy="174406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Phase 1 (no legislative change): CIAF log hash-stamping (C1, 93% F1); ML-CF artefact isolation (C2); Self-Hosted CF pre-incident capture (C5).</a:t>
            </a:r>
          </a:p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Phase 2 (Ministry of Law practice note): Blockchain chain-of-custody (C3, compatible in 14/17 jurisdictions).</a:t>
            </a:r>
          </a:p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Phase 3 (inter-ministerial): CLERMS MLAT pre-validation (C4, 40-70% latency reduction).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E0CE1B-0779-AE52-5F1C-C75264541646}"/>
              </a:ext>
            </a:extLst>
          </p:cNvPr>
          <p:cNvSpPr txBox="1"/>
          <p:nvPr/>
        </p:nvSpPr>
        <p:spPr>
          <a:xfrm>
            <a:off x="16967200" y="23051490"/>
            <a:ext cx="14935200" cy="728405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Calibri" panose="020F0502020204030204" pitchFamily="34" charset="0"/>
              </a:rPr>
              <a:t>6. Limitations &amp; Future Work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8B0018-D248-0C43-7968-8674AA60B35A}"/>
              </a:ext>
            </a:extLst>
          </p:cNvPr>
          <p:cNvSpPr txBox="1"/>
          <p:nvPr/>
        </p:nvSpPr>
        <p:spPr>
          <a:xfrm>
            <a:off x="16967200" y="23932296"/>
            <a:ext cx="14935200" cy="1359346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500">
                <a:solidFill>
                  <a:srgbClr val="141414"/>
                </a:solidFill>
                <a:latin typeface="Calibri" panose="020F0502020204030204" pitchFamily="34" charset="0"/>
              </a:rPr>
              <a:t>Single-reviewer coding; English/open-access sources only. Framework is synthesis-level -- not yet piloted on Bangladeshi data. Next steps: NTMC pilot of a Phase-1 tool; a narrow forensic-audit-access amendment leveraging the new CII residency rule; practitioner consultation with CID Digital Forensics &amp; BGD e-GOV CIRT.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3E19E06-4E2C-F4F4-CC9A-346E1AADB990}"/>
              </a:ext>
            </a:extLst>
          </p:cNvPr>
          <p:cNvSpPr txBox="1"/>
          <p:nvPr/>
        </p:nvSpPr>
        <p:spPr>
          <a:xfrm>
            <a:off x="16967200" y="25736143"/>
            <a:ext cx="14935200" cy="728405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Calibri" panose="020F0502020204030204" pitchFamily="34" charset="0"/>
              </a:rPr>
              <a:t>References (selected)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011700-FEF1-BFE1-6194-BEB36697797C}"/>
              </a:ext>
            </a:extLst>
          </p:cNvPr>
          <p:cNvSpPr txBox="1"/>
          <p:nvPr/>
        </p:nvSpPr>
        <p:spPr>
          <a:xfrm>
            <a:off x="16967200" y="26616947"/>
            <a:ext cx="14935200" cy="1220847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2200">
                <a:solidFill>
                  <a:srgbClr val="141414"/>
                </a:solidFill>
                <a:latin typeface="Calibri" panose="020F0502020204030204" pitchFamily="34" charset="0"/>
              </a:rPr>
              <a:t>[1] Alshabibi et al. 2024  ·  [8] Karagiannis &amp; Vergidis 2021  ·  [11] Uzzal 2025  ·  [15] Sharmin &amp; Rahman 2025  ·  [20] Cyber Security Ordinance 2025  ·  [21] PDPO (Amendment) Ordinance 2026</a:t>
            </a:r>
          </a:p>
          <a:p>
            <a:r>
              <a:rPr lang="en-GB" sz="2200">
                <a:solidFill>
                  <a:srgbClr val="141414"/>
                </a:solidFill>
                <a:latin typeface="Calibri" panose="020F0502020204030204" pitchFamily="34" charset="0"/>
              </a:rPr>
              <a:t>Full 22-reference list in the accompanying paper.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DFADC83-656F-45A2-4191-35699234A97A}"/>
              </a:ext>
            </a:extLst>
          </p:cNvPr>
          <p:cNvSpPr txBox="1"/>
          <p:nvPr/>
        </p:nvSpPr>
        <p:spPr>
          <a:xfrm>
            <a:off x="0" y="43369707"/>
            <a:ext cx="32918400" cy="220573"/>
          </a:xfrm>
          <a:prstGeom prst="rect">
            <a:avLst/>
          </a:prstGeom>
          <a:solidFill>
            <a:srgbClr val="1B2747"/>
          </a:solidFill>
        </p:spPr>
        <p:txBody>
          <a:bodyPr vert="horz" wrap="square" lIns="127000" tIns="101600" rIns="127000" bIns="101600" rtlCol="0">
            <a:spAutoFit/>
          </a:bodyPr>
          <a:lstStyle/>
          <a:p>
            <a:r>
              <a:rPr lang="en-GB" sz="100"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CCD3E4E-2F35-B82C-2C7B-80EBB8865BE6}"/>
              </a:ext>
            </a:extLst>
          </p:cNvPr>
          <p:cNvSpPr txBox="1"/>
          <p:nvPr/>
        </p:nvSpPr>
        <p:spPr>
          <a:xfrm>
            <a:off x="762000" y="43560207"/>
            <a:ext cx="31394400" cy="543739"/>
          </a:xfrm>
          <a:prstGeom prst="rect">
            <a:avLst/>
          </a:prstGeom>
          <a:noFill/>
        </p:spPr>
        <p:txBody>
          <a:bodyPr vert="horz" wrap="square" lIns="127000" tIns="101600" rIns="127000" bIns="101600" rtlCol="0">
            <a:spAutoFit/>
          </a:bodyPr>
          <a:lstStyle/>
          <a:p>
            <a:pPr algn="ctr"/>
            <a:r>
              <a:rPr lang="en-GB" sz="2200">
                <a:solidFill>
                  <a:srgbClr val="DCDCE6"/>
                </a:solidFill>
                <a:latin typeface="Calibri" panose="020F0502020204030204" pitchFamily="34" charset="0"/>
              </a:rPr>
              <a:t>CSE 6093 - Research Methodologies and Technical Writing  |  Final Presentation  |  United International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2731420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579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10635-Ahsan-Kabir</dc:creator>
  <cp:lastModifiedBy>10635-Ahsan-Kabir</cp:lastModifiedBy>
  <cp:revision>1</cp:revision>
  <dcterms:created xsi:type="dcterms:W3CDTF">2026-09-25T14:01:27Z</dcterms:created>
  <dcterms:modified xsi:type="dcterms:W3CDTF">2026-09-25T14:01:27Z</dcterms:modified>
</cp:coreProperties>
</file>