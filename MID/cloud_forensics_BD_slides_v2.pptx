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11247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Forensics Challenges in Bangladesh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PRISMA Systematic Review with AI-Enhanced Resolution Strategies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3200400"/>
            <a:ext cx="5760720" cy="36576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Ahsan Kabir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BJIT Limited, Dhaka, Bangladesh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251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6093 – Research Methodology and Technical Writing | August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Open-Access Papers  |  PRISMA 2020  |  2021–2025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48640" cy="5943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887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234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Background &amp; Motivation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5087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digital growth + forensic gap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548640" cy="5943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084832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1305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40487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2020 – 147 → 14 papers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80944"/>
            <a:ext cx="548640" cy="5943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980944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02666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Forensics Challenge Taxonomy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33009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challenge clusters from 14 papers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877056"/>
            <a:ext cx="548640" cy="5943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87705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92277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Resolution Strategies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4197096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LLM, ML, Blockchain, CLERMS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773168"/>
            <a:ext cx="548640" cy="5943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773168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481888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Framework (AI-CFRF-BD)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509320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model for Bangladesh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5669280"/>
            <a:ext cx="548640" cy="5943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566928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5715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05840" y="5989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Legislative &amp; technical recommendations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Background &amp; Motivation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486400" cy="3657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Digital Reality (2024–2026)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Ranked 100th/193 in UN EGDI 2024 (EGDI: 0.6570)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02996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Improved 11 positions in 2 years (Ahmed &amp; Arifuzzaman, 2025)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505456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BCC trained 36,000+ in ICT (2010–2022)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980944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7,000+ cases under CSA 2023, few convictions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45643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No cloud-specific forensic framework exists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9319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Not a signatory to Budapest Convention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5669280" cy="36576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0972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Cloud Forensics Matters Now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15727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Cloud adoption accelerating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1810512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Gov, banking, healthcare migrating to cloud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2148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AI enables forensic automation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2386584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CIAF achieves 93% F1 (Alharthi, 2025)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27249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Evidence volatility is critical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296265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matter; logs auto-delete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330098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Cross-border latency is severe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353872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MLAT takes 6 weeks–10 months (Akilal, 2025)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387705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Legal gaps persist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411480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 2023 misaligned with GDPR/Budapest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PRISMA 2020 Systematic Review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011680" cy="8229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965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06040" y="123444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from arXiv, MDPI,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Scholar, SSRN, NDC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2011680" cy="82296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945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3063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06040" y="233172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deduplication;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excluded by title/abstract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2011680" cy="822960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91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4160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06040" y="34290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assessed;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excluded (paywall, duplicate)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389120"/>
            <a:ext cx="2011680" cy="82296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389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606040" y="452628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corpus: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journals + 4 arXiv + 1 NDC + 1 SSRN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0" y="1097280"/>
            <a:ext cx="5029200" cy="3657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Criteria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49440" y="1554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Peer-reviewed / academically refereed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49440" y="1920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Publication year 2021–2025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49440" y="22860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Open access (no paywall)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49440" y="2651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Cloud forensics, DFI methodology, or BD cyber law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0" y="3200400"/>
            <a:ext cx="5029200" cy="36576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3200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Criteria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49440" y="36576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Paywall / subscription-only content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49440" y="40233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Non-English publications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9440" y="4389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Opinion pieces (no empirical basis)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49440" y="47548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Duplicate publications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0" y="5669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Corpus: 14 papers | 2021–2025 | 5 databases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Forensics Challenge Taxonomy (5 Clusters)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1097280"/>
            <a:ext cx="3749040" cy="41148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1097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C1: Technical Barriers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508760"/>
            <a:ext cx="3749040" cy="1737360"/>
          </a:xfrm>
          <a:prstGeom prst="rect">
            <a:avLst/>
          </a:prstGeom>
          <a:solidFill>
            <a:srgbClr val="F5F5F5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727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Volatile data (ephemeral VMs/containers)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" y="195681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Multi-tenancy &amp; tenant isolation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23408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Encryption opacity (E2E)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27249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Petabyte-scale log volumes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2880" y="33101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Alenezi 2023; Prakash et al. 2021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69664" y="1097280"/>
            <a:ext cx="3749040" cy="41148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3" name="Text 11"/>
          <p:cNvSpPr/>
          <p:nvPr/>
        </p:nvSpPr>
        <p:spPr>
          <a:xfrm>
            <a:off x="4169664" y="1097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C2: Legal &amp; Jurisdictional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9664" y="1508760"/>
            <a:ext cx="3749040" cy="1737360"/>
          </a:xfrm>
          <a:prstGeom prst="rect">
            <a:avLst/>
          </a:prstGeom>
          <a:solidFill>
            <a:srgbClr val="F5F5F5"/>
          </a:solidFill>
          <a:ln w="19050">
            <a:solidFill>
              <a:srgbClr val="7B1FA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61104" y="15727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ICT Act 2006 / CSA 2023 gaps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61104" y="195681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Territoriality (loss of location)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261104" y="23408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Budapest Convention membership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61104" y="27249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CSP content ownership ambiguity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69664" y="33101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Karagiannis &amp; Vergidis 2021; Ahmed et al. 2025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156448" y="1097280"/>
            <a:ext cx="3749040" cy="411480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21" name="Text 19"/>
          <p:cNvSpPr/>
          <p:nvPr/>
        </p:nvSpPr>
        <p:spPr>
          <a:xfrm>
            <a:off x="8156448" y="1097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C3: Evidence Integrity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56448" y="1508760"/>
            <a:ext cx="3749040" cy="1737360"/>
          </a:xfrm>
          <a:prstGeom prst="rect">
            <a:avLst/>
          </a:prstGeom>
          <a:solidFill>
            <a:srgbClr val="F5F5F5"/>
          </a:solidFill>
          <a:ln w="19050">
            <a:solidFill>
              <a:srgbClr val="FFA7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47888" y="15727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cloud chain-of-custody standard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47888" y="195681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Evidence tampering risk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47888" y="23408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 rotation destroys evidence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47888" y="27249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Admissibility under ACPO/ISO 27037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156448" y="33101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Igonor et al. 2025; Karagiannis &amp; Vergidis 2021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82880" y="3840480"/>
            <a:ext cx="3749040" cy="41148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29" name="Text 27"/>
          <p:cNvSpPr/>
          <p:nvPr/>
        </p:nvSpPr>
        <p:spPr>
          <a:xfrm>
            <a:off x="182880" y="38404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C4: Forensic Readiness Gaps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82880" y="4251960"/>
            <a:ext cx="3749040" cy="1737360"/>
          </a:xfrm>
          <a:prstGeom prst="rect">
            <a:avLst/>
          </a:prstGeom>
          <a:solidFill>
            <a:srgbClr val="F5F5F5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3159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BD cloud forensic framework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74320" y="470001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ISO/IEC 27043 not cloud-adapted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74320" y="50840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Untrained law enforcement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74320" y="54681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specialised tools policy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82880" y="60533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Ali NDC; Tageldin &amp; Venter 2023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69664" y="3840480"/>
            <a:ext cx="3749040" cy="41148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37" name="Text 35"/>
          <p:cNvSpPr/>
          <p:nvPr/>
        </p:nvSpPr>
        <p:spPr>
          <a:xfrm>
            <a:off x="4169664" y="38404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C5: Cross-Border Access Latency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169664" y="4251960"/>
            <a:ext cx="3749040" cy="1737360"/>
          </a:xfrm>
          <a:prstGeom prst="rect">
            <a:avLst/>
          </a:prstGeom>
          <a:solidFill>
            <a:srgbClr val="F5F5F5"/>
          </a:solidFill>
          <a:ln w="19050">
            <a:solidFill>
              <a:srgbClr val="43A0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61104" y="43159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MLAT takes 6 weeks – 10 months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261104" y="470001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CLOUD Act equivalent in BD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261104" y="50840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Foreign-domiciled CSPs (AWS, Azure)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261104" y="54681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CSP transparency variability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169664" y="60533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Akilal &amp; Kechadi 2025; Uzzal 2025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Resolution Strategies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5760720" cy="4572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143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CIAF: LLM-Driven Log Analysis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43400" y="1143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 Precision/Recall/F1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600200"/>
            <a:ext cx="5760720" cy="2240280"/>
          </a:xfrm>
          <a:prstGeom prst="rect">
            <a:avLst/>
          </a:prstGeom>
          <a:solidFill>
            <a:srgbClr val="FAFAFA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91640"/>
            <a:ext cx="5577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Ontology-driven LLM framework automates 6-step forensic process on Azure logs. Eliminates ambiguity via semantic validation.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8346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Fixes: C1 Volatile Data, C4 Readiness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3154680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Alharthi &amp; Garcia, arXiv:2510.00452, 2025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63640" y="1143000"/>
            <a:ext cx="5760720" cy="45720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143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ML-Based Evidence Triage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378440" y="1143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+ Unsupervised ML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63640" y="1600200"/>
            <a:ext cx="5760720" cy="2240280"/>
          </a:xfrm>
          <a:prstGeom prst="rect">
            <a:avLst/>
          </a:prstGeom>
          <a:solidFill>
            <a:srgbClr val="FAFAFA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691640"/>
            <a:ext cx="5577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 across petabyte-scale logs. Supervised learning for known threat classification; unsupervised for novel crime patterns.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28346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Fixes: C1 Data Volume, C4 Tools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55080" y="3154680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Tageldin &amp; Venter, Applied Sciences 2023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3977640"/>
            <a:ext cx="5760720" cy="45720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" y="3977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⛓️  Blockchain Chain-of-Custody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43400" y="3977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Evidence Ledger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4434840"/>
            <a:ext cx="5760720" cy="2240280"/>
          </a:xfrm>
          <a:prstGeom prst="rect">
            <a:avLst/>
          </a:prstGeom>
          <a:solidFill>
            <a:srgbClr val="FAFAFA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526280"/>
            <a:ext cx="5577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blockchain records all evidence-handling actions. Smart contracts automate custody logging. Satisfies ISO/IEC 27037 requirements.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566928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Fixes: C3 Evidence Integrity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0040" y="5989320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Igonor, Amin &amp; Garg, Blockchains 2025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63640" y="3977640"/>
            <a:ext cx="5760720" cy="457200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977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CLERMS: Open-Source LE Requests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378440" y="3977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10-month MLAT wait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4434840"/>
            <a:ext cx="5760720" cy="2240280"/>
          </a:xfrm>
          <a:prstGeom prst="rect">
            <a:avLst/>
          </a:prstGeom>
          <a:solidFill>
            <a:srgbClr val="FAFAFA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4526280"/>
            <a:ext cx="5577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Law Enforcement Request Management System automates CSP communication. Ensures CSP compliance transparency. Open-source deployment.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566928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Fixes: C2 Jurisdiction, C5 Cross-border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55080" y="5989320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Akilal &amp; Kechadi, arXiv:2507.04174, 2025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Framework: AI-CFRF-BD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Cloud Forensic Readiness Framework for Bangladesh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548640" cy="6858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4300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60120" y="1188720"/>
            <a:ext cx="10927080" cy="594360"/>
          </a:xfrm>
          <a:prstGeom prst="rect">
            <a:avLst/>
          </a:prstGeom>
          <a:solidFill>
            <a:srgbClr val="F9F9F9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2070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LLM-Powered Log Monitoring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44475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CIAF-type deployment across gov &amp; critical cloud infrastructure. Real-time forensic readiness with 93% threat detection accuracy.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121408"/>
            <a:ext cx="548640" cy="68580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121408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60120" y="2167128"/>
            <a:ext cx="10927080" cy="594360"/>
          </a:xfrm>
          <a:prstGeom prst="rect">
            <a:avLst/>
          </a:prstGeom>
          <a:solidFill>
            <a:srgbClr val="F9F9F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1854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Evidence Triage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2423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Supervised/unsupervised ML trained on Bangladeshi threat patterns. Automates forensically relevant event extraction from petabyte-scale logs.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099816"/>
            <a:ext cx="548640" cy="68580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099816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60120" y="3145536"/>
            <a:ext cx="10927080" cy="594360"/>
          </a:xfrm>
          <a:prstGeom prst="rect">
            <a:avLst/>
          </a:prstGeom>
          <a:solidFill>
            <a:srgbClr val="F9F9F9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31638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Evidence Ledger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40156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chain-of-custody for all government cloud investigations. ISO/IEC 27037 aligned. Smart contract automation.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078224"/>
            <a:ext cx="548640" cy="685800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078224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60120" y="4123944"/>
            <a:ext cx="10927080" cy="594360"/>
          </a:xfrm>
          <a:prstGeom prst="rect">
            <a:avLst/>
          </a:prstGeom>
          <a:solidFill>
            <a:srgbClr val="F9F9F9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1422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CLERMS Integration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4379976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LE request management for cross-border CSP evidence. Reduces MLAT timelines from months to days.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5056632"/>
            <a:ext cx="548640" cy="6858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5056632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60120" y="5102352"/>
            <a:ext cx="10927080" cy="594360"/>
          </a:xfrm>
          <a:prstGeom prst="rect">
            <a:avLst/>
          </a:prstGeom>
          <a:solidFill>
            <a:srgbClr val="F9F9F9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5120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Framework Alignment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5358384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CSA 2023 + Data Protection Bill with cloud forensic provisions. Budapest Convention accession roadmap.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" y="621792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all 5 Challenge Clusters | Grounded in 14 Open-Access Papers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486400" cy="3657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05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4475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5 challenge clusters identified across 14 papers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Bangladesh ranked 100th/193 in EGDI; 7000+ cyber cases, few convictions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230428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MLAT access latency: 6 weeks–10 months (critical for volatile evidence)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273405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 (CIAF) achieves 93% F1 in cloud forensic log analysis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316382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cloud-specific forensic framework exists in Bangladesh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005840"/>
            <a:ext cx="5669280" cy="365760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0058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9360" y="144475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Empirical validation of AI-CFRF-BD in Bangladesh cloud environments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09360" y="18745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CIAF performance evaluation on BD-specific threat actor patterns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09360" y="230428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Bangladesh cloud forensic capacity-building curriculum design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09360" y="273405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Budapest Convention accession impact assessment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09360" y="316382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CSA 2023 amendment proposals for cloud evidence provisions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5303520"/>
            <a:ext cx="11612880" cy="36576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544068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14 open-access papers | arXiv, MDPI, NDC Journal, SSRN, UniversePG | 2021–2025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589788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Forensics Challenges in Bangladesh</dc:title>
  <dc:subject>PptxGenJS Presentation</dc:subject>
  <dc:creator>PptxGenJS</dc:creator>
  <cp:lastModifiedBy>PptxGenJS</cp:lastModifiedBy>
  <cp:revision>1</cp:revision>
  <dcterms:created xsi:type="dcterms:W3CDTF">2026-08-25T11:22:19Z</dcterms:created>
  <dcterms:modified xsi:type="dcterms:W3CDTF">2026-08-25T11:22:19Z</dcterms:modified>
</cp:coreProperties>
</file>