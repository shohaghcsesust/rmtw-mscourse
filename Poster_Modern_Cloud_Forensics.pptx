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5.png"/><Relationship Id="rId7" Type="http://schemas.openxmlformats.org/officeDocument/2006/relationships/image" Target="../media/image-1-5.png"/><Relationship Id="rId8" Type="http://schemas.openxmlformats.org/officeDocument/2006/relationships/image" Target="../media/image-1-5.png"/><Relationship Id="rId9" Type="http://schemas.openxmlformats.org/officeDocument/2006/relationships/image" Target="../media/image-1-5.png"/><Relationship Id="rId10" Type="http://schemas.openxmlformats.org/officeDocument/2006/relationships/image" Target="../media/image-1-5.png"/><Relationship Id="rId11" Type="http://schemas.openxmlformats.org/officeDocument/2006/relationships/image" Target="../media/image-1-5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3.png"/><Relationship Id="rId15" Type="http://schemas.openxmlformats.org/officeDocument/2006/relationships/image" Target="../media/image-1-13.png"/><Relationship Id="rId16" Type="http://schemas.openxmlformats.org/officeDocument/2006/relationships/image" Target="../media/image-1-13.png"/><Relationship Id="rId17" Type="http://schemas.openxmlformats.org/officeDocument/2006/relationships/image" Target="../media/image-1-13.png"/><Relationship Id="rId18" Type="http://schemas.openxmlformats.org/officeDocument/2006/relationships/image" Target="../media/image-1-13.png"/><Relationship Id="rId19" Type="http://schemas.openxmlformats.org/officeDocument/2006/relationships/image" Target="../media/image-1-13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3383280"/>
          </a:xfrm>
          <a:prstGeom prst="rect">
            <a:avLst/>
          </a:prstGeom>
          <a:solidFill>
            <a:srgbClr val="111C42"/>
          </a:solidFill>
          <a:ln/>
        </p:spPr>
      </p:sp>
      <p:sp>
        <p:nvSpPr>
          <p:cNvPr id="3" name="Shape 1"/>
          <p:cNvSpPr/>
          <p:nvPr/>
        </p:nvSpPr>
        <p:spPr>
          <a:xfrm>
            <a:off x="27889200" y="-2286000"/>
            <a:ext cx="7315200" cy="7315200"/>
          </a:xfrm>
          <a:prstGeom prst="ellipse">
            <a:avLst/>
          </a:prstGeom>
          <a:solidFill>
            <a:srgbClr val="1B2A5B"/>
          </a:solidFill>
          <a:ln/>
        </p:spPr>
      </p:sp>
      <p:pic>
        <p:nvPicPr>
          <p:cNvPr id="4" name="Image 0" descr="icon_cloud_00C2A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457200"/>
            <a:ext cx="1280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RMTW · FINAL PRESENTATION POSTER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1005840"/>
            <a:ext cx="2377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Cloud Forensics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2057400"/>
            <a:ext cx="2743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PRISMA-Guided Systematic Survey of Evidence Acquisition, Integrity, Jurisdictional Challenges, and Standardization Issues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3108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Ahsan Kabir</a:t>
            </a:r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(ID 0122520016)   |   Dept. of CSE, United International University   |   CSE 6093 RMTW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0" name="Image 1" descr="icon_layers_00C2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776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776472"/>
            <a:ext cx="2743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Four-Dimensional Taxonomy of Cloud Forensic Approaches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606040" y="4480560"/>
            <a:ext cx="27706320" cy="14961605"/>
          </a:xfrm>
          <a:prstGeom prst="roundRect">
            <a:avLst>
              <a:gd name="adj" fmla="val 489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A1F36">
                <a:alpha val="10000"/>
              </a:srgbClr>
            </a:outerShdw>
          </a:effectLst>
        </p:spPr>
      </p:sp>
      <p:pic>
        <p:nvPicPr>
          <p:cNvPr id="13" name="Image 2" descr="taxonomy_figu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617720"/>
            <a:ext cx="27432000" cy="146872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19625045"/>
            <a:ext cx="3127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PRISMA-guided review: Identification → Screening → Eligibility → Inclusion, applied across four dimensions above.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20219405"/>
            <a:ext cx="15361920" cy="859536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A1F36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143000" y="20493725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17" name="Image 3" descr="icon_chart_00C2A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20603453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56232" y="20420573"/>
            <a:ext cx="1400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by Research Question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1143000" y="21408125"/>
            <a:ext cx="14721840" cy="16642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Text 14"/>
          <p:cNvSpPr/>
          <p:nvPr/>
        </p:nvSpPr>
        <p:spPr>
          <a:xfrm>
            <a:off x="1280160" y="21481277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80160" y="21828749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dominates forensic acquisition research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280160" y="22249373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SaaS/PaaS visibility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280160" y="22669997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Lake, automated acquisition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143000" y="23218637"/>
            <a:ext cx="14721840" cy="1664208"/>
          </a:xfrm>
          <a:prstGeom prst="rect">
            <a:avLst/>
          </a:prstGeom>
          <a:solidFill>
            <a:srgbClr val="EDF0F9"/>
          </a:solidFill>
          <a:ln/>
        </p:spPr>
      </p:sp>
      <p:sp>
        <p:nvSpPr>
          <p:cNvPr id="25" name="Text 19"/>
          <p:cNvSpPr/>
          <p:nvPr/>
        </p:nvSpPr>
        <p:spPr>
          <a:xfrm>
            <a:off x="1280160" y="23291789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280160" y="23639261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improves evidence integrity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280160" y="24059885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scalability and trust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280160" y="24480509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ledgers, immutable logging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1143000" y="25029149"/>
            <a:ext cx="14721840" cy="16642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Text 24"/>
          <p:cNvSpPr/>
          <p:nvPr/>
        </p:nvSpPr>
        <p:spPr>
          <a:xfrm>
            <a:off x="1280160" y="25102301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280160" y="25449773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and MLAT processes delay investigations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280160" y="25870397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admissibility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1280160" y="26291021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readiness frameworks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1143000" y="26839661"/>
            <a:ext cx="14721840" cy="1664208"/>
          </a:xfrm>
          <a:prstGeom prst="rect">
            <a:avLst/>
          </a:prstGeom>
          <a:solidFill>
            <a:srgbClr val="EDF0F9"/>
          </a:solidFill>
          <a:ln/>
        </p:spPr>
      </p:sp>
      <p:sp>
        <p:nvSpPr>
          <p:cNvPr id="35" name="Text 29"/>
          <p:cNvSpPr/>
          <p:nvPr/>
        </p:nvSpPr>
        <p:spPr>
          <a:xfrm>
            <a:off x="1280160" y="26912813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1280160" y="27260285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interoperability across CSPs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1280160" y="27680909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inconsistency and schema mismatch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1280160" y="28101533"/>
            <a:ext cx="14447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OCSF, standardized APIs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16733520" y="20219405"/>
            <a:ext cx="15361920" cy="8595360"/>
          </a:xfrm>
          <a:prstGeom prst="roundRect">
            <a:avLst>
              <a:gd name="adj" fmla="val 1064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7053560" y="20493725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1" name="Image 4" descr="icon_gap_111C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3288" y="20603453"/>
            <a:ext cx="329184" cy="32918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7766792" y="20420573"/>
            <a:ext cx="1400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2100" dirty="0"/>
          </a:p>
        </p:txBody>
      </p:sp>
      <p:sp>
        <p:nvSpPr>
          <p:cNvPr id="43" name="Shape 36"/>
          <p:cNvSpPr/>
          <p:nvPr/>
        </p:nvSpPr>
        <p:spPr>
          <a:xfrm>
            <a:off x="17053560" y="21435557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4" name="Image 5" descr="icon_gap_111C4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6712" y="21508709"/>
            <a:ext cx="182880" cy="1828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7538192" y="21334973"/>
            <a:ext cx="1426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real-world validation — most studies stop at simulation</a:t>
            </a:r>
            <a:endParaRPr lang="en-US" sz="1350" dirty="0"/>
          </a:p>
        </p:txBody>
      </p:sp>
      <p:sp>
        <p:nvSpPr>
          <p:cNvPr id="46" name="Shape 38"/>
          <p:cNvSpPr/>
          <p:nvPr/>
        </p:nvSpPr>
        <p:spPr>
          <a:xfrm>
            <a:off x="17053560" y="22605989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7" name="Image 6" descr="icon_gap_111C4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26712" y="22679141"/>
            <a:ext cx="182880" cy="1828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7538192" y="22505405"/>
            <a:ext cx="1426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SaaS/PaaS forensics remain underexplored versus IaaS</a:t>
            </a:r>
            <a:endParaRPr lang="en-US" sz="1350" dirty="0"/>
          </a:p>
        </p:txBody>
      </p:sp>
      <p:sp>
        <p:nvSpPr>
          <p:cNvPr id="49" name="Shape 40"/>
          <p:cNvSpPr/>
          <p:nvPr/>
        </p:nvSpPr>
        <p:spPr>
          <a:xfrm>
            <a:off x="17053560" y="23776421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0" name="Image 7" descr="icon_gap_111C4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26712" y="23849573"/>
            <a:ext cx="182880" cy="18288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7538192" y="23675837"/>
            <a:ext cx="1426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international consensus on forensic standards</a:t>
            </a:r>
            <a:endParaRPr lang="en-US" sz="1350" dirty="0"/>
          </a:p>
        </p:txBody>
      </p:sp>
      <p:sp>
        <p:nvSpPr>
          <p:cNvPr id="52" name="Shape 42"/>
          <p:cNvSpPr/>
          <p:nvPr/>
        </p:nvSpPr>
        <p:spPr>
          <a:xfrm>
            <a:off x="17053560" y="24946853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3" name="Image 8" descr="icon_gap_111C4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26712" y="25020005"/>
            <a:ext cx="182880" cy="18288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7538192" y="24846269"/>
            <a:ext cx="1426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"black box" nature limits legal admissibility</a:t>
            </a:r>
            <a:endParaRPr lang="en-US" sz="1350" dirty="0"/>
          </a:p>
        </p:txBody>
      </p:sp>
      <p:sp>
        <p:nvSpPr>
          <p:cNvPr id="55" name="Shape 44"/>
          <p:cNvSpPr/>
          <p:nvPr/>
        </p:nvSpPr>
        <p:spPr>
          <a:xfrm>
            <a:off x="17053560" y="26117285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6" name="Image 9" descr="icon_gap_111C4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26712" y="26190437"/>
            <a:ext cx="182880" cy="18288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7538192" y="26016701"/>
            <a:ext cx="1426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cyber laws slow international cooperation</a:t>
            </a:r>
            <a:endParaRPr lang="en-US" sz="1350" dirty="0"/>
          </a:p>
        </p:txBody>
      </p:sp>
      <p:sp>
        <p:nvSpPr>
          <p:cNvPr id="58" name="Shape 46"/>
          <p:cNvSpPr/>
          <p:nvPr/>
        </p:nvSpPr>
        <p:spPr>
          <a:xfrm>
            <a:off x="17053560" y="27287717"/>
            <a:ext cx="329184" cy="32918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9" name="Image 10" descr="icon_gap_111C4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26712" y="27360869"/>
            <a:ext cx="182880" cy="18288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17538192" y="27187133"/>
            <a:ext cx="1426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serverless, and edge computing are underexplored</a:t>
            </a:r>
            <a:endParaRPr lang="en-US" sz="1350" dirty="0"/>
          </a:p>
        </p:txBody>
      </p:sp>
      <p:sp>
        <p:nvSpPr>
          <p:cNvPr id="61" name="Shape 48"/>
          <p:cNvSpPr/>
          <p:nvPr/>
        </p:nvSpPr>
        <p:spPr>
          <a:xfrm>
            <a:off x="822960" y="29271965"/>
            <a:ext cx="15361920" cy="73152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A1F36">
                <a:alpha val="8000"/>
              </a:srgbClr>
            </a:outerShdw>
          </a:effectLst>
        </p:spPr>
      </p:sp>
      <p:sp>
        <p:nvSpPr>
          <p:cNvPr id="62" name="Shape 49"/>
          <p:cNvSpPr/>
          <p:nvPr/>
        </p:nvSpPr>
        <p:spPr>
          <a:xfrm>
            <a:off x="1143000" y="29546285"/>
            <a:ext cx="548640" cy="548640"/>
          </a:xfrm>
          <a:prstGeom prst="ellipse">
            <a:avLst/>
          </a:prstGeom>
          <a:solidFill>
            <a:srgbClr val="111C42"/>
          </a:solidFill>
          <a:ln/>
        </p:spPr>
      </p:sp>
      <p:pic>
        <p:nvPicPr>
          <p:cNvPr id="63" name="Image 11" descr="icon_trophy_00C2A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2728" y="29656013"/>
            <a:ext cx="329184" cy="329184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1856232" y="29473133"/>
            <a:ext cx="1400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2100" dirty="0"/>
          </a:p>
        </p:txBody>
      </p:sp>
      <p:sp>
        <p:nvSpPr>
          <p:cNvPr id="65" name="Shape 51"/>
          <p:cNvSpPr/>
          <p:nvPr/>
        </p:nvSpPr>
        <p:spPr>
          <a:xfrm>
            <a:off x="1143000" y="30460685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66" name="Text 52"/>
          <p:cNvSpPr/>
          <p:nvPr/>
        </p:nvSpPr>
        <p:spPr>
          <a:xfrm>
            <a:off x="1143000" y="304606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1737360" y="30369245"/>
            <a:ext cx="1412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PRISMA-guided, transparent and reproducible survey</a:t>
            </a:r>
            <a:endParaRPr lang="en-US" sz="1450" dirty="0"/>
          </a:p>
        </p:txBody>
      </p:sp>
      <p:sp>
        <p:nvSpPr>
          <p:cNvPr id="68" name="Shape 54"/>
          <p:cNvSpPr/>
          <p:nvPr/>
        </p:nvSpPr>
        <p:spPr>
          <a:xfrm>
            <a:off x="1143000" y="31996877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69" name="Text 55"/>
          <p:cNvSpPr/>
          <p:nvPr/>
        </p:nvSpPr>
        <p:spPr>
          <a:xfrm>
            <a:off x="1143000" y="3199687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0" name="Text 56"/>
          <p:cNvSpPr/>
          <p:nvPr/>
        </p:nvSpPr>
        <p:spPr>
          <a:xfrm>
            <a:off x="1737360" y="31905437"/>
            <a:ext cx="1412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Four-dimensional taxonomy of cloud forensic approaches</a:t>
            </a:r>
            <a:endParaRPr lang="en-US" sz="1450" dirty="0"/>
          </a:p>
        </p:txBody>
      </p:sp>
      <p:sp>
        <p:nvSpPr>
          <p:cNvPr id="71" name="Shape 57"/>
          <p:cNvSpPr/>
          <p:nvPr/>
        </p:nvSpPr>
        <p:spPr>
          <a:xfrm>
            <a:off x="1143000" y="33533069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72" name="Text 58"/>
          <p:cNvSpPr/>
          <p:nvPr/>
        </p:nvSpPr>
        <p:spPr>
          <a:xfrm>
            <a:off x="1143000" y="335330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59"/>
          <p:cNvSpPr/>
          <p:nvPr/>
        </p:nvSpPr>
        <p:spPr>
          <a:xfrm>
            <a:off x="1737360" y="33441629"/>
            <a:ext cx="1412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across methodology &amp; contribution</a:t>
            </a:r>
            <a:endParaRPr lang="en-US" sz="1450" dirty="0"/>
          </a:p>
        </p:txBody>
      </p:sp>
      <p:sp>
        <p:nvSpPr>
          <p:cNvPr id="74" name="Shape 60"/>
          <p:cNvSpPr/>
          <p:nvPr/>
        </p:nvSpPr>
        <p:spPr>
          <a:xfrm>
            <a:off x="1143000" y="35069261"/>
            <a:ext cx="457200" cy="457200"/>
          </a:xfrm>
          <a:prstGeom prst="ellipse">
            <a:avLst/>
          </a:prstGeom>
          <a:solidFill>
            <a:srgbClr val="111C42"/>
          </a:solidFill>
          <a:ln/>
        </p:spPr>
      </p:sp>
      <p:sp>
        <p:nvSpPr>
          <p:cNvPr id="75" name="Text 61"/>
          <p:cNvSpPr/>
          <p:nvPr/>
        </p:nvSpPr>
        <p:spPr>
          <a:xfrm>
            <a:off x="1143000" y="3506926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6" name="Text 62"/>
          <p:cNvSpPr/>
          <p:nvPr/>
        </p:nvSpPr>
        <p:spPr>
          <a:xfrm>
            <a:off x="1737360" y="34977821"/>
            <a:ext cx="1412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map of current limitations across the field</a:t>
            </a:r>
            <a:endParaRPr lang="en-US" sz="1450" dirty="0"/>
          </a:p>
        </p:txBody>
      </p:sp>
      <p:sp>
        <p:nvSpPr>
          <p:cNvPr id="77" name="Shape 63"/>
          <p:cNvSpPr/>
          <p:nvPr/>
        </p:nvSpPr>
        <p:spPr>
          <a:xfrm>
            <a:off x="16733520" y="29271965"/>
            <a:ext cx="15361920" cy="7315200"/>
          </a:xfrm>
          <a:prstGeom prst="roundRect">
            <a:avLst>
              <a:gd name="adj" fmla="val 1250"/>
            </a:avLst>
          </a:prstGeom>
          <a:solidFill>
            <a:srgbClr val="1B2A5B"/>
          </a:solidFill>
          <a:ln w="12700">
            <a:solidFill>
              <a:srgbClr val="3E5C8A"/>
            </a:solidFill>
            <a:prstDash val="solid"/>
          </a:ln>
        </p:spPr>
      </p:sp>
      <p:sp>
        <p:nvSpPr>
          <p:cNvPr id="78" name="Shape 64"/>
          <p:cNvSpPr/>
          <p:nvPr/>
        </p:nvSpPr>
        <p:spPr>
          <a:xfrm>
            <a:off x="17053560" y="29546285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79" name="Image 12" descr="icon_bulb_111C4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63288" y="29656013"/>
            <a:ext cx="329184" cy="329184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17766792" y="29473133"/>
            <a:ext cx="1400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100" dirty="0"/>
          </a:p>
        </p:txBody>
      </p:sp>
      <p:sp>
        <p:nvSpPr>
          <p:cNvPr id="81" name="Shape 66"/>
          <p:cNvSpPr/>
          <p:nvPr/>
        </p:nvSpPr>
        <p:spPr>
          <a:xfrm>
            <a:off x="17053560" y="30488117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2" name="Image 13" descr="icon_bulb_111C4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17568" y="30552125"/>
            <a:ext cx="182880" cy="182880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17510760" y="30387533"/>
            <a:ext cx="1431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court-admissible forensics</a:t>
            </a:r>
            <a:endParaRPr lang="en-US" sz="1350" dirty="0"/>
          </a:p>
        </p:txBody>
      </p:sp>
      <p:sp>
        <p:nvSpPr>
          <p:cNvPr id="84" name="Shape 68"/>
          <p:cNvSpPr/>
          <p:nvPr/>
        </p:nvSpPr>
        <p:spPr>
          <a:xfrm>
            <a:off x="17053560" y="31448237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5" name="Image 14" descr="icon_bulb_111C4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17568" y="31512245"/>
            <a:ext cx="182880" cy="182880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17510760" y="31347653"/>
            <a:ext cx="1431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blockchain provenance ledgers</a:t>
            </a:r>
            <a:endParaRPr lang="en-US" sz="1350" dirty="0"/>
          </a:p>
        </p:txBody>
      </p:sp>
      <p:sp>
        <p:nvSpPr>
          <p:cNvPr id="87" name="Shape 70"/>
          <p:cNvSpPr/>
          <p:nvPr/>
        </p:nvSpPr>
        <p:spPr>
          <a:xfrm>
            <a:off x="17053560" y="32408357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8" name="Image 15" descr="icon_bulb_111C4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117568" y="32472365"/>
            <a:ext cx="182880" cy="182880"/>
          </a:xfrm>
          <a:prstGeom prst="rect">
            <a:avLst/>
          </a:prstGeom>
        </p:spPr>
      </p:pic>
      <p:sp>
        <p:nvSpPr>
          <p:cNvPr id="89" name="Text 71"/>
          <p:cNvSpPr/>
          <p:nvPr/>
        </p:nvSpPr>
        <p:spPr>
          <a:xfrm>
            <a:off x="17510760" y="32307773"/>
            <a:ext cx="1431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Vendor-neutral, standardized multi-cloud frameworks</a:t>
            </a:r>
            <a:endParaRPr lang="en-US" sz="1350" dirty="0"/>
          </a:p>
        </p:txBody>
      </p:sp>
      <p:sp>
        <p:nvSpPr>
          <p:cNvPr id="90" name="Shape 72"/>
          <p:cNvSpPr/>
          <p:nvPr/>
        </p:nvSpPr>
        <p:spPr>
          <a:xfrm>
            <a:off x="17053560" y="33368477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1" name="Image 16" descr="icon_bulb_111C4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117568" y="33432485"/>
            <a:ext cx="182880" cy="182880"/>
          </a:xfrm>
          <a:prstGeom prst="rect">
            <a:avLst/>
          </a:prstGeom>
        </p:spPr>
      </p:pic>
      <p:sp>
        <p:nvSpPr>
          <p:cNvPr id="92" name="Text 73"/>
          <p:cNvSpPr/>
          <p:nvPr/>
        </p:nvSpPr>
        <p:spPr>
          <a:xfrm>
            <a:off x="17510760" y="33267893"/>
            <a:ext cx="1431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readiness built into cloud services by design</a:t>
            </a:r>
            <a:endParaRPr lang="en-US" sz="1350" dirty="0"/>
          </a:p>
        </p:txBody>
      </p:sp>
      <p:sp>
        <p:nvSpPr>
          <p:cNvPr id="93" name="Shape 74"/>
          <p:cNvSpPr/>
          <p:nvPr/>
        </p:nvSpPr>
        <p:spPr>
          <a:xfrm>
            <a:off x="17053560" y="34328597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4" name="Image 17" descr="icon_bulb_111C4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17568" y="34392605"/>
            <a:ext cx="182880" cy="182880"/>
          </a:xfrm>
          <a:prstGeom prst="rect">
            <a:avLst/>
          </a:prstGeom>
        </p:spPr>
      </p:pic>
      <p:sp>
        <p:nvSpPr>
          <p:cNvPr id="95" name="Text 75"/>
          <p:cNvSpPr/>
          <p:nvPr/>
        </p:nvSpPr>
        <p:spPr>
          <a:xfrm>
            <a:off x="17510760" y="34228013"/>
            <a:ext cx="1431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evidencing for containers &amp; serverless</a:t>
            </a:r>
            <a:endParaRPr lang="en-US" sz="1350" dirty="0"/>
          </a:p>
        </p:txBody>
      </p:sp>
      <p:sp>
        <p:nvSpPr>
          <p:cNvPr id="96" name="Shape 76"/>
          <p:cNvSpPr/>
          <p:nvPr/>
        </p:nvSpPr>
        <p:spPr>
          <a:xfrm>
            <a:off x="17053560" y="35288717"/>
            <a:ext cx="310896" cy="310896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7" name="Image 18" descr="icon_bulb_111C42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117568" y="35352725"/>
            <a:ext cx="182880" cy="182880"/>
          </a:xfrm>
          <a:prstGeom prst="rect">
            <a:avLst/>
          </a:prstGeom>
        </p:spPr>
      </p:pic>
      <p:sp>
        <p:nvSpPr>
          <p:cNvPr id="98" name="Text 77"/>
          <p:cNvSpPr/>
          <p:nvPr/>
        </p:nvSpPr>
        <p:spPr>
          <a:xfrm>
            <a:off x="17510760" y="35188133"/>
            <a:ext cx="1431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evidence collection</a:t>
            </a:r>
            <a:endParaRPr lang="en-US" sz="1350" dirty="0"/>
          </a:p>
        </p:txBody>
      </p:sp>
      <p:sp>
        <p:nvSpPr>
          <p:cNvPr id="99" name="Shape 78"/>
          <p:cNvSpPr/>
          <p:nvPr/>
        </p:nvSpPr>
        <p:spPr>
          <a:xfrm>
            <a:off x="0" y="37044365"/>
            <a:ext cx="32918400" cy="2468880"/>
          </a:xfrm>
          <a:prstGeom prst="rect">
            <a:avLst/>
          </a:prstGeom>
          <a:solidFill>
            <a:srgbClr val="111C42"/>
          </a:solidFill>
          <a:ln/>
        </p:spPr>
      </p:sp>
      <p:sp>
        <p:nvSpPr>
          <p:cNvPr id="100" name="Shape 79"/>
          <p:cNvSpPr/>
          <p:nvPr/>
        </p:nvSpPr>
        <p:spPr>
          <a:xfrm>
            <a:off x="640080" y="37410125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1" name="Image 19" descr="icon_flag_111C4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960" y="37593005"/>
            <a:ext cx="329184" cy="329184"/>
          </a:xfrm>
          <a:prstGeom prst="rect">
            <a:avLst/>
          </a:prstGeom>
        </p:spPr>
      </p:pic>
      <p:sp>
        <p:nvSpPr>
          <p:cNvPr id="102" name="Text 80"/>
          <p:cNvSpPr/>
          <p:nvPr/>
        </p:nvSpPr>
        <p:spPr>
          <a:xfrm>
            <a:off x="1463040" y="3733697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103" name="Text 81"/>
          <p:cNvSpPr/>
          <p:nvPr/>
        </p:nvSpPr>
        <p:spPr>
          <a:xfrm>
            <a:off x="822960" y="38187365"/>
            <a:ext cx="3127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 is shifting from traditional to intelligent approaches — but real progress depends on CSP cooperation, explainable AI, blockchain-based evidence handling, standardized formats, and privacy-preserving collection working together.</a:t>
            </a:r>
            <a:endParaRPr lang="en-US" sz="1450" dirty="0"/>
          </a:p>
        </p:txBody>
      </p:sp>
      <p:sp>
        <p:nvSpPr>
          <p:cNvPr id="104" name="Shape 82"/>
          <p:cNvSpPr/>
          <p:nvPr/>
        </p:nvSpPr>
        <p:spPr>
          <a:xfrm>
            <a:off x="0" y="39833285"/>
            <a:ext cx="32918400" cy="3600715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105" name="Text 83"/>
          <p:cNvSpPr/>
          <p:nvPr/>
        </p:nvSpPr>
        <p:spPr>
          <a:xfrm>
            <a:off x="822960" y="40061885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References</a:t>
            </a:r>
            <a:endParaRPr lang="en-US" sz="1900" dirty="0"/>
          </a:p>
        </p:txBody>
      </p:sp>
      <p:sp>
        <p:nvSpPr>
          <p:cNvPr id="106" name="Text 84"/>
          <p:cNvSpPr/>
          <p:nvPr/>
        </p:nvSpPr>
        <p:spPr>
          <a:xfrm>
            <a:off x="822960" y="40610525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Manral et al. 2019 — A Systematic Survey on Cloud Forensics. ACM Computing Surveys.</a:t>
            </a:r>
            <a:endParaRPr lang="en-US" sz="1200" dirty="0"/>
          </a:p>
        </p:txBody>
      </p:sp>
      <p:sp>
        <p:nvSpPr>
          <p:cNvPr id="107" name="Text 85"/>
          <p:cNvSpPr/>
          <p:nvPr/>
        </p:nvSpPr>
        <p:spPr>
          <a:xfrm>
            <a:off x="16733520" y="40610525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 Herman et al. 2020 — NISTIR 8006: NIST Cloud Computing Forensic Science Challenges.</a:t>
            </a:r>
            <a:endParaRPr lang="en-US" sz="1200" dirty="0"/>
          </a:p>
        </p:txBody>
      </p:sp>
      <p:sp>
        <p:nvSpPr>
          <p:cNvPr id="108" name="Text 86"/>
          <p:cNvSpPr/>
          <p:nvPr/>
        </p:nvSpPr>
        <p:spPr>
          <a:xfrm>
            <a:off x="822960" y="41140877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[37] Herman et al. 2024 — NIST SP 800-201: Cloud Computing Forensic Reference Architecture.</a:t>
            </a:r>
            <a:endParaRPr lang="en-US" sz="1200" dirty="0"/>
          </a:p>
        </p:txBody>
      </p:sp>
      <p:sp>
        <p:nvSpPr>
          <p:cNvPr id="109" name="Text 87"/>
          <p:cNvSpPr/>
          <p:nvPr/>
        </p:nvSpPr>
        <p:spPr>
          <a:xfrm>
            <a:off x="16733520" y="41140877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[39] Dhital et al. 2026 — Forensic Blind Spots in Ephemeral Cloud VMs. APIT 2026.</a:t>
            </a:r>
            <a:endParaRPr lang="en-US" sz="1200" dirty="0"/>
          </a:p>
        </p:txBody>
      </p:sp>
      <p:sp>
        <p:nvSpPr>
          <p:cNvPr id="110" name="Text 88"/>
          <p:cNvSpPr/>
          <p:nvPr/>
        </p:nvSpPr>
        <p:spPr>
          <a:xfrm>
            <a:off x="822960" y="41671229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[42] Ekwempu 2026 — Legal Complexities of Cloud Forensic Investigations Cross-Border. IJRIAS.</a:t>
            </a:r>
            <a:endParaRPr lang="en-US" sz="1200" dirty="0"/>
          </a:p>
        </p:txBody>
      </p:sp>
      <p:sp>
        <p:nvSpPr>
          <p:cNvPr id="111" name="Text 89"/>
          <p:cNvSpPr/>
          <p:nvPr/>
        </p:nvSpPr>
        <p:spPr>
          <a:xfrm>
            <a:off x="16733520" y="41671229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[46] Mukti &amp; Hanif 2025 — AI in Cloud Forensics: Automating Evidence Acquisition. Forensics &amp; Security J.</a:t>
            </a:r>
            <a:endParaRPr lang="en-US" sz="1200" dirty="0"/>
          </a:p>
        </p:txBody>
      </p:sp>
      <p:sp>
        <p:nvSpPr>
          <p:cNvPr id="112" name="Text 90"/>
          <p:cNvSpPr/>
          <p:nvPr/>
        </p:nvSpPr>
        <p:spPr>
          <a:xfrm>
            <a:off x="822960" y="42201581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[47] Vucha &amp; Kamarapu 2025 — AI-Driven Cloud Forensics: A Novel Framework. IRJET.</a:t>
            </a:r>
            <a:endParaRPr lang="en-US" sz="1200" dirty="0"/>
          </a:p>
        </p:txBody>
      </p:sp>
      <p:sp>
        <p:nvSpPr>
          <p:cNvPr id="113" name="Text 91"/>
          <p:cNvSpPr/>
          <p:nvPr/>
        </p:nvSpPr>
        <p:spPr>
          <a:xfrm>
            <a:off x="16733520" y="42201581"/>
            <a:ext cx="15361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[48] Chourasiya et al. 2025 — Advanced System Log Analyzer Using LSTM and Transformer. J. Cloud Computing.</a:t>
            </a:r>
            <a:endParaRPr lang="en-US" sz="1200" dirty="0"/>
          </a:p>
        </p:txBody>
      </p:sp>
      <p:sp>
        <p:nvSpPr>
          <p:cNvPr id="114" name="Text 92"/>
          <p:cNvSpPr/>
          <p:nvPr/>
        </p:nvSpPr>
        <p:spPr>
          <a:xfrm>
            <a:off x="822960" y="43068240"/>
            <a:ext cx="3127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all 48 references in the complete survey paper.  ·  mkabir2520016@mscse.uiu.ac.bd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2026-07-30T12:34:05Z</dcterms:created>
  <dcterms:modified xsi:type="dcterms:W3CDTF">2026-07-30T12:34:05Z</dcterms:modified>
</cp:coreProperties>
</file>