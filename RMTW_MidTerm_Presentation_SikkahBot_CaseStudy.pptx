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letter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2ECA1-2906-41E5-D53E-DFC2806297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A384C2-F99F-898D-3D93-3310D2C2E7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B41FE-BBCE-6EA7-1489-7B611ECD1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A2CA-0D85-4FEE-9BD3-437D56B424F4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2BA33-0A36-9686-52CD-22D9708EB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D7F9C-E281-4C60-9358-28F4F05B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8B038-E5CA-4E1D-BE1C-7A3CA47CE1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7406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397AD-8588-3E8A-63CC-A6BA38FF5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AF108-C631-7632-FD84-13044F90A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7B9DE-A379-B178-9860-CBB7B17E1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A2CA-0D85-4FEE-9BD3-437D56B424F4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E55A1-FFBF-46DB-3381-513B755DA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81651-BA47-B7DE-5348-D4906811C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8B038-E5CA-4E1D-BE1C-7A3CA47CE1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3633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49666-A2BF-5A9D-7052-F030A03C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402C4B-6360-BC31-152B-ECF56CCBE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ED399-051F-7100-17E1-8E5A2527D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A2CA-0D85-4FEE-9BD3-437D56B424F4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EAD82-6572-F1E5-16C9-155B65528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C7120-B348-47CD-9A3F-D611B0E96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8B038-E5CA-4E1D-BE1C-7A3CA47CE1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2234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3AA25-0F4A-E84C-3D67-3E6EE3152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46964-B8C2-A740-0FD8-15E374F3C7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148A12-3B5D-F489-1F0A-A669D1D2C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615FD2-837D-93EC-3A55-B2E9D8163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A2CA-0D85-4FEE-9BD3-437D56B424F4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EE7EB1-7258-E9DE-FA75-5B8FCBFCB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80FBC-5ACD-1DEF-352C-08531DCAB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8B038-E5CA-4E1D-BE1C-7A3CA47CE1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0167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55E35-0493-9860-7EE9-BEE9E18E1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2BD29-AE04-5853-7C59-BBC52CA14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C6B43F-5659-C444-4B17-C5C985794A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7B3EC0-012C-AE4B-08A1-B4D7E59599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A5615F-5605-F362-17CE-07B741D8B6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314222-5A83-412F-F6C0-4F2737F82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A2CA-0D85-4FEE-9BD3-437D56B424F4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D82701-AA8A-3110-2FA0-D8B6139A7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512302-C617-E56B-098A-E6D28BF7F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8B038-E5CA-4E1D-BE1C-7A3CA47CE1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3667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60501-0066-5F21-1210-AA238F776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784C8D-95A4-5DDF-58E7-E08D94063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A2CA-0D85-4FEE-9BD3-437D56B424F4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744212-9087-C869-CCDC-FE1E08EB9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5EF864-EF22-BE3C-225F-F0E4D03E8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8B038-E5CA-4E1D-BE1C-7A3CA47CE1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504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CBEBB8-D780-3A3F-6C7C-F7081FAF8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A2CA-0D85-4FEE-9BD3-437D56B424F4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22237A-CF3F-1BC2-C14B-180387533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A268AF-3DD4-3EF8-9FAA-B268E50C3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8B038-E5CA-4E1D-BE1C-7A3CA47CE1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1382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785C9-4F39-74D8-85F9-CF5C48097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B3E30-1007-26BA-0256-67FEC4DA4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50D144-8840-956C-2FDF-F565C2DBB0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1F957-4CBC-BE3E-5216-41B8B3412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A2CA-0D85-4FEE-9BD3-437D56B424F4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852D69-BA1B-A67B-8147-076DC76E9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5D9A93-ADF6-6EDC-ED1E-ECAFAFFFF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8B038-E5CA-4E1D-BE1C-7A3CA47CE1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0940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1B863-38DC-CEC0-D3F7-1ED1874AA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88E554-DD9F-A67F-C8FD-F10C6E0585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B13A67-E8BE-21E8-A21F-25FCDBEC3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285C7-3B5E-4DA7-8682-0759750D0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A2CA-0D85-4FEE-9BD3-437D56B424F4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018CB-910A-43CF-2C05-CAB068B1F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7B21A-0C98-BDBE-0349-66D0E1E92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8B038-E5CA-4E1D-BE1C-7A3CA47CE1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857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3B09E-75AF-5C3C-0592-144F90FB7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4B8E84-0232-F0F0-3656-D0EFA47552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CDFE1-C880-2234-040B-190D8A94C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A2CA-0D85-4FEE-9BD3-437D56B424F4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0C2A5-E068-FE02-0272-AD4C34E67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BDFA4-8C35-6F59-2EBA-1AFB1FA7B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8B038-E5CA-4E1D-BE1C-7A3CA47CE1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3426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C17F9B-40E4-BBB8-1A47-843C982AC1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3F00CF-50F1-2781-05E8-D2716959BE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768DD-7021-F0C7-C4A9-D36432E5A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A2CA-0D85-4FEE-9BD3-437D56B424F4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8D23D-EED8-0B1D-7843-0571B3800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11F64-DCA7-F256-7F07-5C7AF5504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8B038-E5CA-4E1D-BE1C-7A3CA47CE1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345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32ED9-B11D-BD67-AF03-10028AF95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FCA6D4-B0B4-D37F-F86F-F3449AFDE2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3A594-20E2-6795-9F72-5314F5C6E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A2CA-0D85-4FEE-9BD3-437D56B424F4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71C57-99A8-A0E4-0447-EB01C3A0C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BC08A-4028-27D5-1A9A-49CEB7EC5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8B038-E5CA-4E1D-BE1C-7A3CA47CE1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0416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44C040-8B05-52AB-0A79-DC374A881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1B93A-247E-24C5-A173-0CB5A9547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82E0B-5821-BCDA-9707-7649BB756E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0BA2CA-0D85-4FEE-9BD3-437D56B424F4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9D069-5958-862E-F6C5-F0B7DC3CEC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7EBE4-A641-4EC6-FE3C-BEDE1368DA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F8B038-E5CA-4E1D-BE1C-7A3CA47CE1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5650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17A0D-D309-A6A6-B29B-AE520D9AFE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Cloud Forensic Readiness for Bangladesh's Mobile Financial Services: A Case Study of the SikkahBot Campaign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EF822D-6EC6-E852-17D1-4A181FCEDE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Mid-Term Presentation (One-Month Scope)</a:t>
            </a:r>
          </a:p>
          <a:p>
            <a:r>
              <a:rPr lang="en-GB"/>
              <a:t>CSE 6093 - Research Methodologies and Technical Writing</a:t>
            </a:r>
          </a:p>
          <a:p>
            <a:r>
              <a:rPr lang="en-GB"/>
              <a:t>MD. Ahsan Kabir (ID: 0122520016), MSCSE, United International University</a:t>
            </a:r>
          </a:p>
        </p:txBody>
      </p:sp>
    </p:spTree>
    <p:extLst>
      <p:ext uri="{BB962C8B-B14F-4D97-AF65-F5344CB8AC3E}">
        <p14:creationId xmlns:p14="http://schemas.microsoft.com/office/powerpoint/2010/main" val="3842065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8FEB6-04AB-D228-EA5C-A9390AB7D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Motivation: A Real, Growing Gap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9D16F5-A288-863D-79D6-998F86FC9D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bKash, Nagad, and Rocket process tens of millions of transactions daily across Bangladesh</a:t>
            </a:r>
          </a:p>
          <a:p>
            <a:r>
              <a:rPr lang="en-GB"/>
              <a:t>Bangladesh has no in-country hyperscale cloud region -- cloud-hosted MFS data resides outside the country by default</a:t>
            </a:r>
          </a:p>
          <a:p>
            <a:r>
              <a:rPr lang="en-GB"/>
              <a:t>MFS Regulations 2022 govern licensing and agent conduct, but do not address forensic/regulatory audit access to cloud-hosted data</a:t>
            </a:r>
          </a:p>
          <a:p>
            <a:r>
              <a:rPr lang="en-GB"/>
              <a:t>Active threat: the SikkahBot malware campaign (Cyble, 2025) steals bKash/Nagad credentials via SMS interception and Accessibility Service abuse</a:t>
            </a:r>
          </a:p>
          <a:p>
            <a:r>
              <a:rPr lang="en-GB"/>
              <a:t>Bangladesh remains outside the Budapest Convention, the 2025 UN Convention against Cybercrime, and has no confirmed CLOUD Act/MLAT with the US</a:t>
            </a:r>
          </a:p>
        </p:txBody>
      </p:sp>
    </p:spTree>
    <p:extLst>
      <p:ext uri="{BB962C8B-B14F-4D97-AF65-F5344CB8AC3E}">
        <p14:creationId xmlns:p14="http://schemas.microsoft.com/office/powerpoint/2010/main" val="3919932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DC09-FB1A-3DE5-A3CD-C966C6BD4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Foundation: Completed Global Systematic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5E362-12DB-23AA-7173-EC7EECF752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PRISMA-guided systematic review of 48 international cloud forensics sources (completed, antecedent work)</a:t>
            </a:r>
          </a:p>
          <a:p>
            <a:r>
              <a:rPr lang="en-GB"/>
              <a:t>Established a four-dimensional taxonomy: Evidence Acquisition, Evidence Trustworthiness, Legal/Jurisdictional Compliance, Standardization</a:t>
            </a:r>
          </a:p>
          <a:p>
            <a:r>
              <a:rPr lang="en-GB"/>
              <a:t>Identified active research directions: explainable AI, blockchain-based evidence integrity, forensic-readiness-by-design</a:t>
            </a:r>
          </a:p>
          <a:p>
            <a:r>
              <a:rPr lang="en-GB"/>
              <a:t>Deliberately general -- did not ground the problem in any specific country, sector, or institution</a:t>
            </a:r>
          </a:p>
          <a:p>
            <a:r>
              <a:rPr lang="en-GB"/>
              <a:t>This proposal applies that taxonomy to Bangladesh's MFS sector specifically</a:t>
            </a:r>
          </a:p>
        </p:txBody>
      </p:sp>
    </p:spTree>
    <p:extLst>
      <p:ext uri="{BB962C8B-B14F-4D97-AF65-F5344CB8AC3E}">
        <p14:creationId xmlns:p14="http://schemas.microsoft.com/office/powerpoint/2010/main" val="1760747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320C0-5AD7-0C77-FA4A-16101FF37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Bangladesh-Specific Literature Base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0C28E9-A178-2790-6B91-77D1CBFA4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Legal landscape: Evidence (Amendment) Act 2022, Cyber Security Act 2023, Personal Data Protection Ordinance 2025</a:t>
            </a:r>
          </a:p>
          <a:p>
            <a:r>
              <a:rPr lang="en-GB"/>
              <a:t>Institutional capacity: CID forensic lab backlog (Barkat et al., 2020); police training gaps (Sharmin &amp; Rahman, 2025)</a:t>
            </a:r>
          </a:p>
          <a:p>
            <a:r>
              <a:rPr lang="en-GB"/>
              <a:t>Comparative case: the 2016 Bangladesh Bank heist, re-analyzed as institutional fragility (Islam, 2026)</a:t>
            </a:r>
          </a:p>
          <a:p>
            <a:r>
              <a:rPr lang="en-GB"/>
              <a:t>Primary case: the SikkahBot MFS malware campaign (Cyble Research and Intelligence Labs, 2025)</a:t>
            </a:r>
          </a:p>
          <a:p>
            <a:r>
              <a:rPr lang="en-GB"/>
              <a:t>Jurisdictional position: not in Budapest Convention or 2025 UN Convention; Meta/Google transparency reports show only 64-68% compliance on BD data requests</a:t>
            </a:r>
          </a:p>
        </p:txBody>
      </p:sp>
    </p:spTree>
    <p:extLst>
      <p:ext uri="{BB962C8B-B14F-4D97-AF65-F5344CB8AC3E}">
        <p14:creationId xmlns:p14="http://schemas.microsoft.com/office/powerpoint/2010/main" val="2635632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5DFAD-F37A-600E-BB41-9451B89B9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Research Gap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0C79A-6FE9-2710-D75F-5AC830B73B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No peer-reviewed cloud forensic readiness framework exists for Bangladesh's MFS sector</a:t>
            </a:r>
          </a:p>
          <a:p>
            <a:r>
              <a:rPr lang="en-GB"/>
              <a:t>MFS Regulations 2022 not analyzed in the literature for forensic-access implications</a:t>
            </a:r>
          </a:p>
          <a:p>
            <a:r>
              <a:rPr lang="en-GB"/>
              <a:t>Unresolved: does the bank-focused BRPD Circular 05 cloud guideline extend to MFS provider subsidiaries?</a:t>
            </a:r>
          </a:p>
          <a:p>
            <a:r>
              <a:rPr lang="en-GB"/>
              <a:t>Existing BD digital forensics scholarship predates or omits cloud- and MFS-specific challenges</a:t>
            </a:r>
          </a:p>
          <a:p>
            <a:r>
              <a:rPr lang="en-GB"/>
              <a:t>SikkahBot documented as a security threat, but never analyzed through a forensic-readiness/cloud-evidence lens</a:t>
            </a:r>
          </a:p>
        </p:txBody>
      </p:sp>
    </p:spTree>
    <p:extLst>
      <p:ext uri="{BB962C8B-B14F-4D97-AF65-F5344CB8AC3E}">
        <p14:creationId xmlns:p14="http://schemas.microsoft.com/office/powerpoint/2010/main" val="3301412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796B6-6E94-76F6-1458-58D7B75FF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Research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407394-03F6-1CF0-7CC7-2E4B80F61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RQ1: What evidence-acquisition challenges does the MFS sector face, given its distributed agent-mediated model and the MFS Regulations 2022 / BRPD Circular 05 relationship?</a:t>
            </a:r>
          </a:p>
          <a:p>
            <a:r>
              <a:rPr lang="en-GB"/>
              <a:t>RQ2: How does Bangladesh's jurisdictional position affect admissibility of cloud-hosted MFS evidence under the Evidence (Amendment) Act 2022's Section 65B?</a:t>
            </a:r>
          </a:p>
          <a:p>
            <a:r>
              <a:rPr lang="en-GB"/>
              <a:t>RQ3: What cloud forensic readiness framework is achievable within Bangladesh's current regulatory, infrastructural, and institutional constraints?</a:t>
            </a:r>
          </a:p>
        </p:txBody>
      </p:sp>
    </p:spTree>
    <p:extLst>
      <p:ext uri="{BB962C8B-B14F-4D97-AF65-F5344CB8AC3E}">
        <p14:creationId xmlns:p14="http://schemas.microsoft.com/office/powerpoint/2010/main" val="1664310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55A31-4ACF-B719-C1D3-ED0A4ADE2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Proposed Methodology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51749-0B82-4BEA-0CF1-2DFCD003CD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Week 1: Regulatory and case documentation analysis</a:t>
            </a:r>
          </a:p>
          <a:p>
            <a:r>
              <a:rPr lang="en-GB"/>
              <a:t>Week 2: Evidence-trail mapping / gap analysis</a:t>
            </a:r>
          </a:p>
          <a:p>
            <a:r>
              <a:rPr lang="en-GB"/>
              <a:t>Week 3: Practitioner consultation (brief, informal) and framework synthesis</a:t>
            </a:r>
          </a:p>
          <a:p>
            <a:r>
              <a:rPr lang="en-GB"/>
              <a:t>Week 4: Retrospective assessment and write-up</a:t>
            </a:r>
          </a:p>
          <a:p>
            <a:r>
              <a:rPr lang="en-GB"/>
              <a:t>Deliberately a single-case design -- achievable with rigor in one month</a:t>
            </a:r>
          </a:p>
        </p:txBody>
      </p:sp>
    </p:spTree>
    <p:extLst>
      <p:ext uri="{BB962C8B-B14F-4D97-AF65-F5344CB8AC3E}">
        <p14:creationId xmlns:p14="http://schemas.microsoft.com/office/powerpoint/2010/main" val="1560717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8170A-0624-3F4B-5086-9C5CD820F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Work Plan and Timeline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625F7C-4797-74E0-8A9A-CD0ED2BD26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412868"/>
              </p:ext>
            </p:extLst>
          </p:nvPr>
        </p:nvGraphicFramePr>
        <p:xfrm>
          <a:off x="635000" y="1651000"/>
          <a:ext cx="7874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4667">
                  <a:extLst>
                    <a:ext uri="{9D8B030D-6E8A-4147-A177-3AD203B41FA5}">
                      <a16:colId xmlns:a16="http://schemas.microsoft.com/office/drawing/2014/main" val="1951025816"/>
                    </a:ext>
                  </a:extLst>
                </a:gridCol>
                <a:gridCol w="2624667">
                  <a:extLst>
                    <a:ext uri="{9D8B030D-6E8A-4147-A177-3AD203B41FA5}">
                      <a16:colId xmlns:a16="http://schemas.microsoft.com/office/drawing/2014/main" val="2978814075"/>
                    </a:ext>
                  </a:extLst>
                </a:gridCol>
                <a:gridCol w="2624667">
                  <a:extLst>
                    <a:ext uri="{9D8B030D-6E8A-4147-A177-3AD203B41FA5}">
                      <a16:colId xmlns:a16="http://schemas.microsoft.com/office/drawing/2014/main" val="2873455009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r>
                        <a:rPr lang="en-GB"/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Focus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487804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Regulatory and case documentation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Legal/regulatory texts + SikkahBot technical reporting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564245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GB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Evidence-trail mapping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Gap analysis vs. Bangladesh's legal framework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23146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GB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Practitioner consultation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Sanity-check + framework synthesis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59878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GB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Retrospective assessment and write-up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Full research article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485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6149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95A51-8242-9D99-4380-C9B8C700C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Expected Contribution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1BBCD-5FB6-8E4B-9F59-DF8140B43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Academic: first cloud forensic readiness framework for Bangladesh's MFS sector in the literature</a:t>
            </a:r>
          </a:p>
          <a:p>
            <a:r>
              <a:rPr lang="en-GB"/>
              <a:t>Regulatory: evidence-based assessment of whether MFS Regulations 2022 / BRPD Circular 05 address forensic access</a:t>
            </a:r>
          </a:p>
          <a:p>
            <a:r>
              <a:rPr lang="en-GB"/>
              <a:t>Institutional: practical reference for CID Digital Forensics &amp; Cyber Police Centre and BGD e-GOV CIRT</a:t>
            </a:r>
          </a:p>
          <a:p>
            <a:r>
              <a:rPr lang="en-GB"/>
              <a:t>National relevance: aligned with Digital Bangladesh / Smart Bangladesh cybersecurity and financial-inclusion priorities</a:t>
            </a:r>
          </a:p>
        </p:txBody>
      </p:sp>
    </p:spTree>
    <p:extLst>
      <p:ext uri="{BB962C8B-B14F-4D97-AF65-F5344CB8AC3E}">
        <p14:creationId xmlns:p14="http://schemas.microsoft.com/office/powerpoint/2010/main" val="1288402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EC260-B44F-EF9C-B12F-3FB571181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Scope and Limitations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1896F0-EEEF-B7D3-5594-3D96BF94B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Scoped to a single case -- the SikkahBot campaign against bKash and Nagad -- not a sector-wide framework</a:t>
            </a:r>
          </a:p>
          <a:p>
            <a:r>
              <a:rPr lang="en-GB"/>
              <a:t>Practitioner input is brief, informal consultation (2-4 contacts), not a validated interview study</a:t>
            </a:r>
          </a:p>
          <a:p>
            <a:r>
              <a:rPr lang="en-GB"/>
              <a:t>Findings generalize directly to bKash/Nagad; extension to MFS providers generally is flagged as future work, not this project's claim</a:t>
            </a:r>
          </a:p>
          <a:p>
            <a:r>
              <a:rPr lang="en-GB"/>
              <a:t>This narrowing is what makes the project genuinely achievable within one month</a:t>
            </a:r>
          </a:p>
        </p:txBody>
      </p:sp>
    </p:spTree>
    <p:extLst>
      <p:ext uri="{BB962C8B-B14F-4D97-AF65-F5344CB8AC3E}">
        <p14:creationId xmlns:p14="http://schemas.microsoft.com/office/powerpoint/2010/main" val="1124312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E3341-BB7C-C39E-4FE6-71EA45E28E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AD16F-2714-71E4-841A-5EC0E738D8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Questions and feedback welcome</a:t>
            </a:r>
          </a:p>
        </p:txBody>
      </p:sp>
    </p:spTree>
    <p:extLst>
      <p:ext uri="{BB962C8B-B14F-4D97-AF65-F5344CB8AC3E}">
        <p14:creationId xmlns:p14="http://schemas.microsoft.com/office/powerpoint/2010/main" val="3034710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715</Words>
  <Application>Microsoft Office PowerPoint</Application>
  <PresentationFormat>Letter Paper (8.5x11 in)</PresentationFormat>
  <Paragraphs>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Cloud Forensic Readiness for Bangladesh's Mobile Financial Services: A Case Study of the SikkahBot Campaign</vt:lpstr>
      <vt:lpstr>Motivation: A Real, Growing Gap</vt:lpstr>
      <vt:lpstr>Foundation: Completed Global Systematic Review</vt:lpstr>
      <vt:lpstr>Bangladesh-Specific Literature Base</vt:lpstr>
      <vt:lpstr>Research Gap</vt:lpstr>
      <vt:lpstr>Research Questions</vt:lpstr>
      <vt:lpstr>Proposed Methodology</vt:lpstr>
      <vt:lpstr>Work Plan and Timeline</vt:lpstr>
      <vt:lpstr>Expected Contribution</vt:lpstr>
      <vt:lpstr>Scope and Limitations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10635-Ahsan-Kabir</dc:creator>
  <cp:lastModifiedBy>10635-Ahsan-Kabir</cp:lastModifiedBy>
  <cp:revision>2</cp:revision>
  <dcterms:created xsi:type="dcterms:W3CDTF">2026-08-11T09:41:11Z</dcterms:created>
  <dcterms:modified xsi:type="dcterms:W3CDTF">2026-08-11T12:51:37Z</dcterms:modified>
</cp:coreProperties>
</file>