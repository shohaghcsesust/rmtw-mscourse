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3291840" cy="3291840"/>
          </a:xfrm>
          <a:prstGeom prst="ellipse">
            <a:avLst/>
          </a:prstGeom>
          <a:solidFill>
            <a:srgbClr val="3E5C8A">
              <a:alpha val="45000"/>
            </a:srgbClr>
          </a:solidFill>
          <a:ln/>
        </p:spPr>
      </p:sp>
      <p:pic>
        <p:nvPicPr>
          <p:cNvPr id="4" name="Image 0" descr="icon_cloud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RMTW · Mid-Term Presentation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Taxonomy &amp; Comparative Analysis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Literature Review to a Structured Framework of Cloud Forensics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Ahsan Kabir</a:t>
            </a:r>
            <a:pPr indent="0" marL="0">
              <a:buNone/>
            </a:pPr>
            <a:r>
              <a:rPr lang="en-US" sz="13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ID 0122520016   |   MSCSE, United International University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1447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6093 — Research Methodologies and Technical Writing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questions still drive everything that follows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1371600"/>
          </a:xfrm>
          <a:prstGeom prst="roundRect">
            <a:avLst>
              <a:gd name="adj" fmla="val 50000"/>
            </a:avLst>
          </a:prstGeom>
          <a:solidFill>
            <a:srgbClr val="111C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67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7249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Acquisition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2103120"/>
            <a:ext cx="2514600" cy="1371600"/>
          </a:xfrm>
          <a:prstGeom prst="roundRect">
            <a:avLst>
              <a:gd name="adj" fmla="val 50000"/>
            </a:avLst>
          </a:prstGeom>
          <a:solidFill>
            <a:srgbClr val="111C42"/>
          </a:solidFill>
          <a:ln/>
        </p:spPr>
      </p:sp>
      <p:sp>
        <p:nvSpPr>
          <p:cNvPr id="8" name="Text 6"/>
          <p:cNvSpPr/>
          <p:nvPr/>
        </p:nvSpPr>
        <p:spPr>
          <a:xfrm>
            <a:off x="3410712" y="2267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47872" y="27249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Provenance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2103120"/>
            <a:ext cx="2514600" cy="1371600"/>
          </a:xfrm>
          <a:prstGeom prst="roundRect">
            <a:avLst>
              <a:gd name="adj" fmla="val 50000"/>
            </a:avLst>
          </a:prstGeom>
          <a:solidFill>
            <a:srgbClr val="111C42"/>
          </a:solidFill>
          <a:ln/>
        </p:spPr>
      </p:sp>
      <p:sp>
        <p:nvSpPr>
          <p:cNvPr id="11" name="Text 9"/>
          <p:cNvSpPr/>
          <p:nvPr/>
        </p:nvSpPr>
        <p:spPr>
          <a:xfrm>
            <a:off x="6181344" y="2267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18504" y="27249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&amp; Law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51976" y="2103120"/>
            <a:ext cx="2514600" cy="1371600"/>
          </a:xfrm>
          <a:prstGeom prst="roundRect">
            <a:avLst>
              <a:gd name="adj" fmla="val 50000"/>
            </a:avLst>
          </a:prstGeom>
          <a:solidFill>
            <a:srgbClr val="11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8951976" y="2267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89136" y="272491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turn the reviewed literature into a structured taxonomy, then compare studies question by question.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Mid-Term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Four-Dimensional Taxonomy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cloud forensics research technically, legally, and operationally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49908" y="2423160"/>
            <a:ext cx="694944" cy="69494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icon_upload_111C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56946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29184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Acquisition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models, sources, techniques, scalability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93592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20540" y="2423160"/>
            <a:ext cx="694944" cy="69494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icon_shield_111C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56946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29184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Trustworthiness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93592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Integrity, authenticity, provenance, non-repudiation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81344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64224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091172" y="2423160"/>
            <a:ext cx="694944" cy="69494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icon_gavel_111C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256946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329184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Jurisdictional Compliance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364224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Cross-border, privacy law, CSP governance, admissibility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51976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34856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9861804" y="2423160"/>
            <a:ext cx="694944" cy="69494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3" descr="icon_clipboard_111C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108" y="256946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16568" y="329184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&amp; Interoperability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134856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evidence formats, tool interoperability, evaluation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Mid-Term Presentation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Taxonomy Detail 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Acquisition and Evidence Trustworthiness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6" name="Image 0" descr="icon_upload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756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Evidence Acquisition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6"/>
          <p:cNvSpPr/>
          <p:nvPr/>
        </p:nvSpPr>
        <p:spPr>
          <a:xfrm>
            <a:off x="1207008" y="263347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 (SaaS/PaaS/IaaS)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3593592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8"/>
          <p:cNvSpPr/>
          <p:nvPr/>
        </p:nvSpPr>
        <p:spPr>
          <a:xfrm>
            <a:off x="1207008" y="343814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Sources (logs, VMs, APIs, RAM)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4398264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0"/>
          <p:cNvSpPr/>
          <p:nvPr/>
        </p:nvSpPr>
        <p:spPr>
          <a:xfrm>
            <a:off x="1207008" y="424281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Techniques (incl. AI/ML automation)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5202936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1207008" y="50474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Issues (elasticity, multi-tenancy)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16916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8" name="Image 1" descr="icon_shield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0756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Evidence Trustworthiness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83680" y="278892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7"/>
          <p:cNvSpPr/>
          <p:nvPr/>
        </p:nvSpPr>
        <p:spPr>
          <a:xfrm>
            <a:off x="6830568" y="263347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Mechanisms (hashing, Merkle trees)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3593592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19"/>
          <p:cNvSpPr/>
          <p:nvPr/>
        </p:nvSpPr>
        <p:spPr>
          <a:xfrm>
            <a:off x="6830568" y="343814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Mechanisms (signatures, TPMs)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83680" y="4398264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1"/>
          <p:cNvSpPr/>
          <p:nvPr/>
        </p:nvSpPr>
        <p:spPr>
          <a:xfrm>
            <a:off x="6830568" y="424281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Management (blockchain ledgers)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83680" y="5202936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3"/>
          <p:cNvSpPr/>
          <p:nvPr/>
        </p:nvSpPr>
        <p:spPr>
          <a:xfrm>
            <a:off x="6830568" y="50474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 Mechanisms (signed audit trails)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Mid-Term Presentation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Taxonomy Detail II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Jurisdictional Compliance and Standardization &amp; Interoperability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6" name="Image 0" descr="icon_gavel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756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Legal &amp; Jurisdictional Compliance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6"/>
          <p:cNvSpPr/>
          <p:nvPr/>
        </p:nvSpPr>
        <p:spPr>
          <a:xfrm>
            <a:off x="1207008" y="263347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Forensic Investigation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3593592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8"/>
          <p:cNvSpPr/>
          <p:nvPr/>
        </p:nvSpPr>
        <p:spPr>
          <a:xfrm>
            <a:off x="1207008" y="343814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Law and Data Protection (GDPR)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4398264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0"/>
          <p:cNvSpPr/>
          <p:nvPr/>
        </p:nvSpPr>
        <p:spPr>
          <a:xfrm>
            <a:off x="1207008" y="424281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Governance (SLAs, evidence handling)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5202936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1207008" y="50474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Admissibility of automated evidence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16916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8" name="Image 1" descr="icon_clipboard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0756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0" y="1965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Standardization &amp; Interoperability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583680" y="278892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7"/>
          <p:cNvSpPr/>
          <p:nvPr/>
        </p:nvSpPr>
        <p:spPr>
          <a:xfrm>
            <a:off x="6830568" y="263347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(ISO/IEC 27037/27043, NIST)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3593592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19"/>
          <p:cNvSpPr/>
          <p:nvPr/>
        </p:nvSpPr>
        <p:spPr>
          <a:xfrm>
            <a:off x="6830568" y="343814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of Evidence (metadata, logs)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83680" y="4398264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1"/>
          <p:cNvSpPr/>
          <p:nvPr/>
        </p:nvSpPr>
        <p:spPr>
          <a:xfrm>
            <a:off x="6830568" y="424281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of Tools across CSPs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83680" y="5202936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3"/>
          <p:cNvSpPr/>
          <p:nvPr/>
        </p:nvSpPr>
        <p:spPr>
          <a:xfrm>
            <a:off x="6830568" y="50474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Reproducibility (benchmarks)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Mid-Term Presentation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Literature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selected study assessed across six dimensions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0888" y="21488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9488" y="23774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_search_111C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360" y="24963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9568" y="2148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04208" y="21488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32808" y="23774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0" name="Image 1" descr="icon_flow_111C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680" y="24963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72888" y="2148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07528" y="21488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36128" y="23774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2" descr="icon_cloud_111C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000" y="24963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76208" y="2148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00888" y="42519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29488" y="448056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3" descr="icon_question_111C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360" y="459943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69568" y="42519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404208" y="42519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32808" y="448056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4" descr="icon_trophy_111C4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680" y="459943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72888" y="42519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107528" y="42519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36128" y="448056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5" descr="icon_gap_111C4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000" y="4599432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76208" y="42519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Mid-Term Presentation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by Research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synthesis across all four research questions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" cy="365760"/>
          </a:xfrm>
          <a:prstGeom prst="rect">
            <a:avLst/>
          </a:prstGeom>
          <a:solidFill>
            <a:srgbClr val="111C42"/>
          </a:solidFill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737360" y="1691640"/>
            <a:ext cx="3200400" cy="365760"/>
          </a:xfrm>
          <a:prstGeom prst="rect">
            <a:avLst/>
          </a:prstGeom>
          <a:solidFill>
            <a:srgbClr val="111C42"/>
          </a:solidFill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0" y="1691640"/>
            <a:ext cx="3200400" cy="365760"/>
          </a:xfrm>
          <a:prstGeom prst="rect">
            <a:avLst/>
          </a:prstGeom>
          <a:solidFill>
            <a:srgbClr val="111C42"/>
          </a:solidFill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Challenge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21040" y="1691640"/>
            <a:ext cx="3108960" cy="365760"/>
          </a:xfrm>
          <a:prstGeom prst="rect">
            <a:avLst/>
          </a:prstGeom>
          <a:solidFill>
            <a:srgbClr val="111C42"/>
          </a:solidFill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Solution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08813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1488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dominates forensic acquisition research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0" y="21488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SaaS/PaaS visibility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321040" y="21488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Lake, automated acquisition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10881360" cy="868680"/>
          </a:xfrm>
          <a:prstGeom prst="rect">
            <a:avLst/>
          </a:prstGeom>
          <a:solidFill>
            <a:srgbClr val="EDF0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improves evidence integrity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scalability and trust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ledgers, immutable logging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108813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776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39776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and MLAT processes delay investigations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39776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admissibility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39776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readiness frameworks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868680"/>
          </a:xfrm>
          <a:prstGeom prst="rect">
            <a:avLst/>
          </a:prstGeom>
          <a:solidFill>
            <a:srgbClr val="EDF0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8920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37360" y="4892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interoperability across CSPs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0" y="4892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inconsistency and schema mismatch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21040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OCSF, standardized APIs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Mid-Term Presentation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emerge once all four research questions are compared</a:t>
            </a:r>
            <a:endParaRPr lang="en-US" sz="1500" dirty="0"/>
          </a:p>
        </p:txBody>
      </p:sp>
      <p:pic>
        <p:nvPicPr>
          <p:cNvPr id="5" name="Image 0" descr="icon_eye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9280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37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papers address multiple aspects at once — acquisition, integrity, standards, and law together</a:t>
            </a:r>
            <a:endParaRPr lang="en-US" sz="1400" dirty="0"/>
          </a:p>
        </p:txBody>
      </p:sp>
      <p:pic>
        <p:nvPicPr>
          <p:cNvPr id="7" name="Image 1" descr="icon_eye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61488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606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exists between identifying problems and offering practical, implementable solutions</a:t>
            </a:r>
            <a:endParaRPr lang="en-US" sz="1400" dirty="0"/>
          </a:p>
        </p:txBody>
      </p:sp>
      <p:pic>
        <p:nvPicPr>
          <p:cNvPr id="9" name="Image 2" descr="icon_eye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30168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4747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SaaS/PaaS forensics remain underexplored despite the rise of Microsoft 365, Google Workspace, Salesforce</a:t>
            </a:r>
            <a:endParaRPr lang="en-US" sz="1400" dirty="0"/>
          </a:p>
        </p:txBody>
      </p:sp>
      <p:pic>
        <p:nvPicPr>
          <p:cNvPr id="11" name="Image 3" descr="icon_eye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98848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43434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technical research happen separately — automation, AI, and blockchain each bring new trade-offs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Mid-Term Presentation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comparative findings to research gaps and a proposed solution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5" name="Image 0" descr="icon_gap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6654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concrete research gaps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2860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SaaS/PaaS coverage, standardization, AI explainability, legal barriers, and advanced infrastructure.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9" name="Image 1" descr="icon_bulb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34670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154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future research directions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5661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explainable AI and blockchain provenance to forensic-readiness-by-design and privacy-preserving forensics.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640080" cy="64008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3" name="Image 2" descr="icon_flag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62686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434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48463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an innovative, explainable, standards-aligned acquisition framework — then pilot it.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Mid-Term Presentation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3291840" cy="3291840"/>
          </a:xfrm>
          <a:prstGeom prst="ellipse">
            <a:avLst/>
          </a:prstGeom>
          <a:solidFill>
            <a:srgbClr val="3E5C8A">
              <a:alpha val="45000"/>
            </a:srgbClr>
          </a:solidFill>
          <a:ln/>
        </p:spPr>
      </p:sp>
      <p:pic>
        <p:nvPicPr>
          <p:cNvPr id="4" name="Image 0" descr="icon_book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64592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milestone: research gaps, future directions, and final synthesis (final presentation)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Ahsan Kabir  ·  0122520016  ·  mkabir2520016@mscse.uiu.ac.bd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2026-07-30T11:26:31Z</dcterms:created>
  <dcterms:modified xsi:type="dcterms:W3CDTF">2026-07-30T11:26:31Z</dcterms:modified>
</cp:coreProperties>
</file>