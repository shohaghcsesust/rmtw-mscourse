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y="6858000" cx="9144000"/>
  <p:notesSz cx="6642100" cy="9653575"/>
  <p:embeddedFontLst>
    <p:embeddedFont>
      <p:font typeface="Tahoma"/>
      <p:regular r:id="rId82"/>
      <p:bold r:id="rId83"/>
    </p:embeddedFont>
    <p:embeddedFont>
      <p:font typeface="Open Sans"/>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40">
          <p15:clr>
            <a:srgbClr val="000000"/>
          </p15:clr>
        </p15:guide>
        <p15:guide id="2" pos="2092">
          <p15:clr>
            <a:srgbClr val="000000"/>
          </p15:clr>
        </p15:guide>
      </p15:notesGuideLst>
    </p:ext>
    <p:ext uri="GoogleSlidesCustomDataVersion2">
      <go:slidesCustomData xmlns:go="http://customooxmlschemas.google.com/" r:id="rId88" roundtripDataSignature="AMtx7mhLUEfkejj66uxLLczFJLuwiXuE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40" orient="horz"/>
        <p:guide pos="2092"/>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OpenSans-regular.fntdata"/><Relationship Id="rId83" Type="http://schemas.openxmlformats.org/officeDocument/2006/relationships/font" Target="fonts/Tahoma-bold.fntdata"/><Relationship Id="rId42" Type="http://schemas.openxmlformats.org/officeDocument/2006/relationships/slide" Target="slides/slide36.xml"/><Relationship Id="rId86" Type="http://schemas.openxmlformats.org/officeDocument/2006/relationships/font" Target="fonts/OpenSans-italic.fntdata"/><Relationship Id="rId41" Type="http://schemas.openxmlformats.org/officeDocument/2006/relationships/slide" Target="slides/slide35.xml"/><Relationship Id="rId85" Type="http://schemas.openxmlformats.org/officeDocument/2006/relationships/font" Target="fonts/OpenSans-bold.fntdata"/><Relationship Id="rId44" Type="http://schemas.openxmlformats.org/officeDocument/2006/relationships/slide" Target="slides/slide38.xml"/><Relationship Id="rId88" Type="http://customschemas.google.com/relationships/presentationmetadata" Target="metadata"/><Relationship Id="rId43" Type="http://schemas.openxmlformats.org/officeDocument/2006/relationships/slide" Target="slides/slide37.xml"/><Relationship Id="rId87" Type="http://schemas.openxmlformats.org/officeDocument/2006/relationships/font" Target="fonts/OpenSans-boldItalic.fntdata"/><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font" Target="fonts/Tahoma-regular.fntdata"/><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879725" cy="482600"/>
          </a:xfrm>
          <a:prstGeom prst="rect">
            <a:avLst/>
          </a:prstGeom>
          <a:noFill/>
          <a:ln>
            <a:noFill/>
          </a:ln>
        </p:spPr>
        <p:txBody>
          <a:bodyPr anchorCtr="0" anchor="t" bIns="44525" lIns="89075" spcFirstLastPara="1" rIns="89075" wrap="square" tIns="44525">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762375" y="0"/>
            <a:ext cx="2879725" cy="482600"/>
          </a:xfrm>
          <a:prstGeom prst="rect">
            <a:avLst/>
          </a:prstGeom>
          <a:noFill/>
          <a:ln>
            <a:noFill/>
          </a:ln>
        </p:spPr>
        <p:txBody>
          <a:bodyPr anchorCtr="0" anchor="t" bIns="44525" lIns="89075" spcFirstLastPara="1" rIns="89075" wrap="square" tIns="44525">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170987"/>
            <a:ext cx="2879725" cy="482600"/>
          </a:xfrm>
          <a:prstGeom prst="rect">
            <a:avLst/>
          </a:prstGeom>
          <a:noFill/>
          <a:ln>
            <a:noFill/>
          </a:ln>
        </p:spPr>
        <p:txBody>
          <a:bodyPr anchorCtr="0" anchor="b" bIns="44525" lIns="89075" spcFirstLastPara="1" rIns="89075" wrap="square" tIns="44525">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3" name="Google Shape;73;p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79" name="Google Shape;79;p2: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80" name="Google Shape;80;p2: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81" name="Google Shape;81;p2: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82" name="Google Shape;82;p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2: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91" name="Google Shape;91;p3: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92" name="Google Shape;92;p3: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93" name="Google Shape;93;p3: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94" name="Google Shape;94;p3:notes"/>
          <p:cNvSpPr/>
          <p:nvPr>
            <p:ph idx="2" type="sldImg"/>
          </p:nvPr>
        </p:nvSpPr>
        <p:spPr>
          <a:xfrm>
            <a:off x="915987" y="730250"/>
            <a:ext cx="4811712" cy="3608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3: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138" name="Google Shape;138;p4: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139" name="Google Shape;139;p4: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140" name="Google Shape;140;p4: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41" name="Google Shape;141;p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4: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151" name="Google Shape;151;p5: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152" name="Google Shape;152;p5: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153" name="Google Shape;153;p5: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54" name="Google Shape;154;p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5: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162" name="Google Shape;162;p6: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163" name="Google Shape;163;p6: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164" name="Google Shape;164;p6: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65" name="Google Shape;165;p6: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6: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174" name="Google Shape;174;p7: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175" name="Google Shape;175;p7: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176" name="Google Shape;176;p7: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77" name="Google Shape;177;p7: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7: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185" name="Google Shape;185;p8: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186" name="Google Shape;186;p8: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187" name="Google Shape;187;p8: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88" name="Google Shape;188;p8: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8: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236" name="Google Shape;236;p9: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237" name="Google Shape;237;p9: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238" name="Google Shape;238;p9: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39" name="Google Shape;239;p9: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9: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279" name="Google Shape;279;p10: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280" name="Google Shape;280;p10: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281" name="Google Shape;281;p10: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82" name="Google Shape;282;p10: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0: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290" name="Google Shape;290;p11: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291" name="Google Shape;291;p11: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292" name="Google Shape;292;p11: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93" name="Google Shape;293;p1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1: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2: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326" name="Google Shape;326;p12: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327" name="Google Shape;327;p12: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328" name="Google Shape;328;p12: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29" name="Google Shape;329;p1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12: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3: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337" name="Google Shape;337;p13: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338" name="Google Shape;338;p13: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339" name="Google Shape;339;p13: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40" name="Google Shape;340;p13: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3: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4: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348" name="Google Shape;348;p14: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349" name="Google Shape;349;p14: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350" name="Google Shape;350;p14: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51" name="Google Shape;351;p1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14: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5: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359" name="Google Shape;359;p15: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360" name="Google Shape;360;p15: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361" name="Google Shape;361;p15: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62" name="Google Shape;362;p1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15: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6: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370" name="Google Shape;370;p16: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371" name="Google Shape;371;p16: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372" name="Google Shape;372;p16: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73" name="Google Shape;373;p16: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16: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7: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381" name="Google Shape;381;p17: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382" name="Google Shape;382;p17: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383" name="Google Shape;383;p17: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84" name="Google Shape;384;p17: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17: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8: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393" name="Google Shape;393;p18: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394" name="Google Shape;394;p18: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395" name="Google Shape;395;p18: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96" name="Google Shape;396;p18: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18: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9: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06" name="Google Shape;406;p19: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07" name="Google Shape;407;p19: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08" name="Google Shape;408;p19: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09" name="Google Shape;409;p19: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19: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0: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17" name="Google Shape;417;p20: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18" name="Google Shape;418;p20: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19" name="Google Shape;419;p20: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20" name="Google Shape;420;p20: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20: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1: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29" name="Google Shape;429;p21: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30" name="Google Shape;430;p21: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31" name="Google Shape;431;p21: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32" name="Google Shape;432;p2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21: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2: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40" name="Google Shape;440;p22: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41" name="Google Shape;441;p22: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42" name="Google Shape;442;p22: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43" name="Google Shape;443;p2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22: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3: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51" name="Google Shape;451;p23: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52" name="Google Shape;452;p23: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53" name="Google Shape;453;p23: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54" name="Google Shape;454;p23:notes"/>
          <p:cNvSpPr/>
          <p:nvPr>
            <p:ph idx="2" type="sldImg"/>
          </p:nvPr>
        </p:nvSpPr>
        <p:spPr>
          <a:xfrm>
            <a:off x="1055687" y="222250"/>
            <a:ext cx="4449762" cy="3336925"/>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55" name="Google Shape;455;p23:notes"/>
          <p:cNvSpPr txBox="1"/>
          <p:nvPr>
            <p:ph idx="1" type="body"/>
          </p:nvPr>
        </p:nvSpPr>
        <p:spPr>
          <a:xfrm>
            <a:off x="674687" y="3633787"/>
            <a:ext cx="5745162" cy="5776912"/>
          </a:xfrm>
          <a:prstGeom prst="rect">
            <a:avLst/>
          </a:prstGeom>
          <a:solidFill>
            <a:srgbClr val="FFFFFF"/>
          </a:solidFill>
          <a:ln cap="flat" cmpd="sng" w="9525">
            <a:solidFill>
              <a:srgbClr val="000000"/>
            </a:solidFill>
            <a:prstDash val="solid"/>
            <a:miter lim="524288"/>
            <a:headEnd len="sm" w="sm" type="none"/>
            <a:tailEnd len="sm" w="sm" type="none"/>
          </a:ln>
        </p:spPr>
        <p:txBody>
          <a:bodyPr anchorCtr="0" anchor="t" bIns="44525" lIns="89075" spcFirstLastPara="1" rIns="89075" wrap="square" tIns="44525">
            <a:noAutofit/>
          </a:bodyPr>
          <a:lstStyle/>
          <a:p>
            <a:pPr indent="0" lvl="0" marL="0" rtl="0" algn="l">
              <a:spcBef>
                <a:spcPts val="0"/>
              </a:spcBef>
              <a:spcAft>
                <a:spcPts val="0"/>
              </a:spcAft>
              <a:buSzPts val="1600"/>
              <a:buNone/>
            </a:pPr>
            <a:r>
              <a:rPr lang="en-US" sz="1600"/>
              <a:t>TURNING TO Software Instrumentation A SIMPLE But SUFFICIENT </a:t>
            </a:r>
            <a:r>
              <a:rPr b="1" lang="en-US" sz="1600" u="sng"/>
              <a:t>DESCRIPTION</a:t>
            </a:r>
            <a:r>
              <a:rPr lang="en-US" sz="1600"/>
              <a:t> of software instrumentation according to David Wells Is</a:t>
            </a:r>
            <a:endParaRPr/>
          </a:p>
          <a:p>
            <a:pPr indent="0" lvl="0" marL="0" rtl="0" algn="l">
              <a:spcBef>
                <a:spcPts val="0"/>
              </a:spcBef>
              <a:spcAft>
                <a:spcPts val="0"/>
              </a:spcAft>
              <a:buSzPts val="1600"/>
              <a:buNone/>
            </a:pPr>
            <a:r>
              <a:rPr lang="en-US" sz="1600"/>
              <a:t>“Software Developed SPECIFICALLY To Measure Performance AND/OR Monitor the Behaviour Of An Application”</a:t>
            </a:r>
            <a:endParaRPr/>
          </a:p>
          <a:p>
            <a:pPr indent="0" lvl="0" marL="0" rtl="0" algn="l">
              <a:spcBef>
                <a:spcPts val="0"/>
              </a:spcBef>
              <a:spcAft>
                <a:spcPts val="0"/>
              </a:spcAft>
              <a:buSzPts val="1600"/>
              <a:buNone/>
            </a:pPr>
            <a:r>
              <a:rPr lang="en-US" sz="1600"/>
              <a:t>Software Instrumentation LIKE INSTRUMENTATION IN ENGINEERING DISCPLINES can make use of PRIMITIVE instruments, such as Gauges, Sensors Probes and Loggers</a:t>
            </a:r>
            <a:endParaRPr/>
          </a:p>
          <a:p>
            <a:pPr indent="0" lvl="0" marL="0" rtl="0" algn="l">
              <a:spcBef>
                <a:spcPts val="0"/>
              </a:spcBef>
              <a:spcAft>
                <a:spcPts val="0"/>
              </a:spcAft>
              <a:buSzPts val="1600"/>
              <a:buNone/>
            </a:pPr>
            <a:r>
              <a:rPr lang="en-US" sz="1600"/>
              <a:t>AND COMPOUND Instruments, such as Monitors and Analyzers, which are constructed from PRIMITIVES </a:t>
            </a:r>
            <a:endParaRPr/>
          </a:p>
          <a:p>
            <a:pPr indent="0" lvl="0" marL="0" rtl="0" algn="l">
              <a:spcBef>
                <a:spcPts val="0"/>
              </a:spcBef>
              <a:spcAft>
                <a:spcPts val="0"/>
              </a:spcAft>
              <a:buSzPts val="1600"/>
              <a:buNone/>
            </a:pPr>
            <a:r>
              <a:rPr lang="en-US" sz="1600"/>
              <a:t>FINALLY, The MAIN REASONS For Using Instrumentation With Distributed Applications Is That Distributed Applications Are Notoriously Difficult to Develop and Manage For A NUMBER OF REASONS  </a:t>
            </a:r>
            <a:endParaRPr/>
          </a:p>
          <a:p>
            <a:pPr indent="0" lvl="0" marL="0" rtl="0" algn="l">
              <a:spcBef>
                <a:spcPts val="0"/>
              </a:spcBef>
              <a:spcAft>
                <a:spcPts val="0"/>
              </a:spcAft>
              <a:buSzPts val="1600"/>
              <a:buNone/>
            </a:pPr>
            <a:r>
              <a:rPr lang="en-US" sz="1600"/>
              <a:t>And Probably the MOST IMPORTANT REASON Is The DYNAMICS INHERENT In Distributed Applications Such That the Collection of Clients and Services Can CHANGE ON THE FLY MAKING IT DIFFICULT TO UNDERSTAND The BEHAVIOUR Of A Distributed Application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4: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62" name="Google Shape;462;p24: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63" name="Google Shape;463;p24: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64" name="Google Shape;464;p24: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65" name="Google Shape;465;p2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24: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5: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73" name="Google Shape;473;p25: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74" name="Google Shape;474;p25: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75" name="Google Shape;475;p25: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76" name="Google Shape;476;p2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25: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6: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485" name="Google Shape;485;p26: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486" name="Google Shape;486;p26: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487" name="Google Shape;487;p26: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88" name="Google Shape;488;p26: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26: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7: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541" name="Google Shape;541;p27: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542" name="Google Shape;542;p27: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543" name="Google Shape;543;p27: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44" name="Google Shape;544;p27: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5" name="Google Shape;545;p27: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8: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552" name="Google Shape;552;p28: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553" name="Google Shape;553;p28: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Lecture 6</a:t>
            </a:r>
            <a:endParaRPr/>
          </a:p>
        </p:txBody>
      </p:sp>
      <p:sp>
        <p:nvSpPr>
          <p:cNvPr id="554" name="Google Shape;554;p28: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55" name="Google Shape;555;p28: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28: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9: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563" name="Google Shape;563;p29: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564" name="Google Shape;564;p29: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Supplementary Lecture 5</a:t>
            </a:r>
            <a:endParaRPr/>
          </a:p>
        </p:txBody>
      </p:sp>
      <p:sp>
        <p:nvSpPr>
          <p:cNvPr id="565" name="Google Shape;565;p29: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66" name="Google Shape;566;p29: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29:notes"/>
          <p:cNvSpPr txBox="1"/>
          <p:nvPr>
            <p:ph idx="1" type="body"/>
          </p:nvPr>
        </p:nvSpPr>
        <p:spPr>
          <a:xfrm>
            <a:off x="885825" y="4584700"/>
            <a:ext cx="4870450" cy="4344987"/>
          </a:xfrm>
          <a:prstGeom prst="rect">
            <a:avLst/>
          </a:prstGeom>
          <a:noFill/>
          <a:ln>
            <a:noFill/>
          </a:ln>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0:notes"/>
          <p:cNvSpPr txBox="1"/>
          <p:nvPr/>
        </p:nvSpPr>
        <p:spPr>
          <a:xfrm>
            <a:off x="0" y="0"/>
            <a:ext cx="2879725" cy="482600"/>
          </a:xfrm>
          <a:prstGeom prst="rect">
            <a:avLst/>
          </a:prstGeom>
          <a:noFill/>
          <a:ln>
            <a:noFill/>
          </a:ln>
        </p:spPr>
        <p:txBody>
          <a:bodyPr anchorCtr="0" anchor="t"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CMSSEM003 - Research Methods</a:t>
            </a:r>
            <a:endParaRPr/>
          </a:p>
        </p:txBody>
      </p:sp>
      <p:sp>
        <p:nvSpPr>
          <p:cNvPr id="574" name="Google Shape;574;p30:notes"/>
          <p:cNvSpPr txBox="1"/>
          <p:nvPr/>
        </p:nvSpPr>
        <p:spPr>
          <a:xfrm>
            <a:off x="3762375" y="0"/>
            <a:ext cx="2879725" cy="482600"/>
          </a:xfrm>
          <a:prstGeom prst="rect">
            <a:avLst/>
          </a:prstGeom>
          <a:noFill/>
          <a:ln>
            <a:noFill/>
          </a:ln>
        </p:spPr>
        <p:txBody>
          <a:bodyPr anchorCtr="0" anchor="t"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t>
            </a:r>
            <a:endParaRPr/>
          </a:p>
        </p:txBody>
      </p:sp>
      <p:sp>
        <p:nvSpPr>
          <p:cNvPr id="575" name="Google Shape;575;p30:notes"/>
          <p:cNvSpPr txBox="1"/>
          <p:nvPr/>
        </p:nvSpPr>
        <p:spPr>
          <a:xfrm>
            <a:off x="0"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Prof. A. Taleb-Bendiab, Lecture notes: Supplementary Lecture 5</a:t>
            </a:r>
            <a:endParaRPr/>
          </a:p>
        </p:txBody>
      </p:sp>
      <p:sp>
        <p:nvSpPr>
          <p:cNvPr id="576" name="Google Shape;576;p30:notes"/>
          <p:cNvSpPr txBox="1"/>
          <p:nvPr/>
        </p:nvSpPr>
        <p:spPr>
          <a:xfrm>
            <a:off x="3762375" y="9170987"/>
            <a:ext cx="2879725" cy="482600"/>
          </a:xfrm>
          <a:prstGeom prst="rect">
            <a:avLst/>
          </a:prstGeom>
          <a:noFill/>
          <a:ln>
            <a:noFill/>
          </a:ln>
        </p:spPr>
        <p:txBody>
          <a:bodyPr anchorCtr="0" anchor="b" bIns="44525" lIns="89075" spcFirstLastPara="1" rIns="89075" wrap="square" tIns="44525">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77" name="Google Shape;577;p30: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a:noFill/>
          <a:ln cap="flat" cmpd="sng" w="12675">
            <a:solidFill>
              <a:srgbClr val="000000"/>
            </a:solidFill>
            <a:prstDash val="solid"/>
            <a:miter lim="800000"/>
            <a:headEnd len="sm" w="sm" type="none"/>
            <a:tailEnd len="sm" w="sm" type="none"/>
          </a:ln>
        </p:spPr>
      </p:sp>
      <p:sp>
        <p:nvSpPr>
          <p:cNvPr id="578" name="Google Shape;578;p30:notes"/>
          <p:cNvSpPr txBox="1"/>
          <p:nvPr>
            <p:ph idx="1" type="body"/>
          </p:nvPr>
        </p:nvSpPr>
        <p:spPr>
          <a:xfrm>
            <a:off x="885825" y="4584700"/>
            <a:ext cx="4870450" cy="4344987"/>
          </a:xfrm>
          <a:prstGeom prst="rect">
            <a:avLst/>
          </a:prstGeom>
          <a:noFill/>
          <a:ln>
            <a:noFill/>
          </a:ln>
        </p:spPr>
        <p:txBody>
          <a:bodyPr anchorCtr="0" anchor="t" bIns="44850" lIns="89700" spcFirstLastPara="1" rIns="89700" wrap="square" tIns="44850">
            <a:noAutofit/>
          </a:bodyPr>
          <a:lstStyle/>
          <a:p>
            <a:pPr indent="0" lvl="0" marL="0" rtl="0" algn="l">
              <a:spcBef>
                <a:spcPts val="0"/>
              </a:spcBef>
              <a:spcAft>
                <a:spcPts val="0"/>
              </a:spcAft>
              <a:buSzPts val="1800"/>
              <a:buNone/>
            </a:pPr>
            <a:r>
              <a:rPr b="1" lang="en-US"/>
              <a:t>Project Formulation &amp; Definition</a:t>
            </a:r>
            <a:endParaRPr/>
          </a:p>
          <a:p>
            <a:pPr indent="0" lvl="0" marL="0" rtl="0" algn="l">
              <a:spcBef>
                <a:spcPts val="0"/>
              </a:spcBef>
              <a:spcAft>
                <a:spcPts val="0"/>
              </a:spcAft>
              <a:buNone/>
            </a:pPr>
            <a:r>
              <a:rPr lang="en-US" sz="1000"/>
              <a:t>Determine actual projects from pool of potential projects</a:t>
            </a:r>
            <a:endParaRPr/>
          </a:p>
          <a:p>
            <a:pPr indent="0" lvl="0" marL="0" rtl="0" algn="l">
              <a:spcBef>
                <a:spcPts val="0"/>
              </a:spcBef>
              <a:spcAft>
                <a:spcPts val="0"/>
              </a:spcAft>
              <a:buNone/>
            </a:pPr>
            <a:r>
              <a:rPr lang="en-US" sz="1000"/>
              <a:t>Project selection is a critical task</a:t>
            </a:r>
            <a:endParaRPr/>
          </a:p>
          <a:p>
            <a:pPr indent="0" lvl="0" marL="0" rtl="0" algn="l">
              <a:spcBef>
                <a:spcPts val="0"/>
              </a:spcBef>
              <a:spcAft>
                <a:spcPts val="0"/>
              </a:spcAft>
              <a:buNone/>
            </a:pPr>
            <a:r>
              <a:rPr lang="en-US" sz="1000"/>
              <a:t>Must refer to corporate strategy for guidance</a:t>
            </a:r>
            <a:endParaRPr/>
          </a:p>
          <a:p>
            <a:pPr indent="0" lvl="0" marL="0" rtl="0" algn="l">
              <a:spcBef>
                <a:spcPts val="0"/>
              </a:spcBef>
              <a:spcAft>
                <a:spcPts val="0"/>
              </a:spcAft>
              <a:buSzPts val="1800"/>
              <a:buNone/>
            </a:pPr>
            <a:r>
              <a:rPr b="1" lang="en-US"/>
              <a:t>Feasibility Studies &amp; Prototype Work</a:t>
            </a:r>
            <a:endParaRPr/>
          </a:p>
          <a:p>
            <a:pPr indent="0" lvl="0" marL="0" rtl="0" algn="l">
              <a:spcBef>
                <a:spcPts val="0"/>
              </a:spcBef>
              <a:spcAft>
                <a:spcPts val="0"/>
              </a:spcAft>
              <a:buNone/>
            </a:pPr>
            <a:r>
              <a:rPr lang="en-US" sz="1000"/>
              <a:t>Required for large/complex projects</a:t>
            </a:r>
            <a:endParaRPr/>
          </a:p>
          <a:p>
            <a:pPr indent="0" lvl="0" marL="0" rtl="0" algn="l">
              <a:spcBef>
                <a:spcPts val="0"/>
              </a:spcBef>
              <a:spcAft>
                <a:spcPts val="0"/>
              </a:spcAft>
              <a:buNone/>
            </a:pPr>
            <a:r>
              <a:rPr lang="en-US" sz="1000"/>
              <a:t>May require a contract in itself</a:t>
            </a:r>
            <a:endParaRPr/>
          </a:p>
          <a:p>
            <a:pPr indent="0" lvl="0" marL="0" rtl="0" algn="l">
              <a:spcBef>
                <a:spcPts val="0"/>
              </a:spcBef>
              <a:spcAft>
                <a:spcPts val="0"/>
              </a:spcAft>
              <a:buNone/>
            </a:pPr>
            <a:r>
              <a:rPr lang="en-US" sz="1000"/>
              <a:t>Prototypes may test feasibility, performance, market reaction</a:t>
            </a:r>
            <a:endParaRPr b="1" sz="1000"/>
          </a:p>
          <a:p>
            <a:pPr indent="0" lvl="0" marL="0" rtl="0" algn="l">
              <a:spcBef>
                <a:spcPts val="0"/>
              </a:spcBef>
              <a:spcAft>
                <a:spcPts val="0"/>
              </a:spcAft>
              <a:buSzPts val="1800"/>
              <a:buNone/>
            </a:pPr>
            <a:r>
              <a:rPr b="1" lang="en-US"/>
              <a:t>Outline Planning &amp; Budgeting</a:t>
            </a:r>
            <a:endParaRPr/>
          </a:p>
          <a:p>
            <a:pPr indent="0" lvl="0" marL="0" rtl="0" algn="l">
              <a:spcBef>
                <a:spcPts val="0"/>
              </a:spcBef>
              <a:spcAft>
                <a:spcPts val="0"/>
              </a:spcAft>
              <a:buNone/>
            </a:pPr>
            <a:r>
              <a:rPr lang="en-US" sz="1000"/>
              <a:t>Project budget must be established</a:t>
            </a:r>
            <a:endParaRPr/>
          </a:p>
          <a:p>
            <a:pPr indent="0" lvl="0" marL="0" rtl="0" algn="l">
              <a:spcBef>
                <a:spcPts val="0"/>
              </a:spcBef>
              <a:spcAft>
                <a:spcPts val="0"/>
              </a:spcAft>
              <a:buNone/>
            </a:pPr>
            <a:r>
              <a:rPr lang="en-US" sz="1000"/>
              <a:t>Estimate of final cost needed for company &amp; customer</a:t>
            </a:r>
            <a:endParaRPr/>
          </a:p>
          <a:p>
            <a:pPr indent="0" lvl="0" marL="0" rtl="0" algn="l">
              <a:spcBef>
                <a:spcPts val="0"/>
              </a:spcBef>
              <a:spcAft>
                <a:spcPts val="0"/>
              </a:spcAft>
              <a:buNone/>
            </a:pPr>
            <a:r>
              <a:rPr lang="en-US" sz="1000"/>
              <a:t>Control needs to be established &amp; maintained</a:t>
            </a:r>
            <a:endParaRPr/>
          </a:p>
          <a:p>
            <a:pPr indent="0" lvl="0" marL="0" rtl="0" algn="l">
              <a:spcBef>
                <a:spcPts val="0"/>
              </a:spcBef>
              <a:spcAft>
                <a:spcPts val="0"/>
              </a:spcAft>
              <a:buNone/>
            </a:pPr>
            <a:r>
              <a:rPr lang="en-US" sz="1000"/>
              <a:t>Must start with estimate of time and resources required</a:t>
            </a:r>
            <a:endParaRPr b="1"/>
          </a:p>
          <a:p>
            <a:pPr indent="0" lvl="0" marL="0" rtl="0" algn="l">
              <a:spcBef>
                <a:spcPts val="0"/>
              </a:spcBef>
              <a:spcAft>
                <a:spcPts val="0"/>
              </a:spcAft>
              <a:buSzPts val="1800"/>
              <a:buNone/>
            </a:pPr>
            <a:r>
              <a:rPr b="1" lang="en-US"/>
              <a:t>Contracting</a:t>
            </a:r>
            <a:endParaRPr/>
          </a:p>
          <a:p>
            <a:pPr indent="0" lvl="0" marL="0" rtl="0" algn="l">
              <a:spcBef>
                <a:spcPts val="0"/>
              </a:spcBef>
              <a:spcAft>
                <a:spcPts val="0"/>
              </a:spcAft>
              <a:buNone/>
            </a:pPr>
            <a:r>
              <a:rPr lang="en-US" sz="1000"/>
              <a:t>Legal agreement covering specification, documentation, costs, project management, cancellation, modification, completion, delivery. May also have ‘internal’ company contracts defining dept responsibilities</a:t>
            </a:r>
            <a:r>
              <a:rPr lang="en-US"/>
              <a:t>.</a:t>
            </a:r>
            <a:endParaRPr b="1"/>
          </a:p>
          <a:p>
            <a:pPr indent="0" lvl="0" marL="0" rtl="0" algn="l">
              <a:spcBef>
                <a:spcPts val="0"/>
              </a:spcBef>
              <a:spcAft>
                <a:spcPts val="0"/>
              </a:spcAft>
              <a:buSzPts val="1800"/>
              <a:buNone/>
            </a:pPr>
            <a:r>
              <a:rPr b="1" lang="en-US"/>
              <a:t>Activity Planning &amp; Scheduling</a:t>
            </a:r>
            <a:endParaRPr/>
          </a:p>
          <a:p>
            <a:pPr indent="0" lvl="0" marL="0" rtl="0" algn="l">
              <a:spcBef>
                <a:spcPts val="0"/>
              </a:spcBef>
              <a:spcAft>
                <a:spcPts val="0"/>
              </a:spcAft>
              <a:buNone/>
            </a:pPr>
            <a:r>
              <a:rPr lang="en-US" sz="1000"/>
              <a:t>Shows work required, resources needed, start &amp; finish times.</a:t>
            </a:r>
            <a:endParaRPr/>
          </a:p>
          <a:p>
            <a:pPr indent="0" lvl="0" marL="0" rtl="0" algn="l">
              <a:spcBef>
                <a:spcPts val="0"/>
              </a:spcBef>
              <a:spcAft>
                <a:spcPts val="0"/>
              </a:spcAft>
              <a:buNone/>
            </a:pPr>
            <a:r>
              <a:rPr lang="en-US" sz="1000"/>
              <a:t>New activity, so uncertain, so estimates produced. Allow for risk, plan for revision.</a:t>
            </a:r>
            <a:endParaRPr/>
          </a:p>
          <a:p>
            <a:pPr indent="0" lvl="0" marL="0" rtl="0" algn="l">
              <a:spcBef>
                <a:spcPts val="0"/>
              </a:spcBef>
              <a:spcAft>
                <a:spcPts val="0"/>
              </a:spcAft>
              <a:buNone/>
            </a:pPr>
            <a:r>
              <a:t/>
            </a:r>
            <a:endParaRPr sz="10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1: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584" name="Google Shape;584;p3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32: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590" name="Google Shape;590;p3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3: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596" name="Google Shape;596;p33: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4: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02" name="Google Shape;602;p3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35: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08" name="Google Shape;608;p3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36: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14" name="Google Shape;614;p36: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37: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20" name="Google Shape;620;p37: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38: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29" name="Google Shape;629;p38: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9: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38" name="Google Shape;638;p39: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40: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47" name="Google Shape;647;p40: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1: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53" name="Google Shape;653;p4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2: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62" name="Google Shape;662;p4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43: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68" name="Google Shape;668;p43: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44: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74" name="Google Shape;674;p4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5: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80" name="Google Shape;680;p4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6: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87" name="Google Shape;687;p46: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7: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93" name="Google Shape;693;p47: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8: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699" name="Google Shape;699;p48: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9: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06" name="Google Shape;706;p49: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0: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12" name="Google Shape;712;p50: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51: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19" name="Google Shape;719;p5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52: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25" name="Google Shape;725;p5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53: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34" name="Google Shape;734;p53: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54: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41" name="Google Shape;741;p5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55: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47" name="Google Shape;747;p5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6: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54" name="Google Shape;754;p56: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57: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61" name="Google Shape;761;p57: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58: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67" name="Google Shape;767;p58: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59: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76" name="Google Shape;776;p59: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60: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82" name="Google Shape;782;p60: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61: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88" name="Google Shape;788;p6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62: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795" name="Google Shape;795;p6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63: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01" name="Google Shape;801;p63: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64: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07" name="Google Shape;807;p6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65: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15" name="Google Shape;815;p6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6: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23" name="Google Shape;823;p66: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7: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29" name="Google Shape;829;p67: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68: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36" name="Google Shape;836;p68: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69: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42" name="Google Shape;842;p69: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70: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50" name="Google Shape;850;p70: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71: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57" name="Google Shape;857;p71: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72: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64" name="Google Shape;864;p72: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73: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71" name="Google Shape;871;p73: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74: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78" name="Google Shape;878;p74: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75:notes"/>
          <p:cNvSpPr txBox="1"/>
          <p:nvPr>
            <p:ph idx="1" type="body"/>
          </p:nvPr>
        </p:nvSpPr>
        <p:spPr>
          <a:xfrm>
            <a:off x="885825" y="4584700"/>
            <a:ext cx="4870450" cy="4344987"/>
          </a:xfrm>
          <a:prstGeom prst="rect">
            <a:avLst/>
          </a:prstGeom>
        </p:spPr>
        <p:txBody>
          <a:bodyPr anchorCtr="0" anchor="t" bIns="44525" lIns="89075" spcFirstLastPara="1" rIns="89075" wrap="square" tIns="44525">
            <a:noAutofit/>
          </a:bodyPr>
          <a:lstStyle/>
          <a:p>
            <a:pPr indent="0" lvl="0" marL="0" rtl="0" algn="l">
              <a:spcBef>
                <a:spcPts val="0"/>
              </a:spcBef>
              <a:spcAft>
                <a:spcPts val="0"/>
              </a:spcAft>
              <a:buNone/>
            </a:pPr>
            <a:r>
              <a:t/>
            </a:r>
            <a:endParaRPr/>
          </a:p>
        </p:txBody>
      </p:sp>
      <p:sp>
        <p:nvSpPr>
          <p:cNvPr id="885" name="Google Shape;885;p75:notes"/>
          <p:cNvSpPr/>
          <p:nvPr>
            <p:ph idx="2" type="sldImg"/>
          </p:nvPr>
        </p:nvSpPr>
        <p:spPr>
          <a:xfrm>
            <a:off x="908050" y="723900"/>
            <a:ext cx="4827587" cy="3621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 name="Shape 14"/>
        <p:cNvGrpSpPr/>
        <p:nvPr/>
      </p:nvGrpSpPr>
      <p:grpSpPr>
        <a:xfrm>
          <a:off x="0" y="0"/>
          <a:ext cx="0" cy="0"/>
          <a:chOff x="0" y="0"/>
          <a:chExt cx="0" cy="0"/>
        </a:xfrm>
      </p:grpSpPr>
      <p:sp>
        <p:nvSpPr>
          <p:cNvPr id="15" name="Google Shape;15;p77"/>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7"/>
          <p:cNvSpPr txBox="1"/>
          <p:nvPr>
            <p:ph idx="1" type="body"/>
          </p:nvPr>
        </p:nvSpPr>
        <p:spPr>
          <a:xfrm>
            <a:off x="457200" y="1268412"/>
            <a:ext cx="8229600" cy="48577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 name="Google Shape;17;p77"/>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78"/>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79"/>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79"/>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80"/>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0"/>
          <p:cNvSpPr txBox="1"/>
          <p:nvPr>
            <p:ph idx="1" type="body"/>
          </p:nvPr>
        </p:nvSpPr>
        <p:spPr>
          <a:xfrm>
            <a:off x="457200" y="1268413"/>
            <a:ext cx="4038600" cy="48577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26" name="Google Shape;26;p80"/>
          <p:cNvSpPr txBox="1"/>
          <p:nvPr>
            <p:ph idx="2" type="body"/>
          </p:nvPr>
        </p:nvSpPr>
        <p:spPr>
          <a:xfrm>
            <a:off x="4648200" y="1268413"/>
            <a:ext cx="4038600" cy="48577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27" name="Google Shape;27;p80"/>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lip Art" type="txAndClipArt">
  <p:cSld name="TEXT_AND_CLIPART">
    <p:spTree>
      <p:nvGrpSpPr>
        <p:cNvPr id="28" name="Shape 28"/>
        <p:cNvGrpSpPr/>
        <p:nvPr/>
      </p:nvGrpSpPr>
      <p:grpSpPr>
        <a:xfrm>
          <a:off x="0" y="0"/>
          <a:ext cx="0" cy="0"/>
          <a:chOff x="0" y="0"/>
          <a:chExt cx="0" cy="0"/>
        </a:xfrm>
      </p:grpSpPr>
      <p:sp>
        <p:nvSpPr>
          <p:cNvPr id="29" name="Google Shape;29;p81"/>
          <p:cNvSpPr txBox="1"/>
          <p:nvPr>
            <p:ph type="title"/>
          </p:nvPr>
        </p:nvSpPr>
        <p:spPr>
          <a:xfrm>
            <a:off x="457200" y="274638"/>
            <a:ext cx="8229600" cy="6334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1"/>
          <p:cNvSpPr txBox="1"/>
          <p:nvPr>
            <p:ph idx="1" type="body"/>
          </p:nvPr>
        </p:nvSpPr>
        <p:spPr>
          <a:xfrm>
            <a:off x="457200" y="1268413"/>
            <a:ext cx="4038600" cy="48577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81"/>
          <p:cNvSpPr/>
          <p:nvPr>
            <p:ph idx="2" type="clipArt"/>
          </p:nvPr>
        </p:nvSpPr>
        <p:spPr>
          <a:xfrm>
            <a:off x="4648200" y="1268413"/>
            <a:ext cx="4038600" cy="485775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2" name="Google Shape;32;p81"/>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3" name="Shape 33"/>
        <p:cNvGrpSpPr/>
        <p:nvPr/>
      </p:nvGrpSpPr>
      <p:grpSpPr>
        <a:xfrm>
          <a:off x="0" y="0"/>
          <a:ext cx="0" cy="0"/>
          <a:chOff x="0" y="0"/>
          <a:chExt cx="0" cy="0"/>
        </a:xfrm>
      </p:grpSpPr>
      <p:sp>
        <p:nvSpPr>
          <p:cNvPr id="34" name="Google Shape;34;p8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8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82"/>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83"/>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3"/>
          <p:cNvSpPr txBox="1"/>
          <p:nvPr>
            <p:ph idx="1" type="body"/>
          </p:nvPr>
        </p:nvSpPr>
        <p:spPr>
          <a:xfrm rot="5400000">
            <a:off x="2143125" y="-417513"/>
            <a:ext cx="485775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83"/>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1" name="Shape 41"/>
        <p:cNvGrpSpPr/>
        <p:nvPr/>
      </p:nvGrpSpPr>
      <p:grpSpPr>
        <a:xfrm>
          <a:off x="0" y="0"/>
          <a:ext cx="0" cy="0"/>
          <a:chOff x="0" y="0"/>
          <a:chExt cx="0" cy="0"/>
        </a:xfrm>
      </p:grpSpPr>
      <p:sp>
        <p:nvSpPr>
          <p:cNvPr id="42" name="Google Shape;42;p8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4"/>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44" name="Google Shape;44;p8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5" name="Google Shape;45;p84"/>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8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9" name="Google Shape;49;p8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0" name="Google Shape;50;p85"/>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4" name="Google Shape;54;p8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5" name="Google Shape;55;p8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6" name="Google Shape;56;p8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7" name="Google Shape;57;p86"/>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8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61" name="Google Shape;61;p87"/>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1"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89"/>
          <p:cNvSpPr txBox="1"/>
          <p:nvPr>
            <p:ph type="ctrTitle"/>
          </p:nvPr>
        </p:nvSpPr>
        <p:spPr>
          <a:xfrm>
            <a:off x="611188" y="2565400"/>
            <a:ext cx="7921625" cy="935038"/>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b="0" sz="3200">
                <a:solidFill>
                  <a:schemeClr val="dk1"/>
                </a:solidFill>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9"/>
          <p:cNvSpPr txBox="1"/>
          <p:nvPr>
            <p:ph idx="1" type="subTitle"/>
          </p:nvPr>
        </p:nvSpPr>
        <p:spPr>
          <a:xfrm>
            <a:off x="611188" y="3500438"/>
            <a:ext cx="7921625" cy="504825"/>
          </a:xfrm>
          <a:prstGeom prst="rect">
            <a:avLst/>
          </a:prstGeom>
          <a:noFill/>
          <a:ln>
            <a:noFill/>
          </a:ln>
        </p:spPr>
        <p:txBody>
          <a:bodyPr anchorCtr="0" anchor="t" bIns="0" lIns="0" spcFirstLastPara="1" rIns="0" wrap="square" tIns="0">
            <a:noAutofit/>
          </a:bodyPr>
          <a:lstStyle>
            <a:lvl1pPr lvl="0" algn="l">
              <a:spcBef>
                <a:spcPts val="600"/>
              </a:spcBef>
              <a:spcAft>
                <a:spcPts val="0"/>
              </a:spcAft>
              <a:buClr>
                <a:srgbClr val="666666"/>
              </a:buClr>
              <a:buSzPts val="3000"/>
              <a:buFont typeface="Arial"/>
              <a:buNone/>
              <a:defRPr sz="3000">
                <a:solidFill>
                  <a:srgbClr val="666666"/>
                </a:solidFill>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76"/>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1" i="0" sz="2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chemeClr val="lt1"/>
                </a:solidFill>
                <a:latin typeface="Arial"/>
                <a:ea typeface="Arial"/>
                <a:cs typeface="Arial"/>
                <a:sym typeface="Arial"/>
              </a:defRPr>
            </a:lvl9pPr>
          </a:lstStyle>
          <a:p/>
        </p:txBody>
      </p:sp>
      <p:sp>
        <p:nvSpPr>
          <p:cNvPr id="11" name="Google Shape;11;p76"/>
          <p:cNvSpPr txBox="1"/>
          <p:nvPr>
            <p:ph idx="1" type="body"/>
          </p:nvPr>
        </p:nvSpPr>
        <p:spPr>
          <a:xfrm>
            <a:off x="457200" y="1268412"/>
            <a:ext cx="8229600" cy="485775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76"/>
          <p:cNvSpPr txBox="1"/>
          <p:nvPr>
            <p:ph idx="12" type="sldNum"/>
          </p:nvPr>
        </p:nvSpPr>
        <p:spPr>
          <a:xfrm>
            <a:off x="8316912" y="6410325"/>
            <a:ext cx="719137" cy="258762"/>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solidFill>
                <a:srgbClr val="000000"/>
              </a:solidFill>
            </a:endParaRPr>
          </a:p>
        </p:txBody>
      </p:sp>
      <p:sp>
        <p:nvSpPr>
          <p:cNvPr id="13" name="Google Shape;13;p76"/>
          <p:cNvSpPr txBox="1"/>
          <p:nvPr/>
        </p:nvSpPr>
        <p:spPr>
          <a:xfrm>
            <a:off x="457200" y="6553200"/>
            <a:ext cx="83058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Research Methods			 page: </a:t>
            </a:r>
            <a:fld id="{00000000-1234-1234-1234-123412341234}" type="slidenum">
              <a:rPr b="0" i="0" lang="en-US" sz="1200" u="none" cap="none" strike="noStrike">
                <a:solidFill>
                  <a:schemeClr val="dk1"/>
                </a:solidFill>
                <a:latin typeface="Arial"/>
                <a:ea typeface="Arial"/>
                <a:cs typeface="Arial"/>
                <a:sym typeface="Arial"/>
              </a:rPr>
              <a:t>‹#›</a:t>
            </a:fld>
            <a:r>
              <a:rPr b="0" i="0" lang="en-US" sz="1200" u="none" cap="none" strike="noStrike">
                <a:solidFill>
                  <a:schemeClr val="dk1"/>
                </a:solidFill>
                <a:latin typeface="Arial"/>
                <a:ea typeface="Arial"/>
                <a:cs typeface="Arial"/>
                <a:sym typeface="Arial"/>
              </a:rPr>
              <a:t>			Dr. Khondaker A. Mamun</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2" name="Shape 62"/>
        <p:cNvGrpSpPr/>
        <p:nvPr/>
      </p:nvGrpSpPr>
      <p:grpSpPr>
        <a:xfrm>
          <a:off x="0" y="0"/>
          <a:ext cx="0" cy="0"/>
          <a:chOff x="0" y="0"/>
          <a:chExt cx="0" cy="0"/>
        </a:xfrm>
      </p:grpSpPr>
      <p:sp>
        <p:nvSpPr>
          <p:cNvPr id="63" name="Google Shape;63;p88"/>
          <p:cNvSpPr txBox="1"/>
          <p:nvPr/>
        </p:nvSpPr>
        <p:spPr>
          <a:xfrm>
            <a:off x="457200" y="6553200"/>
            <a:ext cx="8305800" cy="15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Research Methods			 page: </a:t>
            </a:r>
            <a:fld id="{00000000-1234-1234-1234-123412341234}" type="slidenum">
              <a:rPr b="0" i="0" lang="en-US" sz="1200" u="none">
                <a:solidFill>
                  <a:schemeClr val="dk1"/>
                </a:solidFill>
                <a:latin typeface="Arial"/>
                <a:ea typeface="Arial"/>
                <a:cs typeface="Arial"/>
                <a:sym typeface="Arial"/>
              </a:rPr>
              <a:t>‹#›</a:t>
            </a:fld>
            <a:r>
              <a:rPr b="0" i="0" lang="en-US" sz="1200" u="none">
                <a:solidFill>
                  <a:schemeClr val="dk1"/>
                </a:solidFill>
                <a:latin typeface="Arial"/>
                <a:ea typeface="Arial"/>
                <a:cs typeface="Arial"/>
                <a:sym typeface="Arial"/>
              </a:rPr>
              <a:t>			Dr. Khondaker A. Mamun</a:t>
            </a:r>
            <a:endParaRPr/>
          </a:p>
        </p:txBody>
      </p:sp>
      <p:sp>
        <p:nvSpPr>
          <p:cNvPr id="64" name="Google Shape;64;p88"/>
          <p:cNvSpPr txBox="1"/>
          <p:nvPr/>
        </p:nvSpPr>
        <p:spPr>
          <a:xfrm>
            <a:off x="538162" y="5013325"/>
            <a:ext cx="2378075" cy="625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Open Sans"/>
              <a:buNone/>
            </a:pPr>
            <a:r>
              <a:rPr b="0" i="0" lang="en-US" sz="2000" u="none">
                <a:solidFill>
                  <a:schemeClr val="dk1"/>
                </a:solidFill>
                <a:latin typeface="Open Sans"/>
                <a:ea typeface="Open Sans"/>
                <a:cs typeface="Open Sans"/>
                <a:sym typeface="Open Sans"/>
              </a:rPr>
              <a:t>Tutor:</a:t>
            </a:r>
            <a:br>
              <a:rPr b="0" i="0" lang="en-US" sz="2000" u="none">
                <a:solidFill>
                  <a:schemeClr val="dk1"/>
                </a:solidFill>
                <a:latin typeface="Open Sans"/>
                <a:ea typeface="Open Sans"/>
                <a:cs typeface="Open Sans"/>
                <a:sym typeface="Open Sans"/>
              </a:rPr>
            </a:br>
            <a:r>
              <a:rPr b="0" i="0" lang="en-US" sz="1500" u="none">
                <a:solidFill>
                  <a:schemeClr val="dk1"/>
                </a:solidFill>
                <a:latin typeface="Open Sans"/>
                <a:ea typeface="Open Sans"/>
                <a:cs typeface="Open Sans"/>
                <a:sym typeface="Open Sans"/>
              </a:rPr>
              <a:t>Prof. A. Taleb-Bendiab</a:t>
            </a:r>
            <a:endParaRPr/>
          </a:p>
        </p:txBody>
      </p:sp>
      <p:sp>
        <p:nvSpPr>
          <p:cNvPr id="65" name="Google Shape;65;p88"/>
          <p:cNvSpPr txBox="1"/>
          <p:nvPr/>
        </p:nvSpPr>
        <p:spPr>
          <a:xfrm>
            <a:off x="2914650" y="5013325"/>
            <a:ext cx="5402262" cy="1082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Open Sans"/>
              <a:buNone/>
            </a:pPr>
            <a:r>
              <a:rPr b="0" i="0" lang="en-US" sz="2000" u="none">
                <a:solidFill>
                  <a:schemeClr val="dk1"/>
                </a:solidFill>
                <a:latin typeface="Open Sans"/>
                <a:ea typeface="Open Sans"/>
                <a:cs typeface="Open Sans"/>
                <a:sym typeface="Open Sans"/>
              </a:rPr>
              <a:t>Contact:</a:t>
            </a:r>
            <a:br>
              <a:rPr b="0" i="0" lang="en-US" sz="2000" u="none">
                <a:solidFill>
                  <a:schemeClr val="dk1"/>
                </a:solidFill>
                <a:latin typeface="Open Sans"/>
                <a:ea typeface="Open Sans"/>
                <a:cs typeface="Open Sans"/>
                <a:sym typeface="Open Sans"/>
              </a:rPr>
            </a:br>
            <a:r>
              <a:rPr b="0" i="0" lang="en-US" sz="1500" u="none">
                <a:solidFill>
                  <a:schemeClr val="dk1"/>
                </a:solidFill>
                <a:latin typeface="Open Sans"/>
                <a:ea typeface="Open Sans"/>
                <a:cs typeface="Open Sans"/>
                <a:sym typeface="Open Sans"/>
              </a:rPr>
              <a:t>E-Mail:A.TalebBendiab@ljmu.ac.uk</a:t>
            </a:r>
            <a:br>
              <a:rPr b="0" i="0" lang="en-US" sz="1500" u="none">
                <a:solidFill>
                  <a:schemeClr val="dk1"/>
                </a:solidFill>
                <a:latin typeface="Open Sans"/>
                <a:ea typeface="Open Sans"/>
                <a:cs typeface="Open Sans"/>
                <a:sym typeface="Open Sans"/>
              </a:rPr>
            </a:br>
            <a:r>
              <a:rPr b="0" i="0" lang="en-US" sz="1500" u="none">
                <a:solidFill>
                  <a:schemeClr val="dk1"/>
                </a:solidFill>
                <a:latin typeface="Open Sans"/>
                <a:ea typeface="Open Sans"/>
                <a:cs typeface="Open Sans"/>
                <a:sym typeface="Open Sans"/>
              </a:rPr>
              <a:t>Telephone: +44 (0)151 231 2284</a:t>
            </a:r>
            <a:endParaRPr/>
          </a:p>
          <a:p>
            <a:pPr indent="0" lvl="0" marL="0" marR="0" rtl="0" algn="l">
              <a:lnSpc>
                <a:spcPct val="100000"/>
              </a:lnSpc>
              <a:spcBef>
                <a:spcPts val="0"/>
              </a:spcBef>
              <a:spcAft>
                <a:spcPts val="0"/>
              </a:spcAft>
              <a:buNone/>
            </a:pPr>
            <a:r>
              <a:t/>
            </a:r>
            <a:endParaRPr b="0" i="0" sz="1500" u="none">
              <a:solidFill>
                <a:schemeClr val="dk1"/>
              </a:solidFill>
              <a:latin typeface="Open Sans"/>
              <a:ea typeface="Open Sans"/>
              <a:cs typeface="Open Sans"/>
              <a:sym typeface="Open Sans"/>
            </a:endParaRPr>
          </a:p>
        </p:txBody>
      </p:sp>
      <p:sp>
        <p:nvSpPr>
          <p:cNvPr id="66" name="Google Shape;66;p88"/>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1" i="0" sz="2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2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2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2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chemeClr val="lt1"/>
                </a:solidFill>
                <a:latin typeface="Arial"/>
                <a:ea typeface="Arial"/>
                <a:cs typeface="Arial"/>
                <a:sym typeface="Arial"/>
              </a:defRPr>
            </a:lvl9pPr>
          </a:lstStyle>
          <a:p/>
        </p:txBody>
      </p:sp>
      <p:sp>
        <p:nvSpPr>
          <p:cNvPr id="67" name="Google Shape;67;p88"/>
          <p:cNvSpPr txBox="1"/>
          <p:nvPr>
            <p:ph idx="1" type="body"/>
          </p:nvPr>
        </p:nvSpPr>
        <p:spPr>
          <a:xfrm>
            <a:off x="457200" y="1268412"/>
            <a:ext cx="8229600" cy="485775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
          <p:cNvSpPr txBox="1"/>
          <p:nvPr>
            <p:ph idx="1" type="body"/>
          </p:nvPr>
        </p:nvSpPr>
        <p:spPr>
          <a:xfrm>
            <a:off x="468312" y="1485900"/>
            <a:ext cx="8229600" cy="720725"/>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1"/>
              </a:buClr>
              <a:buSzPts val="5400"/>
              <a:buFont typeface="Open Sans"/>
              <a:buNone/>
            </a:pPr>
            <a:r>
              <a:rPr b="1" i="0" lang="en-US" sz="5400" u="none" cap="none" strike="noStrike">
                <a:solidFill>
                  <a:schemeClr val="dk1"/>
                </a:solidFill>
                <a:latin typeface="Open Sans"/>
                <a:ea typeface="Open Sans"/>
                <a:cs typeface="Open Sans"/>
                <a:sym typeface="Open Sans"/>
              </a:rPr>
              <a:t>Lecture 3</a:t>
            </a:r>
            <a:endParaRPr b="1" i="0" sz="3600" u="none" cap="none" strike="noStrike">
              <a:solidFill>
                <a:schemeClr val="dk1"/>
              </a:solidFill>
              <a:latin typeface="Open Sans"/>
              <a:ea typeface="Open Sans"/>
              <a:cs typeface="Open Sans"/>
              <a:sym typeface="Open Sans"/>
            </a:endParaRPr>
          </a:p>
          <a:p>
            <a:pPr indent="0" lvl="0" marL="0" marR="0" rtl="0" algn="ctr">
              <a:lnSpc>
                <a:spcPct val="100000"/>
              </a:lnSpc>
              <a:spcBef>
                <a:spcPts val="1200"/>
              </a:spcBef>
              <a:spcAft>
                <a:spcPts val="0"/>
              </a:spcAft>
              <a:buClr>
                <a:schemeClr val="dk1"/>
              </a:buClr>
              <a:buSzPts val="6000"/>
              <a:buFont typeface="Arial"/>
              <a:buNone/>
            </a:pPr>
            <a:r>
              <a:rPr b="0" i="0" lang="en-US" sz="6000" u="none" cap="none" strike="noStrike">
                <a:solidFill>
                  <a:schemeClr val="dk1"/>
                </a:solidFill>
                <a:latin typeface="Arial"/>
                <a:ea typeface="Arial"/>
                <a:cs typeface="Arial"/>
                <a:sym typeface="Arial"/>
              </a:rPr>
              <a:t>Literature Review, Project Design and Idea Generation </a:t>
            </a:r>
            <a:endParaRPr/>
          </a:p>
          <a:p>
            <a:pPr indent="0" lvl="0" marL="0" marR="0" rtl="0" algn="ctr">
              <a:lnSpc>
                <a:spcPct val="100000"/>
              </a:lnSpc>
              <a:spcBef>
                <a:spcPts val="1200"/>
              </a:spcBef>
              <a:spcAft>
                <a:spcPts val="0"/>
              </a:spcAft>
              <a:buClr>
                <a:schemeClr val="dk1"/>
              </a:buClr>
              <a:buSzPts val="6000"/>
              <a:buFont typeface="Arial"/>
              <a:buNone/>
            </a:pPr>
            <a:r>
              <a:rPr b="0" i="0" lang="en-US" sz="6000" u="none" cap="none" strike="noStrike">
                <a:solidFill>
                  <a:schemeClr val="dk1"/>
                </a:solidFill>
                <a:latin typeface="Arial"/>
                <a:ea typeface="Arial"/>
                <a:cs typeface="Arial"/>
                <a:sym typeface="Arial"/>
              </a:rPr>
              <a:t>Publications</a:t>
            </a:r>
            <a:endParaRPr/>
          </a:p>
        </p:txBody>
      </p:sp>
      <p:sp>
        <p:nvSpPr>
          <p:cNvPr id="76" name="Google Shape;76;p1"/>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2800">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cap="none" strike="noStrike">
                <a:solidFill>
                  <a:schemeClr val="dk1"/>
                </a:solidFill>
                <a:latin typeface="Arial"/>
                <a:ea typeface="Arial"/>
                <a:cs typeface="Arial"/>
                <a:sym typeface="Arial"/>
              </a:rPr>
              <a:t>‹#›</a:t>
            </a:fld>
            <a:endParaRPr/>
          </a:p>
        </p:txBody>
      </p:sp>
      <p:sp>
        <p:nvSpPr>
          <p:cNvPr id="86" name="Google Shape;86;p2"/>
          <p:cNvSpPr txBox="1"/>
          <p:nvPr/>
        </p:nvSpPr>
        <p:spPr>
          <a:xfrm>
            <a:off x="1595437" y="1304925"/>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 name="Google Shape;87;p2"/>
          <p:cNvSpPr txBox="1"/>
          <p:nvPr>
            <p:ph idx="4294967295" type="body"/>
          </p:nvPr>
        </p:nvSpPr>
        <p:spPr>
          <a:xfrm>
            <a:off x="361950" y="1304925"/>
            <a:ext cx="8458200" cy="51117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Literature search and indexing</a:t>
            </a:r>
            <a:endParaRPr/>
          </a:p>
          <a:p>
            <a:pPr indent="-241300" lvl="0" marL="342900" marR="0" rtl="0" algn="l">
              <a:lnSpc>
                <a:spcPct val="90000"/>
              </a:lnSpc>
              <a:spcBef>
                <a:spcPts val="32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Recording references</a:t>
            </a:r>
            <a:endParaRPr/>
          </a:p>
          <a:p>
            <a:pPr indent="-241300" lvl="0" marL="342900" marR="0" rtl="0" algn="l">
              <a:lnSpc>
                <a:spcPct val="90000"/>
              </a:lnSpc>
              <a:spcBef>
                <a:spcPts val="32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Literature review</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How to “do” a literature review</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Finding relevant publications</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Structuring the literature review</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Writing the literature review</a:t>
            </a:r>
            <a:endParaRPr/>
          </a:p>
          <a:p>
            <a:pPr indent="-209550" lvl="1" marL="742950" marR="0" rtl="0" algn="l">
              <a:lnSpc>
                <a:spcPct val="90000"/>
              </a:lnSpc>
              <a:spcBef>
                <a:spcPts val="24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342900" lvl="0" marL="342900" marR="0" rtl="0" algn="l">
              <a:lnSpc>
                <a:spcPct val="90000"/>
              </a:lnSpc>
              <a:spcBef>
                <a:spcPts val="600"/>
              </a:spcBef>
              <a:spcAft>
                <a:spcPts val="0"/>
              </a:spcAft>
              <a:buClr>
                <a:schemeClr val="dk1"/>
              </a:buClr>
              <a:buSzPts val="3000"/>
              <a:buFont typeface="Arial"/>
              <a:buChar char="•"/>
            </a:pPr>
            <a:r>
              <a:rPr b="0" i="0" lang="en-US" sz="3000" u="none" cap="none" strike="noStrike">
                <a:solidFill>
                  <a:schemeClr val="dk1"/>
                </a:solidFill>
                <a:latin typeface="Arial"/>
                <a:ea typeface="Arial"/>
                <a:cs typeface="Arial"/>
                <a:sym typeface="Arial"/>
              </a:rPr>
              <a:t>Student Project Design and Idea Generation</a:t>
            </a:r>
            <a:endParaRPr/>
          </a:p>
          <a:p>
            <a:pPr indent="-241300" lvl="0" marL="342900" marR="0" rtl="0" algn="l">
              <a:lnSpc>
                <a:spcPct val="90000"/>
              </a:lnSpc>
              <a:spcBef>
                <a:spcPts val="32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342900" lvl="0" marL="342900" marR="0" rtl="0" algn="l">
              <a:lnSpc>
                <a:spcPct val="90000"/>
              </a:lnSpc>
              <a:spcBef>
                <a:spcPts val="600"/>
              </a:spcBef>
              <a:spcAft>
                <a:spcPts val="0"/>
              </a:spcAft>
              <a:buClr>
                <a:schemeClr val="dk1"/>
              </a:buClr>
              <a:buSzPts val="3000"/>
              <a:buFont typeface="Arial"/>
              <a:buChar char="•"/>
            </a:pPr>
            <a:r>
              <a:rPr b="0" i="0" lang="en-US" sz="3000" u="none" cap="none" strike="noStrike">
                <a:solidFill>
                  <a:schemeClr val="dk1"/>
                </a:solidFill>
                <a:latin typeface="Arial"/>
                <a:ea typeface="Arial"/>
                <a:cs typeface="Arial"/>
                <a:sym typeface="Arial"/>
              </a:rPr>
              <a:t>Publications</a:t>
            </a:r>
            <a:endParaRPr/>
          </a:p>
        </p:txBody>
      </p:sp>
      <p:sp>
        <p:nvSpPr>
          <p:cNvPr id="88" name="Google Shape;88;p2"/>
          <p:cNvSpPr txBox="1"/>
          <p:nvPr/>
        </p:nvSpPr>
        <p:spPr>
          <a:xfrm>
            <a:off x="457200" y="274637"/>
            <a:ext cx="8229600" cy="6334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98" name="Google Shape;98;p3"/>
          <p:cNvSpPr txBox="1"/>
          <p:nvPr>
            <p:ph type="title"/>
          </p:nvPr>
        </p:nvSpPr>
        <p:spPr>
          <a:xfrm>
            <a:off x="939800" y="398462"/>
            <a:ext cx="7750175" cy="4651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Overview of Project Work Structure</a:t>
            </a:r>
            <a:endParaRPr/>
          </a:p>
        </p:txBody>
      </p:sp>
      <p:grpSp>
        <p:nvGrpSpPr>
          <p:cNvPr id="99" name="Google Shape;99;p3"/>
          <p:cNvGrpSpPr/>
          <p:nvPr/>
        </p:nvGrpSpPr>
        <p:grpSpPr>
          <a:xfrm>
            <a:off x="822325" y="1643062"/>
            <a:ext cx="7543800" cy="4164012"/>
            <a:chOff x="480" y="1152"/>
            <a:chExt cx="4752" cy="2623"/>
          </a:xfrm>
        </p:grpSpPr>
        <p:sp>
          <p:nvSpPr>
            <p:cNvPr id="100" name="Google Shape;100;p3"/>
            <p:cNvSpPr txBox="1"/>
            <p:nvPr/>
          </p:nvSpPr>
          <p:spPr>
            <a:xfrm>
              <a:off x="1728" y="1200"/>
              <a:ext cx="2400" cy="240"/>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 name="Google Shape;101;p3"/>
            <p:cNvSpPr txBox="1"/>
            <p:nvPr/>
          </p:nvSpPr>
          <p:spPr>
            <a:xfrm>
              <a:off x="480" y="20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 name="Google Shape;102;p3"/>
            <p:cNvSpPr txBox="1"/>
            <p:nvPr/>
          </p:nvSpPr>
          <p:spPr>
            <a:xfrm>
              <a:off x="1488" y="20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 name="Google Shape;103;p3"/>
            <p:cNvSpPr txBox="1"/>
            <p:nvPr/>
          </p:nvSpPr>
          <p:spPr>
            <a:xfrm>
              <a:off x="2448" y="20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 name="Google Shape;104;p3"/>
            <p:cNvSpPr txBox="1"/>
            <p:nvPr/>
          </p:nvSpPr>
          <p:spPr>
            <a:xfrm>
              <a:off x="3408" y="20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 name="Google Shape;105;p3"/>
            <p:cNvSpPr txBox="1"/>
            <p:nvPr/>
          </p:nvSpPr>
          <p:spPr>
            <a:xfrm>
              <a:off x="4512" y="20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3"/>
            <p:cNvSpPr txBox="1"/>
            <p:nvPr/>
          </p:nvSpPr>
          <p:spPr>
            <a:xfrm>
              <a:off x="480" y="32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 name="Google Shape;107;p3"/>
            <p:cNvSpPr txBox="1"/>
            <p:nvPr/>
          </p:nvSpPr>
          <p:spPr>
            <a:xfrm>
              <a:off x="1488" y="32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 name="Google Shape;108;p3"/>
            <p:cNvSpPr txBox="1"/>
            <p:nvPr/>
          </p:nvSpPr>
          <p:spPr>
            <a:xfrm>
              <a:off x="2448" y="32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 name="Google Shape;109;p3"/>
            <p:cNvSpPr txBox="1"/>
            <p:nvPr/>
          </p:nvSpPr>
          <p:spPr>
            <a:xfrm>
              <a:off x="3408" y="32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 name="Google Shape;110;p3"/>
            <p:cNvSpPr txBox="1"/>
            <p:nvPr/>
          </p:nvSpPr>
          <p:spPr>
            <a:xfrm>
              <a:off x="4512" y="3216"/>
              <a:ext cx="720" cy="528"/>
            </a:xfrm>
            <a:prstGeom prst="rect">
              <a:avLst/>
            </a:prstGeom>
            <a:noFill/>
            <a:ln cap="flat" cmpd="sng" w="126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 name="Google Shape;111;p3"/>
            <p:cNvSpPr txBox="1"/>
            <p:nvPr/>
          </p:nvSpPr>
          <p:spPr>
            <a:xfrm>
              <a:off x="2112" y="1152"/>
              <a:ext cx="1353"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Do MSc Project</a:t>
              </a:r>
              <a:endParaRPr/>
            </a:p>
          </p:txBody>
        </p:sp>
        <p:sp>
          <p:nvSpPr>
            <p:cNvPr id="112" name="Google Shape;112;p3"/>
            <p:cNvSpPr txBox="1"/>
            <p:nvPr/>
          </p:nvSpPr>
          <p:spPr>
            <a:xfrm>
              <a:off x="518" y="2055"/>
              <a:ext cx="55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Select a </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topic</a:t>
              </a:r>
              <a:endParaRPr/>
            </a:p>
          </p:txBody>
        </p:sp>
        <p:sp>
          <p:nvSpPr>
            <p:cNvPr id="113" name="Google Shape;113;p3"/>
            <p:cNvSpPr txBox="1"/>
            <p:nvPr/>
          </p:nvSpPr>
          <p:spPr>
            <a:xfrm>
              <a:off x="1574" y="2055"/>
              <a:ext cx="497"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Make a</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plan</a:t>
              </a:r>
              <a:endParaRPr/>
            </a:p>
          </p:txBody>
        </p:sp>
        <p:sp>
          <p:nvSpPr>
            <p:cNvPr id="114" name="Google Shape;114;p3"/>
            <p:cNvSpPr txBox="1"/>
            <p:nvPr/>
          </p:nvSpPr>
          <p:spPr>
            <a:xfrm>
              <a:off x="3408" y="2064"/>
              <a:ext cx="747"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Gather &amp;</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analyse data</a:t>
              </a:r>
              <a:endParaRPr/>
            </a:p>
          </p:txBody>
        </p:sp>
        <p:sp>
          <p:nvSpPr>
            <p:cNvPr id="115" name="Google Shape;115;p3"/>
            <p:cNvSpPr txBox="1"/>
            <p:nvPr/>
          </p:nvSpPr>
          <p:spPr>
            <a:xfrm>
              <a:off x="2496" y="2016"/>
              <a:ext cx="581"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Perform </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literature</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search</a:t>
              </a:r>
              <a:endParaRPr/>
            </a:p>
          </p:txBody>
        </p:sp>
        <p:sp>
          <p:nvSpPr>
            <p:cNvPr id="116" name="Google Shape;116;p3"/>
            <p:cNvSpPr txBox="1"/>
            <p:nvPr/>
          </p:nvSpPr>
          <p:spPr>
            <a:xfrm>
              <a:off x="4550" y="2055"/>
              <a:ext cx="569"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Write up</a:t>
              </a:r>
              <a:endParaRPr/>
            </a:p>
          </p:txBody>
        </p:sp>
        <p:sp>
          <p:nvSpPr>
            <p:cNvPr id="117" name="Google Shape;117;p3"/>
            <p:cNvSpPr txBox="1"/>
            <p:nvPr/>
          </p:nvSpPr>
          <p:spPr>
            <a:xfrm>
              <a:off x="518" y="3303"/>
              <a:ext cx="637"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Decide</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objectives</a:t>
              </a:r>
              <a:endParaRPr/>
            </a:p>
          </p:txBody>
        </p:sp>
        <p:sp>
          <p:nvSpPr>
            <p:cNvPr id="118" name="Google Shape;118;p3"/>
            <p:cNvSpPr txBox="1"/>
            <p:nvPr/>
          </p:nvSpPr>
          <p:spPr>
            <a:xfrm>
              <a:off x="1482" y="3303"/>
              <a:ext cx="779"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Develop</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Work Struct.</a:t>
              </a:r>
              <a:endParaRPr/>
            </a:p>
          </p:txBody>
        </p:sp>
        <p:sp>
          <p:nvSpPr>
            <p:cNvPr id="119" name="Google Shape;119;p3"/>
            <p:cNvSpPr txBox="1"/>
            <p:nvPr/>
          </p:nvSpPr>
          <p:spPr>
            <a:xfrm>
              <a:off x="2486" y="3255"/>
              <a:ext cx="595"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Produce</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estimates</a:t>
              </a:r>
              <a:endParaRPr/>
            </a:p>
          </p:txBody>
        </p:sp>
        <p:sp>
          <p:nvSpPr>
            <p:cNvPr id="120" name="Google Shape;120;p3"/>
            <p:cNvSpPr txBox="1"/>
            <p:nvPr/>
          </p:nvSpPr>
          <p:spPr>
            <a:xfrm>
              <a:off x="3446" y="3255"/>
              <a:ext cx="601"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Plan</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resources</a:t>
              </a:r>
              <a:endParaRPr/>
            </a:p>
            <a:p>
              <a:pPr indent="0" lvl="0" marL="0" marR="0" rtl="0" algn="l">
                <a:lnSpc>
                  <a:spcPct val="100000"/>
                </a:lnSpc>
                <a:spcBef>
                  <a:spcPts val="0"/>
                </a:spcBef>
                <a:spcAft>
                  <a:spcPts val="0"/>
                </a:spcAft>
                <a:buNone/>
              </a:pPr>
              <a:r>
                <a:t/>
              </a:r>
              <a:endParaRPr b="0" i="0" sz="1600" u="none">
                <a:solidFill>
                  <a:schemeClr val="dk1"/>
                </a:solidFill>
                <a:latin typeface="Times New Roman"/>
                <a:ea typeface="Times New Roman"/>
                <a:cs typeface="Times New Roman"/>
                <a:sym typeface="Times New Roman"/>
              </a:endParaRPr>
            </a:p>
          </p:txBody>
        </p:sp>
        <p:sp>
          <p:nvSpPr>
            <p:cNvPr id="121" name="Google Shape;121;p3"/>
            <p:cNvSpPr txBox="1"/>
            <p:nvPr/>
          </p:nvSpPr>
          <p:spPr>
            <a:xfrm>
              <a:off x="4656" y="3216"/>
              <a:ext cx="483"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Create </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Gantt</a:t>
              </a:r>
              <a:endParaRPr/>
            </a:p>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chart</a:t>
              </a:r>
              <a:endParaRPr/>
            </a:p>
          </p:txBody>
        </p:sp>
        <p:cxnSp>
          <p:nvCxnSpPr>
            <p:cNvPr id="122" name="Google Shape;122;p3"/>
            <p:cNvCxnSpPr/>
            <p:nvPr/>
          </p:nvCxnSpPr>
          <p:spPr>
            <a:xfrm>
              <a:off x="2736" y="1440"/>
              <a:ext cx="0" cy="192"/>
            </a:xfrm>
            <a:prstGeom prst="straightConnector1">
              <a:avLst/>
            </a:prstGeom>
            <a:noFill/>
            <a:ln cap="flat" cmpd="sng" w="12675">
              <a:solidFill>
                <a:schemeClr val="dk1"/>
              </a:solidFill>
              <a:prstDash val="solid"/>
              <a:miter lim="800000"/>
              <a:headEnd len="med" w="med" type="none"/>
              <a:tailEnd len="med" w="med" type="none"/>
            </a:ln>
          </p:spPr>
        </p:cxnSp>
        <p:cxnSp>
          <p:nvCxnSpPr>
            <p:cNvPr id="123" name="Google Shape;123;p3"/>
            <p:cNvCxnSpPr/>
            <p:nvPr/>
          </p:nvCxnSpPr>
          <p:spPr>
            <a:xfrm>
              <a:off x="816" y="1632"/>
              <a:ext cx="4128" cy="0"/>
            </a:xfrm>
            <a:prstGeom prst="straightConnector1">
              <a:avLst/>
            </a:prstGeom>
            <a:noFill/>
            <a:ln cap="flat" cmpd="sng" w="12675">
              <a:solidFill>
                <a:schemeClr val="dk1"/>
              </a:solidFill>
              <a:prstDash val="solid"/>
              <a:miter lim="800000"/>
              <a:headEnd len="med" w="med" type="none"/>
              <a:tailEnd len="med" w="med" type="none"/>
            </a:ln>
          </p:spPr>
        </p:cxnSp>
        <p:cxnSp>
          <p:nvCxnSpPr>
            <p:cNvPr id="124" name="Google Shape;124;p3"/>
            <p:cNvCxnSpPr/>
            <p:nvPr/>
          </p:nvCxnSpPr>
          <p:spPr>
            <a:xfrm>
              <a:off x="816" y="16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25" name="Google Shape;125;p3"/>
            <p:cNvCxnSpPr/>
            <p:nvPr/>
          </p:nvCxnSpPr>
          <p:spPr>
            <a:xfrm>
              <a:off x="1872" y="16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26" name="Google Shape;126;p3"/>
            <p:cNvCxnSpPr/>
            <p:nvPr/>
          </p:nvCxnSpPr>
          <p:spPr>
            <a:xfrm>
              <a:off x="3744" y="16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27" name="Google Shape;127;p3"/>
            <p:cNvCxnSpPr/>
            <p:nvPr/>
          </p:nvCxnSpPr>
          <p:spPr>
            <a:xfrm>
              <a:off x="2736" y="16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28" name="Google Shape;128;p3"/>
            <p:cNvCxnSpPr/>
            <p:nvPr/>
          </p:nvCxnSpPr>
          <p:spPr>
            <a:xfrm>
              <a:off x="4944" y="16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29" name="Google Shape;129;p3"/>
            <p:cNvCxnSpPr/>
            <p:nvPr/>
          </p:nvCxnSpPr>
          <p:spPr>
            <a:xfrm>
              <a:off x="768" y="2832"/>
              <a:ext cx="4128" cy="0"/>
            </a:xfrm>
            <a:prstGeom prst="straightConnector1">
              <a:avLst/>
            </a:prstGeom>
            <a:noFill/>
            <a:ln cap="flat" cmpd="sng" w="12675">
              <a:solidFill>
                <a:schemeClr val="dk1"/>
              </a:solidFill>
              <a:prstDash val="solid"/>
              <a:miter lim="800000"/>
              <a:headEnd len="med" w="med" type="none"/>
              <a:tailEnd len="med" w="med" type="none"/>
            </a:ln>
          </p:spPr>
        </p:cxnSp>
        <p:cxnSp>
          <p:nvCxnSpPr>
            <p:cNvPr id="130" name="Google Shape;130;p3"/>
            <p:cNvCxnSpPr/>
            <p:nvPr/>
          </p:nvCxnSpPr>
          <p:spPr>
            <a:xfrm>
              <a:off x="768" y="28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31" name="Google Shape;131;p3"/>
            <p:cNvCxnSpPr/>
            <p:nvPr/>
          </p:nvCxnSpPr>
          <p:spPr>
            <a:xfrm>
              <a:off x="1824" y="28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32" name="Google Shape;132;p3"/>
            <p:cNvCxnSpPr/>
            <p:nvPr/>
          </p:nvCxnSpPr>
          <p:spPr>
            <a:xfrm>
              <a:off x="3696" y="28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33" name="Google Shape;133;p3"/>
            <p:cNvCxnSpPr/>
            <p:nvPr/>
          </p:nvCxnSpPr>
          <p:spPr>
            <a:xfrm>
              <a:off x="2688" y="28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34" name="Google Shape;134;p3"/>
            <p:cNvCxnSpPr/>
            <p:nvPr/>
          </p:nvCxnSpPr>
          <p:spPr>
            <a:xfrm>
              <a:off x="4896" y="2832"/>
              <a:ext cx="0" cy="384"/>
            </a:xfrm>
            <a:prstGeom prst="straightConnector1">
              <a:avLst/>
            </a:prstGeom>
            <a:noFill/>
            <a:ln cap="flat" cmpd="sng" w="12675">
              <a:solidFill>
                <a:schemeClr val="dk1"/>
              </a:solidFill>
              <a:prstDash val="solid"/>
              <a:miter lim="800000"/>
              <a:headEnd len="med" w="med" type="none"/>
              <a:tailEnd len="med" w="med" type="none"/>
            </a:ln>
          </p:spPr>
        </p:cxnSp>
        <p:cxnSp>
          <p:nvCxnSpPr>
            <p:cNvPr id="135" name="Google Shape;135;p3"/>
            <p:cNvCxnSpPr/>
            <p:nvPr/>
          </p:nvCxnSpPr>
          <p:spPr>
            <a:xfrm>
              <a:off x="1824" y="2544"/>
              <a:ext cx="0" cy="288"/>
            </a:xfrm>
            <a:prstGeom prst="straightConnector1">
              <a:avLst/>
            </a:prstGeom>
            <a:noFill/>
            <a:ln cap="flat" cmpd="sng" w="12675">
              <a:solidFill>
                <a:schemeClr val="dk1"/>
              </a:solidFill>
              <a:prstDash val="solid"/>
              <a:miter lim="800000"/>
              <a:headEnd len="med" w="med" type="none"/>
              <a:tailEnd len="med" w="med" type="non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145" name="Google Shape;145;p4"/>
          <p:cNvSpPr txBox="1"/>
          <p:nvPr>
            <p:ph type="title"/>
          </p:nvPr>
        </p:nvSpPr>
        <p:spPr>
          <a:xfrm>
            <a:off x="457200" y="274637"/>
            <a:ext cx="8229600" cy="4492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Research Design</a:t>
            </a:r>
            <a:endParaRPr/>
          </a:p>
        </p:txBody>
      </p:sp>
      <p:sp>
        <p:nvSpPr>
          <p:cNvPr id="146" name="Google Shape;146;p4"/>
          <p:cNvSpPr txBox="1"/>
          <p:nvPr>
            <p:ph idx="1" type="body"/>
          </p:nvPr>
        </p:nvSpPr>
        <p:spPr>
          <a:xfrm>
            <a:off x="685800" y="1295400"/>
            <a:ext cx="7772400" cy="52276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General sequence of steps in research design</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Identify the research problem</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Determine the purpose of research</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Develop the theoretical framework</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Define the research questions and/or hypotheses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Define the scope of the study</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Decide on methodology</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Define expected outcomes </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Writing up</a:t>
            </a:r>
            <a:endParaRPr/>
          </a:p>
        </p:txBody>
      </p:sp>
      <p:sp>
        <p:nvSpPr>
          <p:cNvPr id="147" name="Google Shape;147;p4"/>
          <p:cNvSpPr txBox="1"/>
          <p:nvPr/>
        </p:nvSpPr>
        <p:spPr>
          <a:xfrm>
            <a:off x="1127125" y="5603875"/>
            <a:ext cx="184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8" name="Google Shape;148;p4"/>
          <p:cNvSpPr txBox="1"/>
          <p:nvPr/>
        </p:nvSpPr>
        <p:spPr>
          <a:xfrm>
            <a:off x="4916487" y="6248400"/>
            <a:ext cx="4227512"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J Hussey &amp; R Hussey, </a:t>
            </a:r>
            <a:r>
              <a:rPr b="0" i="1" lang="en-US" sz="1200" u="none">
                <a:solidFill>
                  <a:schemeClr val="dk1"/>
                </a:solidFill>
                <a:latin typeface="Arial"/>
                <a:ea typeface="Arial"/>
                <a:cs typeface="Arial"/>
                <a:sym typeface="Arial"/>
              </a:rPr>
              <a:t>Business Research </a:t>
            </a:r>
            <a:r>
              <a:rPr b="0" i="0" lang="en-US" sz="1200" u="none">
                <a:solidFill>
                  <a:schemeClr val="dk1"/>
                </a:solidFill>
                <a:latin typeface="Arial"/>
                <a:ea typeface="Arial"/>
                <a:cs typeface="Arial"/>
                <a:sym typeface="Arial"/>
              </a:rPr>
              <a:t>(Palgrave, 1997), Ch. 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158" name="Google Shape;158;p5"/>
          <p:cNvSpPr txBox="1"/>
          <p:nvPr>
            <p:ph type="title"/>
          </p:nvPr>
        </p:nvSpPr>
        <p:spPr>
          <a:xfrm>
            <a:off x="457200" y="274637"/>
            <a:ext cx="8229600" cy="4048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Identifying the topic</a:t>
            </a:r>
            <a:endParaRPr/>
          </a:p>
        </p:txBody>
      </p:sp>
      <p:sp>
        <p:nvSpPr>
          <p:cNvPr id="159" name="Google Shape;159;p5"/>
          <p:cNvSpPr txBox="1"/>
          <p:nvPr>
            <p:ph idx="1" type="body"/>
          </p:nvPr>
        </p:nvSpPr>
        <p:spPr>
          <a:xfrm>
            <a:off x="457200" y="1009650"/>
            <a:ext cx="82296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Why this topic?</a:t>
            </a:r>
            <a:endParaRPr b="0" i="0" sz="28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is it topical, timely?</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is there a clear need for work in this area?</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if so, who needs it, who will use it?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how will the world be a better place?</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Where does expertise lie?</a:t>
            </a:r>
            <a:endParaRPr b="0" i="0" sz="28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who can you talk to?</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can you read to find out more?</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does this confirm the need for the research?</a:t>
            </a:r>
            <a:endParaRPr b="0" i="0" sz="2400" u="none">
              <a:solidFill>
                <a:schemeClr val="dk1"/>
              </a:solidFill>
              <a:latin typeface="Arial"/>
              <a:ea typeface="Arial"/>
              <a:cs typeface="Arial"/>
              <a:sym typeface="Arial"/>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Is the proposed research novel?</a:t>
            </a:r>
            <a:endParaRPr b="0" i="0" sz="2800" u="none">
              <a:solidFill>
                <a:schemeClr val="dk1"/>
              </a:solidFill>
              <a:latin typeface="Arial"/>
              <a:ea typeface="Arial"/>
              <a:cs typeface="Arial"/>
              <a:sym typeface="Arial"/>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How does the project relate to other work?</a:t>
            </a:r>
            <a:endParaRPr b="0" i="0" sz="28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does it follow on sequentially from something? (</a:t>
            </a:r>
            <a:r>
              <a:rPr b="0" i="1" lang="en-US" sz="2000" u="none">
                <a:solidFill>
                  <a:schemeClr val="dk1"/>
                </a:solidFill>
                <a:latin typeface="Arial"/>
                <a:ea typeface="Arial"/>
                <a:cs typeface="Arial"/>
                <a:sym typeface="Arial"/>
              </a:rPr>
              <a:t>eg</a:t>
            </a:r>
            <a:r>
              <a:rPr b="0" i="0" lang="en-US" sz="2000" u="none">
                <a:solidFill>
                  <a:schemeClr val="dk1"/>
                </a:solidFill>
                <a:latin typeface="Arial"/>
                <a:ea typeface="Arial"/>
                <a:cs typeface="Arial"/>
                <a:sym typeface="Arial"/>
              </a:rPr>
              <a:t> extension of previous project)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does it apply similar approach to another project?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does it fill a gap in knowledge?</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draw a “mind map” of the subject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6"/>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169" name="Google Shape;169;p6"/>
          <p:cNvSpPr txBox="1"/>
          <p:nvPr>
            <p:ph type="title"/>
          </p:nvPr>
        </p:nvSpPr>
        <p:spPr>
          <a:xfrm>
            <a:off x="457200" y="274637"/>
            <a:ext cx="8229600" cy="4667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Generating a Research Idea #1</a:t>
            </a:r>
            <a:endParaRPr/>
          </a:p>
        </p:txBody>
      </p:sp>
      <p:sp>
        <p:nvSpPr>
          <p:cNvPr id="170" name="Google Shape;170;p6"/>
          <p:cNvSpPr txBox="1"/>
          <p:nvPr>
            <p:ph idx="1" type="body"/>
          </p:nvPr>
        </p:nvSpPr>
        <p:spPr>
          <a:xfrm>
            <a:off x="685800" y="12954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Following questions can help to define a research focus including;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does the research seek to find out? What questions does it aim to answer, or what hypothesis does it seek to test?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areas of knowledge, subjects and disciplines will the research need to draw on?</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do we know already that is relevant?  Where shall we need to add new knowledge or know how?</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are the likely sources for the required information?</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are the potentially useful ways of doing the research - the methodological options?</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limits must we set to the breadth and depth of the inquiry?</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What obligations do we have to fulfil to the institution in which we are doing the research? </a:t>
            </a:r>
            <a:endParaRPr/>
          </a:p>
        </p:txBody>
      </p:sp>
      <p:sp>
        <p:nvSpPr>
          <p:cNvPr id="171" name="Google Shape;171;p6"/>
          <p:cNvSpPr txBox="1"/>
          <p:nvPr/>
        </p:nvSpPr>
        <p:spPr>
          <a:xfrm>
            <a:off x="685800" y="6305550"/>
            <a:ext cx="526415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E Orna w. G Stevens, </a:t>
            </a:r>
            <a:r>
              <a:rPr b="0" i="1" lang="en-US" sz="1200" u="none">
                <a:solidFill>
                  <a:schemeClr val="dk1"/>
                </a:solidFill>
                <a:latin typeface="Arial"/>
                <a:ea typeface="Arial"/>
                <a:cs typeface="Arial"/>
                <a:sym typeface="Arial"/>
              </a:rPr>
              <a:t>Managing Information for Research </a:t>
            </a:r>
            <a:r>
              <a:rPr b="0" i="0" lang="en-US" sz="1200" u="none">
                <a:solidFill>
                  <a:schemeClr val="dk1"/>
                </a:solidFill>
                <a:latin typeface="Arial"/>
                <a:ea typeface="Arial"/>
                <a:cs typeface="Arial"/>
                <a:sym typeface="Arial"/>
              </a:rPr>
              <a:t>(OU Press 1995), Ch. 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7"/>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181" name="Google Shape;181;p7"/>
          <p:cNvSpPr txBox="1"/>
          <p:nvPr>
            <p:ph type="title"/>
          </p:nvPr>
        </p:nvSpPr>
        <p:spPr>
          <a:xfrm>
            <a:off x="457200" y="274637"/>
            <a:ext cx="8229600" cy="3524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Generating a Research Idea #2</a:t>
            </a:r>
            <a:endParaRPr/>
          </a:p>
        </p:txBody>
      </p:sp>
      <p:sp>
        <p:nvSpPr>
          <p:cNvPr id="182" name="Google Shape;182;p7"/>
          <p:cNvSpPr txBox="1"/>
          <p:nvPr>
            <p:ph idx="1" type="body"/>
          </p:nvPr>
        </p:nvSpPr>
        <p:spPr>
          <a:xfrm>
            <a:off x="685800" y="1219200"/>
            <a:ext cx="7772400" cy="5638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Finding your research subject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brainstorming</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ways of refining the topic</a:t>
            </a:r>
            <a:endParaRPr/>
          </a:p>
          <a:p>
            <a:pPr indent="-228600" lvl="2" marL="11430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analogy - import ideas and procedures from a similar area</a:t>
            </a:r>
            <a:endParaRPr/>
          </a:p>
          <a:p>
            <a:pPr indent="-228600" lvl="2" marL="11430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morphological analysis - methodical breakdown of key dimensions of general area of interest</a:t>
            </a:r>
            <a:endParaRPr/>
          </a:p>
          <a:p>
            <a:pPr indent="-228600" lvl="2" marL="11430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mind maps - use network diagram to extend out from central concept </a:t>
            </a:r>
            <a:endParaRPr/>
          </a:p>
          <a:p>
            <a:pPr indent="-228600" lvl="2" marL="11430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relevance trees - use hierarchical diagram to develop fine categories within research area</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Importance of literature review</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to increase your knowledge of research area and methodologies</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to scope, justify and decide feasibility of your proposed work</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to develop critical appraisal and ability to synthesize</a:t>
            </a:r>
            <a:endParaRPr/>
          </a:p>
          <a:p>
            <a:pPr indent="-228600" lvl="2" marL="11430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consider purpose, conduct, findings, strengths and weaknesses of the studies you read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8"/>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192" name="Google Shape;192;p8"/>
          <p:cNvSpPr txBox="1"/>
          <p:nvPr>
            <p:ph type="title"/>
          </p:nvPr>
        </p:nvSpPr>
        <p:spPr>
          <a:xfrm>
            <a:off x="457200" y="274637"/>
            <a:ext cx="8229600" cy="4032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Defining Research: </a:t>
            </a:r>
            <a:r>
              <a:rPr b="1" i="0" lang="en-US" sz="2000" u="none">
                <a:solidFill>
                  <a:schemeClr val="lt1"/>
                </a:solidFill>
                <a:latin typeface="Arial"/>
                <a:ea typeface="Arial"/>
                <a:cs typeface="Arial"/>
                <a:sym typeface="Arial"/>
              </a:rPr>
              <a:t>problems/questions</a:t>
            </a:r>
            <a:endParaRPr/>
          </a:p>
        </p:txBody>
      </p:sp>
      <p:sp>
        <p:nvSpPr>
          <p:cNvPr id="193" name="Google Shape;193;p8"/>
          <p:cNvSpPr txBox="1"/>
          <p:nvPr/>
        </p:nvSpPr>
        <p:spPr>
          <a:xfrm>
            <a:off x="552450" y="6202362"/>
            <a:ext cx="4227512"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J Hussey &amp; R Hussey, </a:t>
            </a:r>
            <a:r>
              <a:rPr b="0" i="1" lang="en-US" sz="1200" u="none">
                <a:solidFill>
                  <a:schemeClr val="dk1"/>
                </a:solidFill>
                <a:latin typeface="Arial"/>
                <a:ea typeface="Arial"/>
                <a:cs typeface="Arial"/>
                <a:sym typeface="Arial"/>
              </a:rPr>
              <a:t>Business Research </a:t>
            </a:r>
            <a:r>
              <a:rPr b="0" i="0" lang="en-US" sz="1200" u="none">
                <a:solidFill>
                  <a:schemeClr val="dk1"/>
                </a:solidFill>
                <a:latin typeface="Arial"/>
                <a:ea typeface="Arial"/>
                <a:cs typeface="Arial"/>
                <a:sym typeface="Arial"/>
              </a:rPr>
              <a:t>(Palgrave, 1997), Ch. 5.</a:t>
            </a:r>
            <a:endParaRPr/>
          </a:p>
        </p:txBody>
      </p:sp>
      <p:sp>
        <p:nvSpPr>
          <p:cNvPr id="194" name="Google Shape;194;p8"/>
          <p:cNvSpPr txBox="1"/>
          <p:nvPr/>
        </p:nvSpPr>
        <p:spPr>
          <a:xfrm>
            <a:off x="914400" y="1524000"/>
            <a:ext cx="1814512"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1. read literature, </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identify gaps</a:t>
            </a:r>
            <a:endParaRPr/>
          </a:p>
        </p:txBody>
      </p:sp>
      <p:sp>
        <p:nvSpPr>
          <p:cNvPr id="195" name="Google Shape;195;p8"/>
          <p:cNvSpPr txBox="1"/>
          <p:nvPr/>
        </p:nvSpPr>
        <p:spPr>
          <a:xfrm>
            <a:off x="2667000" y="2133600"/>
            <a:ext cx="20415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2. generate list of </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interesting questions</a:t>
            </a:r>
            <a:endParaRPr/>
          </a:p>
        </p:txBody>
      </p:sp>
      <p:sp>
        <p:nvSpPr>
          <p:cNvPr id="196" name="Google Shape;196;p8"/>
          <p:cNvSpPr txBox="1"/>
          <p:nvPr/>
        </p:nvSpPr>
        <p:spPr>
          <a:xfrm>
            <a:off x="2362200" y="3200400"/>
            <a:ext cx="22320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3. questions already</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answered in literature?</a:t>
            </a:r>
            <a:endParaRPr/>
          </a:p>
        </p:txBody>
      </p:sp>
      <p:sp>
        <p:nvSpPr>
          <p:cNvPr id="197" name="Google Shape;197;p8"/>
          <p:cNvSpPr txBox="1"/>
          <p:nvPr/>
        </p:nvSpPr>
        <p:spPr>
          <a:xfrm>
            <a:off x="2514600" y="4648200"/>
            <a:ext cx="16525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4. test feasibility</a:t>
            </a:r>
            <a:endParaRPr/>
          </a:p>
        </p:txBody>
      </p:sp>
      <p:sp>
        <p:nvSpPr>
          <p:cNvPr id="198" name="Google Shape;198;p8"/>
          <p:cNvSpPr txBox="1"/>
          <p:nvPr/>
        </p:nvSpPr>
        <p:spPr>
          <a:xfrm>
            <a:off x="1371600" y="3886200"/>
            <a:ext cx="2062162"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5. eliminate</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impractical questions</a:t>
            </a:r>
            <a:endParaRPr/>
          </a:p>
        </p:txBody>
      </p:sp>
      <p:sp>
        <p:nvSpPr>
          <p:cNvPr id="199" name="Google Shape;199;p8"/>
          <p:cNvSpPr txBox="1"/>
          <p:nvPr/>
        </p:nvSpPr>
        <p:spPr>
          <a:xfrm>
            <a:off x="762000" y="2743200"/>
            <a:ext cx="159385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6. does suitable</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problem exist? </a:t>
            </a:r>
            <a:endParaRPr/>
          </a:p>
        </p:txBody>
      </p:sp>
      <p:cxnSp>
        <p:nvCxnSpPr>
          <p:cNvPr id="200" name="Google Shape;200;p8"/>
          <p:cNvCxnSpPr/>
          <p:nvPr/>
        </p:nvCxnSpPr>
        <p:spPr>
          <a:xfrm>
            <a:off x="2590800" y="1905000"/>
            <a:ext cx="5334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01" name="Google Shape;201;p8"/>
          <p:cNvCxnSpPr/>
          <p:nvPr/>
        </p:nvCxnSpPr>
        <p:spPr>
          <a:xfrm>
            <a:off x="3352800" y="2667000"/>
            <a:ext cx="0" cy="609600"/>
          </a:xfrm>
          <a:prstGeom prst="straightConnector1">
            <a:avLst/>
          </a:prstGeom>
          <a:noFill/>
          <a:ln cap="flat" cmpd="sng" w="9525">
            <a:solidFill>
              <a:schemeClr val="dk1"/>
            </a:solidFill>
            <a:prstDash val="solid"/>
            <a:miter lim="800000"/>
            <a:headEnd len="med" w="med" type="none"/>
            <a:tailEnd len="med" w="med" type="triangle"/>
          </a:ln>
        </p:spPr>
      </p:cxnSp>
      <p:cxnSp>
        <p:nvCxnSpPr>
          <p:cNvPr id="202" name="Google Shape;202;p8"/>
          <p:cNvCxnSpPr/>
          <p:nvPr/>
        </p:nvCxnSpPr>
        <p:spPr>
          <a:xfrm>
            <a:off x="3886200" y="3810000"/>
            <a:ext cx="0" cy="838200"/>
          </a:xfrm>
          <a:prstGeom prst="straightConnector1">
            <a:avLst/>
          </a:prstGeom>
          <a:noFill/>
          <a:ln cap="flat" cmpd="sng" w="9525">
            <a:solidFill>
              <a:schemeClr val="dk1"/>
            </a:solidFill>
            <a:prstDash val="solid"/>
            <a:miter lim="800000"/>
            <a:headEnd len="med" w="med" type="none"/>
            <a:tailEnd len="med" w="med" type="triangle"/>
          </a:ln>
        </p:spPr>
      </p:cxnSp>
      <p:cxnSp>
        <p:nvCxnSpPr>
          <p:cNvPr id="203" name="Google Shape;203;p8"/>
          <p:cNvCxnSpPr/>
          <p:nvPr/>
        </p:nvCxnSpPr>
        <p:spPr>
          <a:xfrm rot="10800000">
            <a:off x="1905000" y="3276600"/>
            <a:ext cx="0" cy="609600"/>
          </a:xfrm>
          <a:prstGeom prst="straightConnector1">
            <a:avLst/>
          </a:prstGeom>
          <a:noFill/>
          <a:ln cap="flat" cmpd="sng" w="9525">
            <a:solidFill>
              <a:schemeClr val="dk1"/>
            </a:solidFill>
            <a:prstDash val="solid"/>
            <a:miter lim="800000"/>
            <a:headEnd len="med" w="med" type="none"/>
            <a:tailEnd len="med" w="med" type="triangle"/>
          </a:ln>
        </p:spPr>
      </p:cxnSp>
      <p:cxnSp>
        <p:nvCxnSpPr>
          <p:cNvPr id="204" name="Google Shape;204;p8"/>
          <p:cNvCxnSpPr/>
          <p:nvPr/>
        </p:nvCxnSpPr>
        <p:spPr>
          <a:xfrm rot="10800000">
            <a:off x="1219200" y="2057400"/>
            <a:ext cx="0" cy="685800"/>
          </a:xfrm>
          <a:prstGeom prst="straightConnector1">
            <a:avLst/>
          </a:prstGeom>
          <a:noFill/>
          <a:ln cap="flat" cmpd="sng" w="9525">
            <a:solidFill>
              <a:schemeClr val="dk1"/>
            </a:solidFill>
            <a:prstDash val="solid"/>
            <a:miter lim="800000"/>
            <a:headEnd len="med" w="med" type="none"/>
            <a:tailEnd len="med" w="med" type="triangle"/>
          </a:ln>
        </p:spPr>
      </p:cxnSp>
      <p:cxnSp>
        <p:nvCxnSpPr>
          <p:cNvPr id="205" name="Google Shape;205;p8"/>
          <p:cNvCxnSpPr/>
          <p:nvPr/>
        </p:nvCxnSpPr>
        <p:spPr>
          <a:xfrm>
            <a:off x="990600" y="3352800"/>
            <a:ext cx="0" cy="1676400"/>
          </a:xfrm>
          <a:prstGeom prst="straightConnector1">
            <a:avLst/>
          </a:prstGeom>
          <a:noFill/>
          <a:ln cap="flat" cmpd="sng" w="9525">
            <a:solidFill>
              <a:schemeClr val="dk1"/>
            </a:solidFill>
            <a:prstDash val="solid"/>
            <a:miter lim="800000"/>
            <a:headEnd len="med" w="med" type="none"/>
            <a:tailEnd len="med" w="med" type="triangle"/>
          </a:ln>
        </p:spPr>
      </p:cxnSp>
      <p:sp>
        <p:nvSpPr>
          <p:cNvPr id="206" name="Google Shape;206;p8"/>
          <p:cNvSpPr txBox="1"/>
          <p:nvPr/>
        </p:nvSpPr>
        <p:spPr>
          <a:xfrm>
            <a:off x="762000" y="5105400"/>
            <a:ext cx="159067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1" lang="en-US" sz="1600" u="none">
                <a:solidFill>
                  <a:schemeClr val="dk1"/>
                </a:solidFill>
                <a:latin typeface="Tahoma"/>
                <a:ea typeface="Tahoma"/>
                <a:cs typeface="Tahoma"/>
                <a:sym typeface="Tahoma"/>
              </a:rPr>
              <a:t>to next stage in</a:t>
            </a:r>
            <a:endParaRPr/>
          </a:p>
          <a:p>
            <a:pPr indent="0" lvl="0" marL="0" marR="0" rtl="0" algn="l">
              <a:lnSpc>
                <a:spcPct val="100000"/>
              </a:lnSpc>
              <a:spcBef>
                <a:spcPts val="0"/>
              </a:spcBef>
              <a:spcAft>
                <a:spcPts val="0"/>
              </a:spcAft>
              <a:buClr>
                <a:schemeClr val="dk1"/>
              </a:buClr>
              <a:buSzPts val="1600"/>
              <a:buFont typeface="Tahoma"/>
              <a:buNone/>
            </a:pPr>
            <a:r>
              <a:rPr b="0" i="1" lang="en-US" sz="1600" u="none">
                <a:solidFill>
                  <a:schemeClr val="dk1"/>
                </a:solidFill>
                <a:latin typeface="Tahoma"/>
                <a:ea typeface="Tahoma"/>
                <a:cs typeface="Tahoma"/>
                <a:sym typeface="Tahoma"/>
              </a:rPr>
              <a:t>research design</a:t>
            </a:r>
            <a:endParaRPr/>
          </a:p>
        </p:txBody>
      </p:sp>
      <p:sp>
        <p:nvSpPr>
          <p:cNvPr id="207" name="Google Shape;207;p8"/>
          <p:cNvSpPr txBox="1"/>
          <p:nvPr/>
        </p:nvSpPr>
        <p:spPr>
          <a:xfrm>
            <a:off x="3886200" y="3733800"/>
            <a:ext cx="3190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N</a:t>
            </a:r>
            <a:endParaRPr/>
          </a:p>
        </p:txBody>
      </p:sp>
      <p:sp>
        <p:nvSpPr>
          <p:cNvPr id="208" name="Google Shape;208;p8"/>
          <p:cNvSpPr txBox="1"/>
          <p:nvPr/>
        </p:nvSpPr>
        <p:spPr>
          <a:xfrm>
            <a:off x="1219200" y="2514600"/>
            <a:ext cx="3190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N</a:t>
            </a:r>
            <a:endParaRPr/>
          </a:p>
        </p:txBody>
      </p:sp>
      <p:sp>
        <p:nvSpPr>
          <p:cNvPr id="209" name="Google Shape;209;p8"/>
          <p:cNvSpPr txBox="1"/>
          <p:nvPr/>
        </p:nvSpPr>
        <p:spPr>
          <a:xfrm>
            <a:off x="990600" y="3352800"/>
            <a:ext cx="3016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Y</a:t>
            </a:r>
            <a:endParaRPr/>
          </a:p>
        </p:txBody>
      </p:sp>
      <p:cxnSp>
        <p:nvCxnSpPr>
          <p:cNvPr id="210" name="Google Shape;210;p8"/>
          <p:cNvCxnSpPr/>
          <p:nvPr/>
        </p:nvCxnSpPr>
        <p:spPr>
          <a:xfrm>
            <a:off x="4629150" y="1485900"/>
            <a:ext cx="0" cy="4648200"/>
          </a:xfrm>
          <a:prstGeom prst="straightConnector1">
            <a:avLst/>
          </a:prstGeom>
          <a:noFill/>
          <a:ln cap="flat" cmpd="dbl" w="38100">
            <a:solidFill>
              <a:schemeClr val="dk1"/>
            </a:solidFill>
            <a:prstDash val="solid"/>
            <a:miter lim="800000"/>
            <a:headEnd len="med" w="med" type="none"/>
            <a:tailEnd len="med" w="med" type="none"/>
          </a:ln>
        </p:spPr>
      </p:cxnSp>
      <p:cxnSp>
        <p:nvCxnSpPr>
          <p:cNvPr id="211" name="Google Shape;211;p8"/>
          <p:cNvCxnSpPr/>
          <p:nvPr/>
        </p:nvCxnSpPr>
        <p:spPr>
          <a:xfrm rot="10800000">
            <a:off x="1905000" y="4800600"/>
            <a:ext cx="685800" cy="0"/>
          </a:xfrm>
          <a:prstGeom prst="straightConnector1">
            <a:avLst/>
          </a:prstGeom>
          <a:noFill/>
          <a:ln cap="flat" cmpd="sng" w="9525">
            <a:solidFill>
              <a:schemeClr val="dk1"/>
            </a:solidFill>
            <a:prstDash val="solid"/>
            <a:miter lim="800000"/>
            <a:headEnd len="med" w="med" type="none"/>
            <a:tailEnd len="med" w="med" type="none"/>
          </a:ln>
        </p:spPr>
      </p:cxnSp>
      <p:cxnSp>
        <p:nvCxnSpPr>
          <p:cNvPr id="212" name="Google Shape;212;p8"/>
          <p:cNvCxnSpPr/>
          <p:nvPr/>
        </p:nvCxnSpPr>
        <p:spPr>
          <a:xfrm rot="10800000">
            <a:off x="1905000" y="4419600"/>
            <a:ext cx="0" cy="381000"/>
          </a:xfrm>
          <a:prstGeom prst="straightConnector1">
            <a:avLst/>
          </a:prstGeom>
          <a:noFill/>
          <a:ln cap="flat" cmpd="sng" w="9525">
            <a:solidFill>
              <a:schemeClr val="dk1"/>
            </a:solidFill>
            <a:prstDash val="solid"/>
            <a:miter lim="800000"/>
            <a:headEnd len="med" w="med" type="none"/>
            <a:tailEnd len="med" w="med" type="triangle"/>
          </a:ln>
        </p:spPr>
      </p:cxnSp>
      <p:cxnSp>
        <p:nvCxnSpPr>
          <p:cNvPr id="213" name="Google Shape;213;p8"/>
          <p:cNvCxnSpPr/>
          <p:nvPr/>
        </p:nvCxnSpPr>
        <p:spPr>
          <a:xfrm rot="10800000">
            <a:off x="2057400" y="2057400"/>
            <a:ext cx="533400" cy="1219200"/>
          </a:xfrm>
          <a:prstGeom prst="straightConnector1">
            <a:avLst/>
          </a:prstGeom>
          <a:noFill/>
          <a:ln cap="flat" cmpd="sng" w="9525">
            <a:solidFill>
              <a:schemeClr val="dk1"/>
            </a:solidFill>
            <a:prstDash val="solid"/>
            <a:miter lim="800000"/>
            <a:headEnd len="med" w="med" type="none"/>
            <a:tailEnd len="med" w="med" type="triangle"/>
          </a:ln>
        </p:spPr>
      </p:cxnSp>
      <p:sp>
        <p:nvSpPr>
          <p:cNvPr id="214" name="Google Shape;214;p8"/>
          <p:cNvSpPr txBox="1"/>
          <p:nvPr/>
        </p:nvSpPr>
        <p:spPr>
          <a:xfrm>
            <a:off x="2514600" y="2971800"/>
            <a:ext cx="3016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Y</a:t>
            </a:r>
            <a:endParaRPr/>
          </a:p>
        </p:txBody>
      </p:sp>
      <p:sp>
        <p:nvSpPr>
          <p:cNvPr id="215" name="Google Shape;215;p8"/>
          <p:cNvSpPr txBox="1"/>
          <p:nvPr/>
        </p:nvSpPr>
        <p:spPr>
          <a:xfrm>
            <a:off x="4800600" y="1524000"/>
            <a:ext cx="1706562"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1. state purpose </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of research</a:t>
            </a:r>
            <a:endParaRPr/>
          </a:p>
        </p:txBody>
      </p:sp>
      <p:sp>
        <p:nvSpPr>
          <p:cNvPr id="216" name="Google Shape;216;p8"/>
          <p:cNvSpPr txBox="1"/>
          <p:nvPr/>
        </p:nvSpPr>
        <p:spPr>
          <a:xfrm>
            <a:off x="6477000" y="1981200"/>
            <a:ext cx="2062162"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2. formulate specific </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questions or </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hypotheses</a:t>
            </a:r>
            <a:endParaRPr/>
          </a:p>
        </p:txBody>
      </p:sp>
      <p:sp>
        <p:nvSpPr>
          <p:cNvPr id="217" name="Google Shape;217;p8"/>
          <p:cNvSpPr txBox="1"/>
          <p:nvPr/>
        </p:nvSpPr>
        <p:spPr>
          <a:xfrm>
            <a:off x="6721475" y="4648200"/>
            <a:ext cx="17748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4. survey</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relevant literature</a:t>
            </a:r>
            <a:endParaRPr/>
          </a:p>
        </p:txBody>
      </p:sp>
      <p:sp>
        <p:nvSpPr>
          <p:cNvPr id="218" name="Google Shape;218;p8"/>
          <p:cNvSpPr txBox="1"/>
          <p:nvPr/>
        </p:nvSpPr>
        <p:spPr>
          <a:xfrm>
            <a:off x="4724400" y="3581400"/>
            <a:ext cx="232727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5. have questions been </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answered already?</a:t>
            </a:r>
            <a:endParaRPr/>
          </a:p>
        </p:txBody>
      </p:sp>
      <p:cxnSp>
        <p:nvCxnSpPr>
          <p:cNvPr id="219" name="Google Shape;219;p8"/>
          <p:cNvCxnSpPr/>
          <p:nvPr/>
        </p:nvCxnSpPr>
        <p:spPr>
          <a:xfrm>
            <a:off x="6019800" y="1905000"/>
            <a:ext cx="533400" cy="304800"/>
          </a:xfrm>
          <a:prstGeom prst="straightConnector1">
            <a:avLst/>
          </a:prstGeom>
          <a:noFill/>
          <a:ln cap="flat" cmpd="sng" w="9525">
            <a:solidFill>
              <a:schemeClr val="dk1"/>
            </a:solidFill>
            <a:prstDash val="solid"/>
            <a:miter lim="800000"/>
            <a:headEnd len="med" w="med" type="none"/>
            <a:tailEnd len="med" w="med" type="triangle"/>
          </a:ln>
        </p:spPr>
      </p:cxnSp>
      <p:cxnSp>
        <p:nvCxnSpPr>
          <p:cNvPr id="220" name="Google Shape;220;p8"/>
          <p:cNvCxnSpPr/>
          <p:nvPr/>
        </p:nvCxnSpPr>
        <p:spPr>
          <a:xfrm>
            <a:off x="7848600" y="2438400"/>
            <a:ext cx="0" cy="609600"/>
          </a:xfrm>
          <a:prstGeom prst="straightConnector1">
            <a:avLst/>
          </a:prstGeom>
          <a:noFill/>
          <a:ln cap="flat" cmpd="sng" w="9525">
            <a:solidFill>
              <a:schemeClr val="dk1"/>
            </a:solidFill>
            <a:prstDash val="solid"/>
            <a:miter lim="800000"/>
            <a:headEnd len="med" w="med" type="none"/>
            <a:tailEnd len="med" w="med" type="triangle"/>
          </a:ln>
        </p:spPr>
      </p:cxnSp>
      <p:cxnSp>
        <p:nvCxnSpPr>
          <p:cNvPr id="221" name="Google Shape;221;p8"/>
          <p:cNvCxnSpPr/>
          <p:nvPr/>
        </p:nvCxnSpPr>
        <p:spPr>
          <a:xfrm>
            <a:off x="7315200" y="3581400"/>
            <a:ext cx="0" cy="1143000"/>
          </a:xfrm>
          <a:prstGeom prst="straightConnector1">
            <a:avLst/>
          </a:prstGeom>
          <a:noFill/>
          <a:ln cap="flat" cmpd="sng" w="9525">
            <a:solidFill>
              <a:schemeClr val="dk1"/>
            </a:solidFill>
            <a:prstDash val="solid"/>
            <a:miter lim="800000"/>
            <a:headEnd len="med" w="med" type="none"/>
            <a:tailEnd len="med" w="med" type="triangle"/>
          </a:ln>
        </p:spPr>
      </p:cxnSp>
      <p:cxnSp>
        <p:nvCxnSpPr>
          <p:cNvPr id="222" name="Google Shape;222;p8"/>
          <p:cNvCxnSpPr/>
          <p:nvPr/>
        </p:nvCxnSpPr>
        <p:spPr>
          <a:xfrm rot="10800000">
            <a:off x="5426075" y="2057400"/>
            <a:ext cx="0" cy="1600200"/>
          </a:xfrm>
          <a:prstGeom prst="straightConnector1">
            <a:avLst/>
          </a:prstGeom>
          <a:noFill/>
          <a:ln cap="flat" cmpd="sng" w="9525">
            <a:solidFill>
              <a:schemeClr val="dk1"/>
            </a:solidFill>
            <a:prstDash val="solid"/>
            <a:miter lim="800000"/>
            <a:headEnd len="med" w="med" type="none"/>
            <a:tailEnd len="med" w="med" type="triangle"/>
          </a:ln>
        </p:spPr>
      </p:cxnSp>
      <p:sp>
        <p:nvSpPr>
          <p:cNvPr id="223" name="Google Shape;223;p8"/>
          <p:cNvSpPr txBox="1"/>
          <p:nvPr/>
        </p:nvSpPr>
        <p:spPr>
          <a:xfrm>
            <a:off x="4968875" y="5105400"/>
            <a:ext cx="159067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1" lang="en-US" sz="1600" u="none">
                <a:solidFill>
                  <a:schemeClr val="dk1"/>
                </a:solidFill>
                <a:latin typeface="Tahoma"/>
                <a:ea typeface="Tahoma"/>
                <a:cs typeface="Tahoma"/>
                <a:sym typeface="Tahoma"/>
              </a:rPr>
              <a:t>to next stage in</a:t>
            </a:r>
            <a:endParaRPr/>
          </a:p>
          <a:p>
            <a:pPr indent="0" lvl="0" marL="0" marR="0" rtl="0" algn="l">
              <a:lnSpc>
                <a:spcPct val="100000"/>
              </a:lnSpc>
              <a:spcBef>
                <a:spcPts val="0"/>
              </a:spcBef>
              <a:spcAft>
                <a:spcPts val="0"/>
              </a:spcAft>
              <a:buClr>
                <a:schemeClr val="dk1"/>
              </a:buClr>
              <a:buSzPts val="1600"/>
              <a:buFont typeface="Tahoma"/>
              <a:buNone/>
            </a:pPr>
            <a:r>
              <a:rPr b="0" i="1" lang="en-US" sz="1600" u="none">
                <a:solidFill>
                  <a:schemeClr val="dk1"/>
                </a:solidFill>
                <a:latin typeface="Tahoma"/>
                <a:ea typeface="Tahoma"/>
                <a:cs typeface="Tahoma"/>
                <a:sym typeface="Tahoma"/>
              </a:rPr>
              <a:t>research design</a:t>
            </a:r>
            <a:endParaRPr/>
          </a:p>
        </p:txBody>
      </p:sp>
      <p:sp>
        <p:nvSpPr>
          <p:cNvPr id="224" name="Google Shape;224;p8"/>
          <p:cNvSpPr txBox="1"/>
          <p:nvPr/>
        </p:nvSpPr>
        <p:spPr>
          <a:xfrm>
            <a:off x="6019800" y="2971800"/>
            <a:ext cx="3190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N</a:t>
            </a:r>
            <a:endParaRPr/>
          </a:p>
        </p:txBody>
      </p:sp>
      <p:sp>
        <p:nvSpPr>
          <p:cNvPr id="225" name="Google Shape;225;p8"/>
          <p:cNvSpPr txBox="1"/>
          <p:nvPr/>
        </p:nvSpPr>
        <p:spPr>
          <a:xfrm>
            <a:off x="5197475" y="3352800"/>
            <a:ext cx="3016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Y</a:t>
            </a:r>
            <a:endParaRPr/>
          </a:p>
        </p:txBody>
      </p:sp>
      <p:sp>
        <p:nvSpPr>
          <p:cNvPr id="226" name="Google Shape;226;p8"/>
          <p:cNvSpPr txBox="1"/>
          <p:nvPr/>
        </p:nvSpPr>
        <p:spPr>
          <a:xfrm>
            <a:off x="6324600" y="2971800"/>
            <a:ext cx="216535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3. are they interesting</a:t>
            </a:r>
            <a:endParaRPr/>
          </a:p>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or important?</a:t>
            </a:r>
            <a:endParaRPr/>
          </a:p>
        </p:txBody>
      </p:sp>
      <p:cxnSp>
        <p:nvCxnSpPr>
          <p:cNvPr id="227" name="Google Shape;227;p8"/>
          <p:cNvCxnSpPr/>
          <p:nvPr/>
        </p:nvCxnSpPr>
        <p:spPr>
          <a:xfrm>
            <a:off x="5181600" y="4114800"/>
            <a:ext cx="0" cy="1066800"/>
          </a:xfrm>
          <a:prstGeom prst="straightConnector1">
            <a:avLst/>
          </a:prstGeom>
          <a:noFill/>
          <a:ln cap="flat" cmpd="sng" w="9525">
            <a:solidFill>
              <a:schemeClr val="dk1"/>
            </a:solidFill>
            <a:prstDash val="solid"/>
            <a:miter lim="800000"/>
            <a:headEnd len="med" w="med" type="none"/>
            <a:tailEnd len="med" w="med" type="triangle"/>
          </a:ln>
        </p:spPr>
      </p:cxnSp>
      <p:sp>
        <p:nvSpPr>
          <p:cNvPr id="228" name="Google Shape;228;p8"/>
          <p:cNvSpPr txBox="1"/>
          <p:nvPr/>
        </p:nvSpPr>
        <p:spPr>
          <a:xfrm>
            <a:off x="5181600" y="4114800"/>
            <a:ext cx="3190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N</a:t>
            </a:r>
            <a:endParaRPr/>
          </a:p>
        </p:txBody>
      </p:sp>
      <p:cxnSp>
        <p:nvCxnSpPr>
          <p:cNvPr id="229" name="Google Shape;229;p8"/>
          <p:cNvCxnSpPr/>
          <p:nvPr/>
        </p:nvCxnSpPr>
        <p:spPr>
          <a:xfrm rot="10800000">
            <a:off x="6019800" y="4114800"/>
            <a:ext cx="762000" cy="685800"/>
          </a:xfrm>
          <a:prstGeom prst="straightConnector1">
            <a:avLst/>
          </a:prstGeom>
          <a:noFill/>
          <a:ln cap="flat" cmpd="sng" w="9525">
            <a:solidFill>
              <a:schemeClr val="dk1"/>
            </a:solidFill>
            <a:prstDash val="solid"/>
            <a:miter lim="800000"/>
            <a:headEnd len="med" w="med" type="none"/>
            <a:tailEnd len="med" w="med" type="triangle"/>
          </a:ln>
        </p:spPr>
      </p:cxnSp>
      <p:cxnSp>
        <p:nvCxnSpPr>
          <p:cNvPr id="230" name="Google Shape;230;p8"/>
          <p:cNvCxnSpPr/>
          <p:nvPr/>
        </p:nvCxnSpPr>
        <p:spPr>
          <a:xfrm rot="10800000">
            <a:off x="5638800" y="2057400"/>
            <a:ext cx="685800" cy="990600"/>
          </a:xfrm>
          <a:prstGeom prst="straightConnector1">
            <a:avLst/>
          </a:prstGeom>
          <a:noFill/>
          <a:ln cap="flat" cmpd="sng" w="9525">
            <a:solidFill>
              <a:schemeClr val="dk1"/>
            </a:solidFill>
            <a:prstDash val="solid"/>
            <a:miter lim="800000"/>
            <a:headEnd len="med" w="med" type="none"/>
            <a:tailEnd len="med" w="med" type="triangle"/>
          </a:ln>
        </p:spPr>
      </p:cxnSp>
      <p:sp>
        <p:nvSpPr>
          <p:cNvPr id="231" name="Google Shape;231;p8"/>
          <p:cNvSpPr txBox="1"/>
          <p:nvPr/>
        </p:nvSpPr>
        <p:spPr>
          <a:xfrm>
            <a:off x="7315200" y="3581400"/>
            <a:ext cx="3016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Y</a:t>
            </a:r>
            <a:endParaRPr/>
          </a:p>
        </p:txBody>
      </p:sp>
      <p:sp>
        <p:nvSpPr>
          <p:cNvPr id="232" name="Google Shape;232;p8"/>
          <p:cNvSpPr txBox="1"/>
          <p:nvPr/>
        </p:nvSpPr>
        <p:spPr>
          <a:xfrm>
            <a:off x="685800" y="1143000"/>
            <a:ext cx="31670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1" lang="en-US" sz="1800" u="none">
                <a:solidFill>
                  <a:schemeClr val="dk1"/>
                </a:solidFill>
                <a:latin typeface="Arial"/>
                <a:ea typeface="Arial"/>
                <a:cs typeface="Arial"/>
                <a:sym typeface="Arial"/>
              </a:rPr>
              <a:t>identifying a research problem</a:t>
            </a:r>
            <a:endParaRPr/>
          </a:p>
        </p:txBody>
      </p:sp>
      <p:sp>
        <p:nvSpPr>
          <p:cNvPr id="233" name="Google Shape;233;p8"/>
          <p:cNvSpPr txBox="1"/>
          <p:nvPr/>
        </p:nvSpPr>
        <p:spPr>
          <a:xfrm>
            <a:off x="5257800" y="1143000"/>
            <a:ext cx="30797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1" lang="en-US" sz="1800" u="none">
                <a:solidFill>
                  <a:schemeClr val="dk1"/>
                </a:solidFill>
                <a:latin typeface="Arial"/>
                <a:ea typeface="Arial"/>
                <a:cs typeface="Arial"/>
                <a:sym typeface="Arial"/>
              </a:rPr>
              <a:t>developing research questions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9"/>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243" name="Google Shape;243;p9"/>
          <p:cNvSpPr txBox="1"/>
          <p:nvPr>
            <p:ph type="title"/>
          </p:nvPr>
        </p:nvSpPr>
        <p:spPr>
          <a:xfrm>
            <a:off x="1143000" y="381000"/>
            <a:ext cx="6997700" cy="3857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An Example -- Mind Map</a:t>
            </a:r>
            <a:endParaRPr/>
          </a:p>
        </p:txBody>
      </p:sp>
      <p:grpSp>
        <p:nvGrpSpPr>
          <p:cNvPr id="244" name="Google Shape;244;p9"/>
          <p:cNvGrpSpPr/>
          <p:nvPr/>
        </p:nvGrpSpPr>
        <p:grpSpPr>
          <a:xfrm>
            <a:off x="685800" y="1066800"/>
            <a:ext cx="7629525" cy="4999037"/>
            <a:chOff x="432" y="672"/>
            <a:chExt cx="4806" cy="3149"/>
          </a:xfrm>
        </p:grpSpPr>
        <p:sp>
          <p:nvSpPr>
            <p:cNvPr id="245" name="Google Shape;245;p9"/>
            <p:cNvSpPr/>
            <p:nvPr/>
          </p:nvSpPr>
          <p:spPr>
            <a:xfrm>
              <a:off x="2112" y="2208"/>
              <a:ext cx="816" cy="576"/>
            </a:xfrm>
            <a:custGeom>
              <a:rect b="b" l="l" r="r" t="t"/>
              <a:pathLst>
                <a:path extrusionOk="0" h="576" w="816">
                  <a:moveTo>
                    <a:pt x="0" y="0"/>
                  </a:moveTo>
                  <a:cubicBezTo>
                    <a:pt x="124" y="168"/>
                    <a:pt x="248" y="336"/>
                    <a:pt x="384" y="432"/>
                  </a:cubicBezTo>
                  <a:cubicBezTo>
                    <a:pt x="520" y="528"/>
                    <a:pt x="668" y="552"/>
                    <a:pt x="816" y="576"/>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6" name="Google Shape;246;p9"/>
            <p:cNvSpPr txBox="1"/>
            <p:nvPr/>
          </p:nvSpPr>
          <p:spPr>
            <a:xfrm>
              <a:off x="624" y="3648"/>
              <a:ext cx="3404"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E Orna w. G Stevens, </a:t>
              </a:r>
              <a:r>
                <a:rPr b="0" i="1" lang="en-US" sz="1200" u="none">
                  <a:solidFill>
                    <a:schemeClr val="dk1"/>
                  </a:solidFill>
                  <a:latin typeface="Arial"/>
                  <a:ea typeface="Arial"/>
                  <a:cs typeface="Arial"/>
                  <a:sym typeface="Arial"/>
                </a:rPr>
                <a:t>Managing Information for Research </a:t>
              </a:r>
              <a:r>
                <a:rPr b="0" i="0" lang="en-US" sz="1200" u="none">
                  <a:solidFill>
                    <a:schemeClr val="dk1"/>
                  </a:solidFill>
                  <a:latin typeface="Arial"/>
                  <a:ea typeface="Arial"/>
                  <a:cs typeface="Arial"/>
                  <a:sym typeface="Arial"/>
                </a:rPr>
                <a:t>(OU Press 1995), Ch. 2.</a:t>
              </a:r>
              <a:endParaRPr/>
            </a:p>
          </p:txBody>
        </p:sp>
        <p:sp>
          <p:nvSpPr>
            <p:cNvPr id="247" name="Google Shape;247;p9"/>
            <p:cNvSpPr/>
            <p:nvPr/>
          </p:nvSpPr>
          <p:spPr>
            <a:xfrm>
              <a:off x="3504" y="720"/>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8" name="Google Shape;248;p9"/>
            <p:cNvSpPr/>
            <p:nvPr/>
          </p:nvSpPr>
          <p:spPr>
            <a:xfrm>
              <a:off x="1728" y="1296"/>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9" name="Google Shape;249;p9"/>
            <p:cNvSpPr/>
            <p:nvPr/>
          </p:nvSpPr>
          <p:spPr>
            <a:xfrm>
              <a:off x="3600" y="1296"/>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0" name="Google Shape;250;p9"/>
            <p:cNvSpPr/>
            <p:nvPr/>
          </p:nvSpPr>
          <p:spPr>
            <a:xfrm>
              <a:off x="816" y="1680"/>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1" name="Google Shape;251;p9"/>
            <p:cNvSpPr/>
            <p:nvPr/>
          </p:nvSpPr>
          <p:spPr>
            <a:xfrm>
              <a:off x="1824" y="1920"/>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2" name="Google Shape;252;p9"/>
            <p:cNvSpPr/>
            <p:nvPr/>
          </p:nvSpPr>
          <p:spPr>
            <a:xfrm>
              <a:off x="3408" y="2112"/>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3" name="Google Shape;253;p9"/>
            <p:cNvSpPr/>
            <p:nvPr/>
          </p:nvSpPr>
          <p:spPr>
            <a:xfrm>
              <a:off x="1824" y="2640"/>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4" name="Google Shape;254;p9"/>
            <p:cNvSpPr/>
            <p:nvPr/>
          </p:nvSpPr>
          <p:spPr>
            <a:xfrm>
              <a:off x="2832" y="2736"/>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5" name="Google Shape;255;p9"/>
            <p:cNvSpPr/>
            <p:nvPr/>
          </p:nvSpPr>
          <p:spPr>
            <a:xfrm>
              <a:off x="672" y="3072"/>
              <a:ext cx="384" cy="336"/>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6" name="Google Shape;256;p9"/>
            <p:cNvSpPr txBox="1"/>
            <p:nvPr/>
          </p:nvSpPr>
          <p:spPr>
            <a:xfrm>
              <a:off x="3888" y="720"/>
              <a:ext cx="1204"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organizational policy</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strategic objectives</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corporate planning</a:t>
              </a:r>
              <a:endParaRPr/>
            </a:p>
          </p:txBody>
        </p:sp>
        <p:cxnSp>
          <p:nvCxnSpPr>
            <p:cNvPr id="257" name="Google Shape;257;p9"/>
            <p:cNvCxnSpPr/>
            <p:nvPr/>
          </p:nvCxnSpPr>
          <p:spPr>
            <a:xfrm flipH="1">
              <a:off x="2064" y="960"/>
              <a:ext cx="1488" cy="480"/>
            </a:xfrm>
            <a:prstGeom prst="straightConnector1">
              <a:avLst/>
            </a:prstGeom>
            <a:noFill/>
            <a:ln cap="flat" cmpd="sng" w="38100">
              <a:solidFill>
                <a:schemeClr val="lt2"/>
              </a:solidFill>
              <a:prstDash val="solid"/>
              <a:miter lim="800000"/>
              <a:headEnd len="med" w="med" type="none"/>
              <a:tailEnd len="med" w="med" type="none"/>
            </a:ln>
          </p:spPr>
        </p:cxnSp>
        <p:cxnSp>
          <p:nvCxnSpPr>
            <p:cNvPr id="258" name="Google Shape;258;p9"/>
            <p:cNvCxnSpPr/>
            <p:nvPr/>
          </p:nvCxnSpPr>
          <p:spPr>
            <a:xfrm flipH="1">
              <a:off x="1152" y="1536"/>
              <a:ext cx="624" cy="192"/>
            </a:xfrm>
            <a:prstGeom prst="straightConnector1">
              <a:avLst/>
            </a:prstGeom>
            <a:noFill/>
            <a:ln cap="flat" cmpd="sng" w="38100">
              <a:solidFill>
                <a:schemeClr val="lt2"/>
              </a:solidFill>
              <a:prstDash val="solid"/>
              <a:miter lim="800000"/>
              <a:headEnd len="med" w="med" type="none"/>
              <a:tailEnd len="med" w="med" type="none"/>
            </a:ln>
          </p:spPr>
        </p:cxnSp>
        <p:sp>
          <p:nvSpPr>
            <p:cNvPr id="259" name="Google Shape;259;p9"/>
            <p:cNvSpPr/>
            <p:nvPr/>
          </p:nvSpPr>
          <p:spPr>
            <a:xfrm>
              <a:off x="2064" y="1488"/>
              <a:ext cx="1536" cy="144"/>
            </a:xfrm>
            <a:custGeom>
              <a:rect b="b" l="l" r="r" t="t"/>
              <a:pathLst>
                <a:path extrusionOk="0" h="144" w="1536">
                  <a:moveTo>
                    <a:pt x="0" y="0"/>
                  </a:moveTo>
                  <a:cubicBezTo>
                    <a:pt x="280" y="72"/>
                    <a:pt x="560" y="144"/>
                    <a:pt x="816" y="144"/>
                  </a:cubicBezTo>
                  <a:cubicBezTo>
                    <a:pt x="1072" y="144"/>
                    <a:pt x="1304" y="72"/>
                    <a:pt x="1536" y="0"/>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60" name="Google Shape;260;p9"/>
            <p:cNvCxnSpPr/>
            <p:nvPr/>
          </p:nvCxnSpPr>
          <p:spPr>
            <a:xfrm flipH="1">
              <a:off x="3648" y="1584"/>
              <a:ext cx="192" cy="528"/>
            </a:xfrm>
            <a:prstGeom prst="straightConnector1">
              <a:avLst/>
            </a:prstGeom>
            <a:noFill/>
            <a:ln cap="flat" cmpd="sng" w="38100">
              <a:solidFill>
                <a:schemeClr val="lt2"/>
              </a:solidFill>
              <a:prstDash val="solid"/>
              <a:miter lim="800000"/>
              <a:headEnd len="med" w="med" type="none"/>
              <a:tailEnd len="med" w="med" type="none"/>
            </a:ln>
          </p:spPr>
        </p:cxnSp>
        <p:cxnSp>
          <p:nvCxnSpPr>
            <p:cNvPr id="261" name="Google Shape;261;p9"/>
            <p:cNvCxnSpPr/>
            <p:nvPr/>
          </p:nvCxnSpPr>
          <p:spPr>
            <a:xfrm>
              <a:off x="1968" y="1584"/>
              <a:ext cx="48" cy="384"/>
            </a:xfrm>
            <a:prstGeom prst="straightConnector1">
              <a:avLst/>
            </a:prstGeom>
            <a:noFill/>
            <a:ln cap="flat" cmpd="sng" w="38100">
              <a:solidFill>
                <a:schemeClr val="lt2"/>
              </a:solidFill>
              <a:prstDash val="solid"/>
              <a:miter lim="800000"/>
              <a:headEnd len="med" w="med" type="none"/>
              <a:tailEnd len="med" w="med" type="none"/>
            </a:ln>
          </p:spPr>
        </p:cxnSp>
        <p:cxnSp>
          <p:nvCxnSpPr>
            <p:cNvPr id="262" name="Google Shape;262;p9"/>
            <p:cNvCxnSpPr/>
            <p:nvPr/>
          </p:nvCxnSpPr>
          <p:spPr>
            <a:xfrm>
              <a:off x="2016" y="2256"/>
              <a:ext cx="48" cy="384"/>
            </a:xfrm>
            <a:prstGeom prst="straightConnector1">
              <a:avLst/>
            </a:prstGeom>
            <a:noFill/>
            <a:ln cap="flat" cmpd="sng" w="38100">
              <a:solidFill>
                <a:schemeClr val="lt2"/>
              </a:solidFill>
              <a:prstDash val="solid"/>
              <a:miter lim="800000"/>
              <a:headEnd len="med" w="med" type="none"/>
              <a:tailEnd len="med" w="med" type="none"/>
            </a:ln>
          </p:spPr>
        </p:cxnSp>
        <p:sp>
          <p:nvSpPr>
            <p:cNvPr id="263" name="Google Shape;263;p9"/>
            <p:cNvSpPr/>
            <p:nvPr/>
          </p:nvSpPr>
          <p:spPr>
            <a:xfrm>
              <a:off x="1008" y="2832"/>
              <a:ext cx="816" cy="384"/>
            </a:xfrm>
            <a:custGeom>
              <a:rect b="b" l="l" r="r" t="t"/>
              <a:pathLst>
                <a:path extrusionOk="0" h="384" w="816">
                  <a:moveTo>
                    <a:pt x="816" y="0"/>
                  </a:moveTo>
                  <a:cubicBezTo>
                    <a:pt x="620" y="16"/>
                    <a:pt x="424" y="32"/>
                    <a:pt x="288" y="96"/>
                  </a:cubicBezTo>
                  <a:cubicBezTo>
                    <a:pt x="152" y="160"/>
                    <a:pt x="76" y="272"/>
                    <a:pt x="0" y="384"/>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4" name="Google Shape;264;p9"/>
            <p:cNvSpPr txBox="1"/>
            <p:nvPr/>
          </p:nvSpPr>
          <p:spPr>
            <a:xfrm>
              <a:off x="480" y="1056"/>
              <a:ext cx="1776"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how organizations make</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decisions on information</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products</a:t>
              </a:r>
              <a:endParaRPr/>
            </a:p>
          </p:txBody>
        </p:sp>
        <p:sp>
          <p:nvSpPr>
            <p:cNvPr id="265" name="Google Shape;265;p9"/>
            <p:cNvSpPr txBox="1"/>
            <p:nvPr/>
          </p:nvSpPr>
          <p:spPr>
            <a:xfrm>
              <a:off x="4032" y="1344"/>
              <a:ext cx="858"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information</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resource</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management</a:t>
              </a:r>
              <a:endParaRPr/>
            </a:p>
          </p:txBody>
        </p:sp>
        <p:sp>
          <p:nvSpPr>
            <p:cNvPr id="266" name="Google Shape;266;p9"/>
            <p:cNvSpPr txBox="1"/>
            <p:nvPr/>
          </p:nvSpPr>
          <p:spPr>
            <a:xfrm>
              <a:off x="3840" y="2016"/>
              <a:ext cx="1398" cy="83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technology for</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information products</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databases</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electronic publishing</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document management</a:t>
              </a:r>
              <a:endParaRPr/>
            </a:p>
          </p:txBody>
        </p:sp>
        <p:sp>
          <p:nvSpPr>
            <p:cNvPr id="267" name="Google Shape;267;p9"/>
            <p:cNvSpPr txBox="1"/>
            <p:nvPr/>
          </p:nvSpPr>
          <p:spPr>
            <a:xfrm>
              <a:off x="1008" y="3264"/>
              <a:ext cx="163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monitoring and evaluation</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of information products</a:t>
              </a:r>
              <a:endParaRPr/>
            </a:p>
          </p:txBody>
        </p:sp>
        <p:cxnSp>
          <p:nvCxnSpPr>
            <p:cNvPr id="268" name="Google Shape;268;p9"/>
            <p:cNvCxnSpPr/>
            <p:nvPr/>
          </p:nvCxnSpPr>
          <p:spPr>
            <a:xfrm>
              <a:off x="2208" y="2784"/>
              <a:ext cx="624" cy="144"/>
            </a:xfrm>
            <a:prstGeom prst="straightConnector1">
              <a:avLst/>
            </a:prstGeom>
            <a:noFill/>
            <a:ln cap="flat" cmpd="sng" w="38100">
              <a:solidFill>
                <a:schemeClr val="lt2"/>
              </a:solidFill>
              <a:prstDash val="solid"/>
              <a:miter lim="800000"/>
              <a:headEnd len="med" w="med" type="none"/>
              <a:tailEnd len="med" w="med" type="none"/>
            </a:ln>
          </p:spPr>
        </p:cxnSp>
        <p:sp>
          <p:nvSpPr>
            <p:cNvPr id="269" name="Google Shape;269;p9"/>
            <p:cNvSpPr txBox="1"/>
            <p:nvPr/>
          </p:nvSpPr>
          <p:spPr>
            <a:xfrm>
              <a:off x="1536" y="2928"/>
              <a:ext cx="56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training</a:t>
              </a:r>
              <a:endParaRPr/>
            </a:p>
          </p:txBody>
        </p:sp>
        <p:sp>
          <p:nvSpPr>
            <p:cNvPr id="270" name="Google Shape;270;p9"/>
            <p:cNvSpPr txBox="1"/>
            <p:nvPr/>
          </p:nvSpPr>
          <p:spPr>
            <a:xfrm>
              <a:off x="2736" y="3072"/>
              <a:ext cx="2256" cy="6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management of information products</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writing - design - editing</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typesetting - production - budget</a:t>
              </a:r>
              <a:endParaRPr/>
            </a:p>
            <a:p>
              <a:pPr indent="0" lvl="0" marL="0" marR="0" rtl="0" algn="l">
                <a:lnSpc>
                  <a:spcPct val="100000"/>
                </a:lnSpc>
                <a:spcBef>
                  <a:spcPts val="0"/>
                </a:spcBef>
                <a:spcAft>
                  <a:spcPts val="0"/>
                </a:spcAft>
                <a:buNone/>
              </a:pPr>
              <a:r>
                <a:t/>
              </a:r>
              <a:endParaRPr b="0" i="0" sz="1600" u="none">
                <a:solidFill>
                  <a:schemeClr val="dk1"/>
                </a:solidFill>
                <a:latin typeface="Arial"/>
                <a:ea typeface="Arial"/>
                <a:cs typeface="Arial"/>
                <a:sym typeface="Arial"/>
              </a:endParaRPr>
            </a:p>
          </p:txBody>
        </p:sp>
        <p:sp>
          <p:nvSpPr>
            <p:cNvPr id="271" name="Google Shape;271;p9"/>
            <p:cNvSpPr txBox="1"/>
            <p:nvPr/>
          </p:nvSpPr>
          <p:spPr>
            <a:xfrm>
              <a:off x="432" y="2016"/>
              <a:ext cx="1339" cy="6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organizational</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information products</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how they are used</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medium of production</a:t>
              </a:r>
              <a:endParaRPr/>
            </a:p>
          </p:txBody>
        </p:sp>
        <p:sp>
          <p:nvSpPr>
            <p:cNvPr id="272" name="Google Shape;272;p9"/>
            <p:cNvSpPr/>
            <p:nvPr/>
          </p:nvSpPr>
          <p:spPr>
            <a:xfrm>
              <a:off x="3696" y="768"/>
              <a:ext cx="48" cy="624"/>
            </a:xfrm>
            <a:custGeom>
              <a:rect b="b" l="l" r="r" t="t"/>
              <a:pathLst>
                <a:path extrusionOk="0" h="288" w="912">
                  <a:moveTo>
                    <a:pt x="0" y="0"/>
                  </a:moveTo>
                  <a:cubicBezTo>
                    <a:pt x="20" y="72"/>
                    <a:pt x="40" y="144"/>
                    <a:pt x="192" y="192"/>
                  </a:cubicBezTo>
                  <a:cubicBezTo>
                    <a:pt x="344" y="240"/>
                    <a:pt x="792" y="272"/>
                    <a:pt x="912" y="288"/>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73" name="Google Shape;273;p9"/>
            <p:cNvCxnSpPr/>
            <p:nvPr/>
          </p:nvCxnSpPr>
          <p:spPr>
            <a:xfrm>
              <a:off x="1152" y="1872"/>
              <a:ext cx="672" cy="192"/>
            </a:xfrm>
            <a:prstGeom prst="straightConnector1">
              <a:avLst/>
            </a:prstGeom>
            <a:noFill/>
            <a:ln cap="flat" cmpd="sng" w="38100">
              <a:solidFill>
                <a:schemeClr val="lt2"/>
              </a:solidFill>
              <a:prstDash val="solid"/>
              <a:miter lim="800000"/>
              <a:headEnd len="med" w="med" type="none"/>
              <a:tailEnd len="med" w="med" type="none"/>
            </a:ln>
          </p:spPr>
        </p:cxnSp>
        <p:sp>
          <p:nvSpPr>
            <p:cNvPr id="274" name="Google Shape;274;p9"/>
            <p:cNvSpPr/>
            <p:nvPr/>
          </p:nvSpPr>
          <p:spPr>
            <a:xfrm>
              <a:off x="2208" y="2112"/>
              <a:ext cx="1200" cy="144"/>
            </a:xfrm>
            <a:custGeom>
              <a:rect b="b" l="l" r="r" t="t"/>
              <a:pathLst>
                <a:path extrusionOk="0" h="144" w="1200">
                  <a:moveTo>
                    <a:pt x="0" y="0"/>
                  </a:moveTo>
                  <a:cubicBezTo>
                    <a:pt x="500" y="60"/>
                    <a:pt x="1000" y="120"/>
                    <a:pt x="1200" y="144"/>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5" name="Google Shape;275;p9"/>
            <p:cNvSpPr txBox="1"/>
            <p:nvPr/>
          </p:nvSpPr>
          <p:spPr>
            <a:xfrm>
              <a:off x="2208" y="1680"/>
              <a:ext cx="1344" cy="8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people involved in</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information products</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decision makers</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professional specialists</a:t>
              </a:r>
              <a:endParaRPr/>
            </a:p>
          </p:txBody>
        </p:sp>
        <p:sp>
          <p:nvSpPr>
            <p:cNvPr id="276" name="Google Shape;276;p9"/>
            <p:cNvSpPr txBox="1"/>
            <p:nvPr/>
          </p:nvSpPr>
          <p:spPr>
            <a:xfrm>
              <a:off x="432" y="672"/>
              <a:ext cx="2840"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1" i="1" lang="en-US" sz="1600" u="none">
                  <a:solidFill>
                    <a:schemeClr val="dk1"/>
                  </a:solidFill>
                  <a:latin typeface="Tahoma"/>
                  <a:ea typeface="Tahoma"/>
                  <a:cs typeface="Tahoma"/>
                  <a:sym typeface="Tahoma"/>
                </a:rPr>
                <a:t>‘the role of information products and</a:t>
              </a:r>
              <a:endParaRPr/>
            </a:p>
            <a:p>
              <a:pPr indent="0" lvl="0" marL="0" marR="0" rtl="0" algn="l">
                <a:lnSpc>
                  <a:spcPct val="100000"/>
                </a:lnSpc>
                <a:spcBef>
                  <a:spcPts val="0"/>
                </a:spcBef>
                <a:spcAft>
                  <a:spcPts val="0"/>
                </a:spcAft>
                <a:buClr>
                  <a:schemeClr val="dk1"/>
                </a:buClr>
                <a:buSzPts val="1600"/>
                <a:buFont typeface="Tahoma"/>
                <a:buNone/>
              </a:pPr>
              <a:r>
                <a:rPr b="1" i="1" lang="en-US" sz="1600" u="none">
                  <a:solidFill>
                    <a:schemeClr val="dk1"/>
                  </a:solidFill>
                  <a:latin typeface="Tahoma"/>
                  <a:ea typeface="Tahoma"/>
                  <a:cs typeface="Tahoma"/>
                  <a:sym typeface="Tahoma"/>
                </a:rPr>
                <a:t>information presentation in organizations’</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0"/>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286" name="Google Shape;286;p10"/>
          <p:cNvSpPr txBox="1"/>
          <p:nvPr>
            <p:ph type="title"/>
          </p:nvPr>
        </p:nvSpPr>
        <p:spPr>
          <a:xfrm>
            <a:off x="457200" y="274637"/>
            <a:ext cx="8229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Literature Survey</a:t>
            </a:r>
            <a:endParaRPr/>
          </a:p>
        </p:txBody>
      </p:sp>
      <p:sp>
        <p:nvSpPr>
          <p:cNvPr id="287" name="Google Shape;287;p10"/>
          <p:cNvSpPr txBox="1"/>
          <p:nvPr>
            <p:ph idx="1" type="body"/>
          </p:nvPr>
        </p:nvSpPr>
        <p:spPr>
          <a:xfrm>
            <a:off x="457200" y="1031875"/>
            <a:ext cx="8229600" cy="547528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Literature search </a:t>
            </a:r>
            <a:endParaRPr/>
          </a:p>
          <a:p>
            <a:pPr indent="-285750" lvl="1" marL="74295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a methodical search of published sources of information to identify items relevant to a particular need, for instance; </a:t>
            </a:r>
            <a:endParaRPr/>
          </a:p>
          <a:p>
            <a:pPr indent="-228600" lvl="2" marL="1143000" rtl="0" algn="l">
              <a:lnSpc>
                <a:spcPct val="90000"/>
              </a:lnSpc>
              <a:spcBef>
                <a:spcPts val="320"/>
              </a:spcBef>
              <a:spcAft>
                <a:spcPts val="0"/>
              </a:spcAft>
              <a:buClr>
                <a:schemeClr val="dk1"/>
              </a:buClr>
              <a:buSzPts val="1600"/>
              <a:buFont typeface="Arial"/>
              <a:buChar char="•"/>
            </a:pPr>
            <a:r>
              <a:rPr b="1" i="0" lang="en-US" sz="1600" u="none">
                <a:solidFill>
                  <a:schemeClr val="dk1"/>
                </a:solidFill>
                <a:latin typeface="Arial"/>
                <a:ea typeface="Arial"/>
                <a:cs typeface="Arial"/>
                <a:sym typeface="Arial"/>
              </a:rPr>
              <a:t>Topic selection, Find specific project information</a:t>
            </a:r>
            <a:endParaRPr/>
          </a:p>
          <a:p>
            <a:pPr indent="-228600" lvl="2" marL="1143000" rtl="0" algn="l">
              <a:lnSpc>
                <a:spcPct val="90000"/>
              </a:lnSpc>
              <a:spcBef>
                <a:spcPts val="320"/>
              </a:spcBef>
              <a:spcAft>
                <a:spcPts val="0"/>
              </a:spcAft>
              <a:buClr>
                <a:schemeClr val="dk1"/>
              </a:buClr>
              <a:buSzPts val="1600"/>
              <a:buFont typeface="Arial"/>
              <a:buChar char="•"/>
            </a:pPr>
            <a:r>
              <a:rPr b="1" i="0" lang="en-US" sz="1600" u="none">
                <a:solidFill>
                  <a:schemeClr val="dk1"/>
                </a:solidFill>
                <a:latin typeface="Arial"/>
                <a:ea typeface="Arial"/>
                <a:cs typeface="Arial"/>
                <a:sym typeface="Arial"/>
              </a:rPr>
              <a:t>Discover structure of information in a particular subject, etc.</a:t>
            </a:r>
            <a:endParaRPr/>
          </a:p>
          <a:p>
            <a:pPr indent="-285750" lvl="1" marL="74295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But remember to</a:t>
            </a:r>
            <a:endParaRPr/>
          </a:p>
          <a:p>
            <a:pPr indent="-228600" lvl="2" marL="1143000" rtl="0" algn="l">
              <a:lnSpc>
                <a:spcPct val="90000"/>
              </a:lnSpc>
              <a:spcBef>
                <a:spcPts val="360"/>
              </a:spcBef>
              <a:spcAft>
                <a:spcPts val="0"/>
              </a:spcAft>
              <a:buClr>
                <a:schemeClr val="dk1"/>
              </a:buClr>
              <a:buSzPts val="1800"/>
              <a:buFont typeface="Arial"/>
              <a:buChar char="•"/>
            </a:pPr>
            <a:r>
              <a:rPr b="1" i="0" lang="en-US" sz="1800" u="none">
                <a:solidFill>
                  <a:schemeClr val="dk1"/>
                </a:solidFill>
                <a:latin typeface="Arial"/>
                <a:ea typeface="Arial"/>
                <a:cs typeface="Arial"/>
                <a:sym typeface="Arial"/>
              </a:rPr>
              <a:t>Define your initial topic, scope, content and parameters for your own work first</a:t>
            </a:r>
            <a:endParaRPr/>
          </a:p>
          <a:p>
            <a:pPr indent="-228600" lvl="2" marL="1143000" rtl="0" algn="l">
              <a:lnSpc>
                <a:spcPct val="90000"/>
              </a:lnSpc>
              <a:spcBef>
                <a:spcPts val="360"/>
              </a:spcBef>
              <a:spcAft>
                <a:spcPts val="0"/>
              </a:spcAft>
              <a:buClr>
                <a:schemeClr val="dk1"/>
              </a:buClr>
              <a:buSzPts val="1800"/>
              <a:buFont typeface="Arial"/>
              <a:buChar char="•"/>
            </a:pPr>
            <a:r>
              <a:rPr b="1" i="0" lang="en-US" sz="1800" u="none">
                <a:solidFill>
                  <a:schemeClr val="dk1"/>
                </a:solidFill>
                <a:latin typeface="Arial"/>
                <a:ea typeface="Arial"/>
                <a:cs typeface="Arial"/>
                <a:sym typeface="Arial"/>
              </a:rPr>
              <a:t>Decide on what sort of relevant information to your project</a:t>
            </a:r>
            <a:endParaRPr/>
          </a:p>
          <a:p>
            <a:pPr indent="-228600" lvl="3" marL="1600200" rtl="0" algn="l">
              <a:lnSpc>
                <a:spcPct val="90000"/>
              </a:lnSpc>
              <a:spcBef>
                <a:spcPts val="320"/>
              </a:spcBef>
              <a:spcAft>
                <a:spcPts val="0"/>
              </a:spcAft>
              <a:buClr>
                <a:schemeClr val="dk1"/>
              </a:buClr>
              <a:buSzPts val="1600"/>
              <a:buFont typeface="Arial"/>
              <a:buChar char="–"/>
            </a:pPr>
            <a:r>
              <a:rPr b="1" i="0" lang="en-US" sz="1600" u="none">
                <a:solidFill>
                  <a:schemeClr val="dk1"/>
                </a:solidFill>
                <a:latin typeface="Arial"/>
                <a:ea typeface="Arial"/>
                <a:cs typeface="Arial"/>
                <a:sym typeface="Arial"/>
              </a:rPr>
              <a:t>range of sources - eg, reference works, books and articles, government publications, theses, conference proceedings, standards and statistics, directories, company and market reports…</a:t>
            </a:r>
            <a:endParaRPr/>
          </a:p>
          <a:p>
            <a:pPr indent="-285750" lvl="1" marL="742950" rtl="0" algn="l">
              <a:lnSpc>
                <a:spcPct val="9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Structure how you get it</a:t>
            </a:r>
            <a:endParaRPr/>
          </a:p>
          <a:p>
            <a:pPr indent="-228600" lvl="3" marL="1600200" rtl="0" algn="l">
              <a:lnSpc>
                <a:spcPct val="90000"/>
              </a:lnSpc>
              <a:spcBef>
                <a:spcPts val="320"/>
              </a:spcBef>
              <a:spcAft>
                <a:spcPts val="0"/>
              </a:spcAft>
              <a:buClr>
                <a:schemeClr val="dk1"/>
              </a:buClr>
              <a:buSzPts val="1600"/>
              <a:buFont typeface="Arial"/>
              <a:buChar char="–"/>
            </a:pPr>
            <a:r>
              <a:rPr b="1" i="0" lang="en-US" sz="1600" u="none">
                <a:solidFill>
                  <a:schemeClr val="dk1"/>
                </a:solidFill>
                <a:latin typeface="Arial"/>
                <a:ea typeface="Arial"/>
                <a:cs typeface="Arial"/>
                <a:sym typeface="Arial"/>
              </a:rPr>
              <a:t>decide on a search order, allow enough time, keep detailed records</a:t>
            </a:r>
            <a:endParaRPr/>
          </a:p>
          <a:p>
            <a:pPr indent="-228600" lvl="3" marL="1600200" rtl="0" algn="l">
              <a:lnSpc>
                <a:spcPct val="90000"/>
              </a:lnSpc>
              <a:spcBef>
                <a:spcPts val="320"/>
              </a:spcBef>
              <a:spcAft>
                <a:spcPts val="0"/>
              </a:spcAft>
              <a:buClr>
                <a:schemeClr val="dk1"/>
              </a:buClr>
              <a:buSzPts val="1600"/>
              <a:buFont typeface="Arial"/>
              <a:buChar char="–"/>
            </a:pPr>
            <a:r>
              <a:rPr b="1" i="0" lang="en-US" sz="1600" u="none">
                <a:solidFill>
                  <a:schemeClr val="dk1"/>
                </a:solidFill>
                <a:latin typeface="Arial"/>
                <a:ea typeface="Arial"/>
                <a:cs typeface="Arial"/>
                <a:sym typeface="Arial"/>
              </a:rPr>
              <a:t>identify keywords for searching, use computerized databases and Internet, but narrow your search first</a:t>
            </a:r>
            <a:endParaRPr/>
          </a:p>
          <a:p>
            <a:pPr indent="-228600" lvl="3" marL="1600200" rtl="0" algn="l">
              <a:lnSpc>
                <a:spcPct val="90000"/>
              </a:lnSpc>
              <a:spcBef>
                <a:spcPts val="360"/>
              </a:spcBef>
              <a:spcAft>
                <a:spcPts val="0"/>
              </a:spcAft>
              <a:buClr>
                <a:schemeClr val="dk1"/>
              </a:buClr>
              <a:buSzPts val="1800"/>
              <a:buFont typeface="Arial"/>
              <a:buChar char="–"/>
            </a:pPr>
            <a:r>
              <a:rPr b="1" i="0" lang="en-US" sz="1800" u="none">
                <a:solidFill>
                  <a:schemeClr val="dk1"/>
                </a:solidFill>
                <a:latin typeface="Arial"/>
                <a:ea typeface="Arial"/>
                <a:cs typeface="Arial"/>
                <a:sym typeface="Arial"/>
              </a:rPr>
              <a:t>Keep notes of references </a:t>
            </a:r>
            <a:r>
              <a:rPr b="1" i="0" lang="en-US" sz="1600" u="none">
                <a:solidFill>
                  <a:schemeClr val="dk1"/>
                </a:solidFill>
                <a:latin typeface="Arial"/>
                <a:ea typeface="Arial"/>
                <a:cs typeface="Arial"/>
                <a:sym typeface="Arial"/>
              </a:rPr>
              <a:t>on index cards or computer</a:t>
            </a:r>
            <a:endParaRPr/>
          </a:p>
        </p:txBody>
      </p:sp>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500"/>
                                        <p:tgtEl>
                                          <p:spTgt spid="287">
                                            <p:txEl>
                                              <p:pRg end="0" st="0"/>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500"/>
                                        <p:tgtEl>
                                          <p:spTgt spid="287">
                                            <p:txEl>
                                              <p:pRg end="1" st="1"/>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500"/>
                                        <p:tgtEl>
                                          <p:spTgt spid="287">
                                            <p:txEl>
                                              <p:pRg end="2" st="2"/>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500"/>
                                        <p:tgtEl>
                                          <p:spTgt spid="287">
                                            <p:txEl>
                                              <p:pRg end="3" st="3"/>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500"/>
                                        <p:tgtEl>
                                          <p:spTgt spid="287">
                                            <p:txEl>
                                              <p:pRg end="4" st="4"/>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500"/>
                                        <p:tgtEl>
                                          <p:spTgt spid="287">
                                            <p:txEl>
                                              <p:pRg end="5" st="5"/>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6" st="6"/>
                                            </p:txEl>
                                          </p:spTgt>
                                        </p:tgtEl>
                                        <p:attrNameLst>
                                          <p:attrName>style.visibility</p:attrName>
                                        </p:attrNameLst>
                                      </p:cBhvr>
                                      <p:to>
                                        <p:strVal val="visible"/>
                                      </p:to>
                                    </p:set>
                                    <p:animEffect filter="fade" transition="in">
                                      <p:cBhvr>
                                        <p:cTn dur="500"/>
                                        <p:tgtEl>
                                          <p:spTgt spid="287">
                                            <p:txEl>
                                              <p:pRg end="6" st="6"/>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7" st="7"/>
                                            </p:txEl>
                                          </p:spTgt>
                                        </p:tgtEl>
                                        <p:attrNameLst>
                                          <p:attrName>style.visibility</p:attrName>
                                        </p:attrNameLst>
                                      </p:cBhvr>
                                      <p:to>
                                        <p:strVal val="visible"/>
                                      </p:to>
                                    </p:set>
                                    <p:animEffect filter="fade" transition="in">
                                      <p:cBhvr>
                                        <p:cTn dur="500"/>
                                        <p:tgtEl>
                                          <p:spTgt spid="287">
                                            <p:txEl>
                                              <p:pRg end="7" st="7"/>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8" st="8"/>
                                            </p:txEl>
                                          </p:spTgt>
                                        </p:tgtEl>
                                        <p:attrNameLst>
                                          <p:attrName>style.visibility</p:attrName>
                                        </p:attrNameLst>
                                      </p:cBhvr>
                                      <p:to>
                                        <p:strVal val="visible"/>
                                      </p:to>
                                    </p:set>
                                    <p:animEffect filter="fade" transition="in">
                                      <p:cBhvr>
                                        <p:cTn dur="500"/>
                                        <p:tgtEl>
                                          <p:spTgt spid="287">
                                            <p:txEl>
                                              <p:pRg end="8" st="8"/>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9" st="9"/>
                                            </p:txEl>
                                          </p:spTgt>
                                        </p:tgtEl>
                                        <p:attrNameLst>
                                          <p:attrName>style.visibility</p:attrName>
                                        </p:attrNameLst>
                                      </p:cBhvr>
                                      <p:to>
                                        <p:strVal val="visible"/>
                                      </p:to>
                                    </p:set>
                                    <p:animEffect filter="fade" transition="in">
                                      <p:cBhvr>
                                        <p:cTn dur="500"/>
                                        <p:tgtEl>
                                          <p:spTgt spid="287">
                                            <p:txEl>
                                              <p:pRg end="9" st="9"/>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10" st="10"/>
                                            </p:txEl>
                                          </p:spTgt>
                                        </p:tgtEl>
                                        <p:attrNameLst>
                                          <p:attrName>style.visibility</p:attrName>
                                        </p:attrNameLst>
                                      </p:cBhvr>
                                      <p:to>
                                        <p:strVal val="visible"/>
                                      </p:to>
                                    </p:set>
                                    <p:animEffect filter="fade" transition="in">
                                      <p:cBhvr>
                                        <p:cTn dur="500"/>
                                        <p:tgtEl>
                                          <p:spTgt spid="287">
                                            <p:txEl>
                                              <p:pRg end="10" st="10"/>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287">
                                            <p:txEl>
                                              <p:pRg end="11" st="11"/>
                                            </p:txEl>
                                          </p:spTgt>
                                        </p:tgtEl>
                                        <p:attrNameLst>
                                          <p:attrName>style.visibility</p:attrName>
                                        </p:attrNameLst>
                                      </p:cBhvr>
                                      <p:to>
                                        <p:strVal val="visible"/>
                                      </p:to>
                                    </p:set>
                                    <p:animEffect filter="fade" transition="in">
                                      <p:cBhvr>
                                        <p:cTn dur="500"/>
                                        <p:tgtEl>
                                          <p:spTgt spid="287">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1"/>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297" name="Google Shape;297;p11"/>
          <p:cNvSpPr txBox="1"/>
          <p:nvPr>
            <p:ph type="title"/>
          </p:nvPr>
        </p:nvSpPr>
        <p:spPr>
          <a:xfrm>
            <a:off x="1074737" y="381000"/>
            <a:ext cx="6997700" cy="3508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Searching Cycle</a:t>
            </a:r>
            <a:endParaRPr/>
          </a:p>
        </p:txBody>
      </p:sp>
      <p:grpSp>
        <p:nvGrpSpPr>
          <p:cNvPr id="298" name="Google Shape;298;p11"/>
          <p:cNvGrpSpPr/>
          <p:nvPr/>
        </p:nvGrpSpPr>
        <p:grpSpPr>
          <a:xfrm>
            <a:off x="114300" y="1219200"/>
            <a:ext cx="9061450" cy="5273675"/>
            <a:chOff x="72" y="768"/>
            <a:chExt cx="5708" cy="3322"/>
          </a:xfrm>
        </p:grpSpPr>
        <p:sp>
          <p:nvSpPr>
            <p:cNvPr id="299" name="Google Shape;299;p11"/>
            <p:cNvSpPr txBox="1"/>
            <p:nvPr/>
          </p:nvSpPr>
          <p:spPr>
            <a:xfrm>
              <a:off x="1608" y="768"/>
              <a:ext cx="226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Document/Start</a:t>
              </a:r>
              <a:endParaRPr/>
            </a:p>
          </p:txBody>
        </p:sp>
        <p:sp>
          <p:nvSpPr>
            <p:cNvPr id="300" name="Google Shape;300;p11"/>
            <p:cNvSpPr txBox="1"/>
            <p:nvPr/>
          </p:nvSpPr>
          <p:spPr>
            <a:xfrm>
              <a:off x="3408" y="1295"/>
              <a:ext cx="23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Search statement</a:t>
              </a:r>
              <a:endParaRPr/>
            </a:p>
          </p:txBody>
        </p:sp>
        <p:sp>
          <p:nvSpPr>
            <p:cNvPr id="301" name="Google Shape;301;p11"/>
            <p:cNvSpPr txBox="1"/>
            <p:nvPr/>
          </p:nvSpPr>
          <p:spPr>
            <a:xfrm>
              <a:off x="3790" y="1871"/>
              <a:ext cx="1636" cy="7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Information </a:t>
              </a:r>
              <a:endParaRPr/>
            </a:p>
            <a:p>
              <a:pPr indent="0" lvl="0" marL="0" marR="0" rtl="0" algn="ctr">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Sources</a:t>
              </a:r>
              <a:endParaRPr/>
            </a:p>
          </p:txBody>
        </p:sp>
        <p:sp>
          <p:nvSpPr>
            <p:cNvPr id="302" name="Google Shape;302;p11"/>
            <p:cNvSpPr txBox="1"/>
            <p:nvPr/>
          </p:nvSpPr>
          <p:spPr>
            <a:xfrm>
              <a:off x="3504" y="2927"/>
              <a:ext cx="218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Search Strategy</a:t>
              </a:r>
              <a:endParaRPr/>
            </a:p>
          </p:txBody>
        </p:sp>
        <p:sp>
          <p:nvSpPr>
            <p:cNvPr id="303" name="Google Shape;303;p11"/>
            <p:cNvSpPr txBox="1"/>
            <p:nvPr/>
          </p:nvSpPr>
          <p:spPr>
            <a:xfrm>
              <a:off x="1764" y="3686"/>
              <a:ext cx="133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SEARCH</a:t>
              </a:r>
              <a:endParaRPr/>
            </a:p>
          </p:txBody>
        </p:sp>
        <p:sp>
          <p:nvSpPr>
            <p:cNvPr id="304" name="Google Shape;304;p11"/>
            <p:cNvSpPr txBox="1"/>
            <p:nvPr/>
          </p:nvSpPr>
          <p:spPr>
            <a:xfrm>
              <a:off x="72" y="2217"/>
              <a:ext cx="1236"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Evaluate</a:t>
              </a:r>
              <a:endParaRPr/>
            </a:p>
          </p:txBody>
        </p:sp>
        <p:grpSp>
          <p:nvGrpSpPr>
            <p:cNvPr id="305" name="Google Shape;305;p11"/>
            <p:cNvGrpSpPr/>
            <p:nvPr/>
          </p:nvGrpSpPr>
          <p:grpSpPr>
            <a:xfrm>
              <a:off x="3868" y="1008"/>
              <a:ext cx="740" cy="384"/>
              <a:chOff x="4224" y="1008"/>
              <a:chExt cx="288" cy="384"/>
            </a:xfrm>
          </p:grpSpPr>
          <p:cxnSp>
            <p:nvCxnSpPr>
              <p:cNvPr id="306" name="Google Shape;306;p11"/>
              <p:cNvCxnSpPr/>
              <p:nvPr/>
            </p:nvCxnSpPr>
            <p:spPr>
              <a:xfrm>
                <a:off x="4224" y="1008"/>
                <a:ext cx="288" cy="0"/>
              </a:xfrm>
              <a:prstGeom prst="straightConnector1">
                <a:avLst/>
              </a:prstGeom>
              <a:noFill/>
              <a:ln cap="flat" cmpd="sng" w="57150">
                <a:solidFill>
                  <a:schemeClr val="dk1"/>
                </a:solidFill>
                <a:prstDash val="solid"/>
                <a:miter lim="800000"/>
                <a:headEnd len="med" w="med" type="none"/>
                <a:tailEnd len="med" w="med" type="none"/>
              </a:ln>
            </p:spPr>
          </p:cxnSp>
          <p:cxnSp>
            <p:nvCxnSpPr>
              <p:cNvPr id="307" name="Google Shape;307;p11"/>
              <p:cNvCxnSpPr/>
              <p:nvPr/>
            </p:nvCxnSpPr>
            <p:spPr>
              <a:xfrm>
                <a:off x="4512" y="1008"/>
                <a:ext cx="0" cy="384"/>
              </a:xfrm>
              <a:prstGeom prst="straightConnector1">
                <a:avLst/>
              </a:prstGeom>
              <a:noFill/>
              <a:ln cap="flat" cmpd="sng" w="57150">
                <a:solidFill>
                  <a:schemeClr val="dk1"/>
                </a:solidFill>
                <a:prstDash val="solid"/>
                <a:miter lim="800000"/>
                <a:headEnd len="med" w="med" type="none"/>
                <a:tailEnd len="med" w="med" type="triangle"/>
              </a:ln>
            </p:spPr>
          </p:cxnSp>
        </p:grpSp>
        <p:cxnSp>
          <p:nvCxnSpPr>
            <p:cNvPr id="308" name="Google Shape;308;p11"/>
            <p:cNvCxnSpPr/>
            <p:nvPr/>
          </p:nvCxnSpPr>
          <p:spPr>
            <a:xfrm>
              <a:off x="4608" y="1632"/>
              <a:ext cx="0" cy="384"/>
            </a:xfrm>
            <a:prstGeom prst="straightConnector1">
              <a:avLst/>
            </a:prstGeom>
            <a:noFill/>
            <a:ln cap="flat" cmpd="sng" w="57150">
              <a:solidFill>
                <a:schemeClr val="dk1"/>
              </a:solidFill>
              <a:prstDash val="solid"/>
              <a:miter lim="800000"/>
              <a:headEnd len="med" w="med" type="none"/>
              <a:tailEnd len="med" w="med" type="triangle"/>
            </a:ln>
          </p:spPr>
        </p:cxnSp>
        <p:cxnSp>
          <p:nvCxnSpPr>
            <p:cNvPr id="309" name="Google Shape;309;p11"/>
            <p:cNvCxnSpPr/>
            <p:nvPr/>
          </p:nvCxnSpPr>
          <p:spPr>
            <a:xfrm>
              <a:off x="4608" y="2592"/>
              <a:ext cx="0" cy="384"/>
            </a:xfrm>
            <a:prstGeom prst="straightConnector1">
              <a:avLst/>
            </a:prstGeom>
            <a:noFill/>
            <a:ln cap="flat" cmpd="sng" w="57150">
              <a:solidFill>
                <a:schemeClr val="dk1"/>
              </a:solidFill>
              <a:prstDash val="solid"/>
              <a:miter lim="800000"/>
              <a:headEnd len="med" w="med" type="none"/>
              <a:tailEnd len="med" w="med" type="triangle"/>
            </a:ln>
          </p:spPr>
        </p:cxnSp>
        <p:grpSp>
          <p:nvGrpSpPr>
            <p:cNvPr id="310" name="Google Shape;310;p11"/>
            <p:cNvGrpSpPr/>
            <p:nvPr/>
          </p:nvGrpSpPr>
          <p:grpSpPr>
            <a:xfrm>
              <a:off x="3168" y="3312"/>
              <a:ext cx="1440" cy="576"/>
              <a:chOff x="2880" y="3312"/>
              <a:chExt cx="1632" cy="288"/>
            </a:xfrm>
          </p:grpSpPr>
          <p:cxnSp>
            <p:nvCxnSpPr>
              <p:cNvPr id="311" name="Google Shape;311;p11"/>
              <p:cNvCxnSpPr/>
              <p:nvPr/>
            </p:nvCxnSpPr>
            <p:spPr>
              <a:xfrm>
                <a:off x="4512" y="3312"/>
                <a:ext cx="0" cy="288"/>
              </a:xfrm>
              <a:prstGeom prst="straightConnector1">
                <a:avLst/>
              </a:prstGeom>
              <a:noFill/>
              <a:ln cap="flat" cmpd="sng" w="57150">
                <a:solidFill>
                  <a:schemeClr val="dk1"/>
                </a:solidFill>
                <a:prstDash val="solid"/>
                <a:miter lim="800000"/>
                <a:headEnd len="med" w="med" type="none"/>
                <a:tailEnd len="med" w="med" type="none"/>
              </a:ln>
            </p:spPr>
          </p:cxnSp>
          <p:cxnSp>
            <p:nvCxnSpPr>
              <p:cNvPr id="312" name="Google Shape;312;p11"/>
              <p:cNvCxnSpPr/>
              <p:nvPr/>
            </p:nvCxnSpPr>
            <p:spPr>
              <a:xfrm rot="10800000">
                <a:off x="2880" y="3600"/>
                <a:ext cx="1632" cy="0"/>
              </a:xfrm>
              <a:prstGeom prst="straightConnector1">
                <a:avLst/>
              </a:prstGeom>
              <a:noFill/>
              <a:ln cap="flat" cmpd="sng" w="57150">
                <a:solidFill>
                  <a:schemeClr val="dk1"/>
                </a:solidFill>
                <a:prstDash val="solid"/>
                <a:miter lim="800000"/>
                <a:headEnd len="med" w="med" type="none"/>
                <a:tailEnd len="med" w="med" type="triangle"/>
              </a:ln>
            </p:spPr>
          </p:cxnSp>
        </p:grpSp>
        <p:grpSp>
          <p:nvGrpSpPr>
            <p:cNvPr id="313" name="Google Shape;313;p11"/>
            <p:cNvGrpSpPr/>
            <p:nvPr/>
          </p:nvGrpSpPr>
          <p:grpSpPr>
            <a:xfrm>
              <a:off x="684" y="2621"/>
              <a:ext cx="624" cy="1267"/>
              <a:chOff x="1008" y="2928"/>
              <a:chExt cx="432" cy="672"/>
            </a:xfrm>
          </p:grpSpPr>
          <p:cxnSp>
            <p:nvCxnSpPr>
              <p:cNvPr id="314" name="Google Shape;314;p11"/>
              <p:cNvCxnSpPr/>
              <p:nvPr/>
            </p:nvCxnSpPr>
            <p:spPr>
              <a:xfrm rot="10800000">
                <a:off x="1008" y="3600"/>
                <a:ext cx="432" cy="0"/>
              </a:xfrm>
              <a:prstGeom prst="straightConnector1">
                <a:avLst/>
              </a:prstGeom>
              <a:noFill/>
              <a:ln cap="flat" cmpd="sng" w="57150">
                <a:solidFill>
                  <a:schemeClr val="dk1"/>
                </a:solidFill>
                <a:prstDash val="solid"/>
                <a:miter lim="800000"/>
                <a:headEnd len="med" w="med" type="none"/>
                <a:tailEnd len="med" w="med" type="none"/>
              </a:ln>
            </p:spPr>
          </p:cxnSp>
          <p:cxnSp>
            <p:nvCxnSpPr>
              <p:cNvPr id="315" name="Google Shape;315;p11"/>
              <p:cNvCxnSpPr/>
              <p:nvPr/>
            </p:nvCxnSpPr>
            <p:spPr>
              <a:xfrm rot="10800000">
                <a:off x="1008" y="2928"/>
                <a:ext cx="0" cy="672"/>
              </a:xfrm>
              <a:prstGeom prst="straightConnector1">
                <a:avLst/>
              </a:prstGeom>
              <a:noFill/>
              <a:ln cap="flat" cmpd="sng" w="57150">
                <a:solidFill>
                  <a:schemeClr val="dk1"/>
                </a:solidFill>
                <a:prstDash val="solid"/>
                <a:miter lim="800000"/>
                <a:headEnd len="med" w="med" type="none"/>
                <a:tailEnd len="med" w="med" type="triangle"/>
              </a:ln>
            </p:spPr>
          </p:cxnSp>
        </p:grpSp>
        <p:cxnSp>
          <p:nvCxnSpPr>
            <p:cNvPr id="316" name="Google Shape;316;p11"/>
            <p:cNvCxnSpPr/>
            <p:nvPr/>
          </p:nvCxnSpPr>
          <p:spPr>
            <a:xfrm>
              <a:off x="1344" y="2419"/>
              <a:ext cx="1788" cy="0"/>
            </a:xfrm>
            <a:prstGeom prst="straightConnector1">
              <a:avLst/>
            </a:prstGeom>
            <a:noFill/>
            <a:ln cap="flat" cmpd="sng" w="57150">
              <a:solidFill>
                <a:schemeClr val="dk1"/>
              </a:solidFill>
              <a:prstDash val="solid"/>
              <a:miter lim="800000"/>
              <a:headEnd len="med" w="med" type="none"/>
              <a:tailEnd len="med" w="med" type="triangle"/>
            </a:ln>
          </p:spPr>
        </p:cxnSp>
        <p:grpSp>
          <p:nvGrpSpPr>
            <p:cNvPr id="317" name="Google Shape;317;p11"/>
            <p:cNvGrpSpPr/>
            <p:nvPr/>
          </p:nvGrpSpPr>
          <p:grpSpPr>
            <a:xfrm>
              <a:off x="684" y="1008"/>
              <a:ext cx="924" cy="489"/>
              <a:chOff x="1008" y="1008"/>
              <a:chExt cx="432" cy="624"/>
            </a:xfrm>
          </p:grpSpPr>
          <p:cxnSp>
            <p:nvCxnSpPr>
              <p:cNvPr id="318" name="Google Shape;318;p11"/>
              <p:cNvCxnSpPr/>
              <p:nvPr/>
            </p:nvCxnSpPr>
            <p:spPr>
              <a:xfrm rot="10800000">
                <a:off x="1008" y="1008"/>
                <a:ext cx="0" cy="624"/>
              </a:xfrm>
              <a:prstGeom prst="straightConnector1">
                <a:avLst/>
              </a:prstGeom>
              <a:noFill/>
              <a:ln cap="flat" cmpd="sng" w="57150">
                <a:solidFill>
                  <a:schemeClr val="dk1"/>
                </a:solidFill>
                <a:prstDash val="solid"/>
                <a:miter lim="800000"/>
                <a:headEnd len="med" w="med" type="none"/>
                <a:tailEnd len="med" w="med" type="none"/>
              </a:ln>
            </p:spPr>
          </p:cxnSp>
          <p:cxnSp>
            <p:nvCxnSpPr>
              <p:cNvPr id="319" name="Google Shape;319;p11"/>
              <p:cNvCxnSpPr/>
              <p:nvPr/>
            </p:nvCxnSpPr>
            <p:spPr>
              <a:xfrm>
                <a:off x="1008" y="1008"/>
                <a:ext cx="432" cy="0"/>
              </a:xfrm>
              <a:prstGeom prst="straightConnector1">
                <a:avLst/>
              </a:prstGeom>
              <a:noFill/>
              <a:ln cap="flat" cmpd="sng" w="57150">
                <a:solidFill>
                  <a:schemeClr val="dk1"/>
                </a:solidFill>
                <a:prstDash val="solid"/>
                <a:miter lim="800000"/>
                <a:headEnd len="med" w="med" type="none"/>
                <a:tailEnd len="med" w="med" type="triangle"/>
              </a:ln>
            </p:spPr>
          </p:cxnSp>
        </p:grpSp>
        <p:sp>
          <p:nvSpPr>
            <p:cNvPr id="320" name="Google Shape;320;p11"/>
            <p:cNvSpPr/>
            <p:nvPr/>
          </p:nvSpPr>
          <p:spPr>
            <a:xfrm>
              <a:off x="3204" y="1295"/>
              <a:ext cx="300" cy="2089"/>
            </a:xfrm>
            <a:prstGeom prst="leftBrace">
              <a:avLst>
                <a:gd fmla="val 8333"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1" name="Google Shape;321;p11"/>
            <p:cNvSpPr txBox="1"/>
            <p:nvPr/>
          </p:nvSpPr>
          <p:spPr>
            <a:xfrm>
              <a:off x="1608" y="1871"/>
              <a:ext cx="9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Modify</a:t>
              </a:r>
              <a:endParaRPr/>
            </a:p>
          </p:txBody>
        </p:sp>
        <p:sp>
          <p:nvSpPr>
            <p:cNvPr id="322" name="Google Shape;322;p11"/>
            <p:cNvSpPr txBox="1"/>
            <p:nvPr/>
          </p:nvSpPr>
          <p:spPr>
            <a:xfrm>
              <a:off x="108" y="1497"/>
              <a:ext cx="1572" cy="4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Read/Store</a:t>
              </a:r>
              <a:endParaRPr/>
            </a:p>
          </p:txBody>
        </p:sp>
        <p:cxnSp>
          <p:nvCxnSpPr>
            <p:cNvPr id="323" name="Google Shape;323;p11"/>
            <p:cNvCxnSpPr/>
            <p:nvPr/>
          </p:nvCxnSpPr>
          <p:spPr>
            <a:xfrm>
              <a:off x="684" y="1901"/>
              <a:ext cx="0" cy="384"/>
            </a:xfrm>
            <a:prstGeom prst="straightConnector1">
              <a:avLst/>
            </a:prstGeom>
            <a:noFill/>
            <a:ln cap="flat" cmpd="sng" w="57150">
              <a:solidFill>
                <a:schemeClr val="dk1"/>
              </a:solidFill>
              <a:prstDash val="solid"/>
              <a:miter lim="800000"/>
              <a:headEnd len="med" w="med" type="triangle"/>
              <a:tailEnd len="med" w="med" type="none"/>
            </a:ln>
          </p:spPr>
        </p:cxnSp>
      </p:gr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2"/>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333" name="Google Shape;333;p12"/>
          <p:cNvSpPr txBox="1"/>
          <p:nvPr>
            <p:ph idx="4294967295" type="body"/>
          </p:nvPr>
        </p:nvSpPr>
        <p:spPr>
          <a:xfrm>
            <a:off x="247650" y="1292225"/>
            <a:ext cx="8439150" cy="5372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Journal / Conference papers</a:t>
            </a:r>
            <a:endParaRPr/>
          </a:p>
          <a:p>
            <a:pPr indent="-285750" lvl="1" marL="742950" marR="0" rtl="0" algn="l">
              <a:lnSpc>
                <a:spcPct val="120000"/>
              </a:lnSpc>
              <a:spcBef>
                <a:spcPts val="12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Index of Conference Proceedings</a:t>
            </a:r>
            <a:r>
              <a:rPr b="0" i="0" lang="en-US" sz="2400" u="none" cap="none" strike="noStrike">
                <a:solidFill>
                  <a:schemeClr val="dk1"/>
                </a:solidFill>
                <a:latin typeface="Arial"/>
                <a:ea typeface="Arial"/>
                <a:cs typeface="Arial"/>
                <a:sym typeface="Arial"/>
              </a:rPr>
              <a:t>  </a:t>
            </a:r>
            <a:endParaRPr/>
          </a:p>
          <a:p>
            <a:pPr indent="-228600" lvl="2" marL="1143000" marR="0" rtl="0" algn="l">
              <a:lnSpc>
                <a:spcPct val="130000"/>
              </a:lnSpc>
              <a:spcBef>
                <a:spcPts val="9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(via Web of Science)</a:t>
            </a:r>
            <a:endParaRPr/>
          </a:p>
          <a:p>
            <a:pPr indent="-285750" lvl="1" marL="742950" marR="0" rtl="0" algn="l">
              <a:lnSpc>
                <a:spcPct val="140000"/>
              </a:lnSpc>
              <a:spcBef>
                <a:spcPts val="1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ACM Digital Library </a:t>
            </a:r>
            <a:endParaRPr/>
          </a:p>
          <a:p>
            <a:pPr indent="-285750" lvl="1" marL="742950" marR="0" rtl="0" algn="l">
              <a:lnSpc>
                <a:spcPct val="140000"/>
              </a:lnSpc>
              <a:spcBef>
                <a:spcPts val="12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https://scholar.google.com/ </a:t>
            </a:r>
            <a:endParaRPr/>
          </a:p>
        </p:txBody>
      </p:sp>
      <p:sp>
        <p:nvSpPr>
          <p:cNvPr id="334" name="Google Shape;334;p12"/>
          <p:cNvSpPr txBox="1"/>
          <p:nvPr>
            <p:ph idx="4294967295" type="title"/>
          </p:nvPr>
        </p:nvSpPr>
        <p:spPr>
          <a:xfrm>
            <a:off x="457200" y="274637"/>
            <a:ext cx="8229600" cy="393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0" i="0" lang="en-US" sz="2800" u="none" cap="none" strike="noStrike">
                <a:solidFill>
                  <a:schemeClr val="lt1"/>
                </a:solidFill>
                <a:latin typeface="Arial"/>
                <a:ea typeface="Arial"/>
                <a:cs typeface="Arial"/>
                <a:sym typeface="Arial"/>
              </a:rPr>
              <a:t>Information sources #1</a:t>
            </a:r>
            <a:endParaRPr/>
          </a:p>
        </p:txBody>
      </p:sp>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animEffect filter="fade" transition="in">
                                      <p:cBhvr>
                                        <p:cTn dur="500"/>
                                        <p:tgtEl>
                                          <p:spTgt spid="33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animEffect filter="fade" transition="in">
                                      <p:cBhvr>
                                        <p:cTn dur="500"/>
                                        <p:tgtEl>
                                          <p:spTgt spid="33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animEffect filter="fade" transition="in">
                                      <p:cBhvr>
                                        <p:cTn dur="500"/>
                                        <p:tgtEl>
                                          <p:spTgt spid="33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33">
                                            <p:txEl>
                                              <p:pRg end="3" st="3"/>
                                            </p:txEl>
                                          </p:spTgt>
                                        </p:tgtEl>
                                        <p:attrNameLst>
                                          <p:attrName>style.visibility</p:attrName>
                                        </p:attrNameLst>
                                      </p:cBhvr>
                                      <p:to>
                                        <p:strVal val="visible"/>
                                      </p:to>
                                    </p:set>
                                    <p:animEffect filter="fade" transition="in">
                                      <p:cBhvr>
                                        <p:cTn dur="500"/>
                                        <p:tgtEl>
                                          <p:spTgt spid="33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33">
                                            <p:txEl>
                                              <p:pRg end="4" st="4"/>
                                            </p:txEl>
                                          </p:spTgt>
                                        </p:tgtEl>
                                        <p:attrNameLst>
                                          <p:attrName>style.visibility</p:attrName>
                                        </p:attrNameLst>
                                      </p:cBhvr>
                                      <p:to>
                                        <p:strVal val="visible"/>
                                      </p:to>
                                    </p:set>
                                    <p:animEffect filter="fade" transition="in">
                                      <p:cBhvr>
                                        <p:cTn dur="500"/>
                                        <p:tgtEl>
                                          <p:spTgt spid="33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3"/>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344" name="Google Shape;344;p13"/>
          <p:cNvSpPr txBox="1"/>
          <p:nvPr>
            <p:ph idx="4294967295" type="body"/>
          </p:nvPr>
        </p:nvSpPr>
        <p:spPr>
          <a:xfrm>
            <a:off x="247650" y="1295400"/>
            <a:ext cx="8439150" cy="4781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Cambridge Scientific Abstracts</a:t>
            </a:r>
            <a:endParaRPr b="0" i="0" sz="2400" u="none" cap="none" strike="noStrike">
              <a:solidFill>
                <a:schemeClr val="dk1"/>
              </a:solidFill>
              <a:latin typeface="Arial"/>
              <a:ea typeface="Arial"/>
              <a:cs typeface="Arial"/>
              <a:sym typeface="Arial"/>
            </a:endParaRPr>
          </a:p>
          <a:p>
            <a:pPr indent="-285750" lvl="1" marL="742950" marR="0" rtl="0" algn="l">
              <a:lnSpc>
                <a:spcPct val="12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 Umbrella service for 30+ databases</a:t>
            </a:r>
            <a:endParaRPr/>
          </a:p>
          <a:p>
            <a:pPr indent="-285750" lvl="1" marL="742950" marR="0" rtl="0" algn="l">
              <a:lnSpc>
                <a:spcPct val="12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 Subject coverage includes computing, engineering and science</a:t>
            </a:r>
            <a:endParaRPr/>
          </a:p>
          <a:p>
            <a:pPr indent="-285750" lvl="1" marL="742950" marR="0" rtl="0" algn="l">
              <a:lnSpc>
                <a:spcPct val="12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http://www.csa1.co.uk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ANTE</a:t>
            </a:r>
            <a:r>
              <a:rPr b="0" i="0" lang="en-US" sz="24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 Abstracts in New Technologies and Engineering</a:t>
            </a:r>
            <a:endParaRPr b="0" i="0" sz="2400" u="none" cap="none" strike="noStrike">
              <a:solidFill>
                <a:schemeClr val="dk1"/>
              </a:solidFill>
              <a:latin typeface="Arial"/>
              <a:ea typeface="Arial"/>
              <a:cs typeface="Arial"/>
              <a:sym typeface="Arial"/>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Computing, electronics, engineering including; biotechnology and medical technology.</a:t>
            </a:r>
            <a:endParaRPr b="0" i="0" sz="1600" u="none" cap="none" strike="noStrike">
              <a:solidFill>
                <a:schemeClr val="dk1"/>
              </a:solidFill>
              <a:latin typeface="Arial"/>
              <a:ea typeface="Arial"/>
              <a:cs typeface="Arial"/>
              <a:sym typeface="Arial"/>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http://www.csa1.co.uk</a:t>
            </a:r>
            <a:endParaRPr b="0" i="0" sz="3600" u="none" cap="none" strike="noStrike">
              <a:solidFill>
                <a:schemeClr val="dk1"/>
              </a:solidFill>
              <a:latin typeface="Arial"/>
              <a:ea typeface="Arial"/>
              <a:cs typeface="Arial"/>
              <a:sym typeface="Arial"/>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Emerald Abstracts </a:t>
            </a:r>
            <a:r>
              <a:rPr b="0" i="0" lang="en-US" sz="1400" u="none" cap="none" strike="noStrike">
                <a:solidFill>
                  <a:schemeClr val="dk1"/>
                </a:solidFill>
                <a:latin typeface="Arial"/>
                <a:ea typeface="Arial"/>
                <a:cs typeface="Arial"/>
                <a:sym typeface="Arial"/>
              </a:rPr>
              <a:t>- Computer Abstracts International Database</a:t>
            </a:r>
            <a:r>
              <a:rPr b="0" i="0" lang="en-US" sz="2000" u="none" cap="none" strike="noStrike">
                <a:solidFill>
                  <a:schemeClr val="dk1"/>
                </a:solidFill>
                <a:latin typeface="Arial"/>
                <a:ea typeface="Arial"/>
                <a:cs typeface="Arial"/>
                <a:sym typeface="Arial"/>
              </a:rPr>
              <a:t> </a:t>
            </a:r>
            <a:endParaRPr/>
          </a:p>
          <a:p>
            <a:pPr indent="-285750" lvl="1" marL="742950" marR="0" rtl="0" algn="l">
              <a:lnSpc>
                <a:spcPct val="13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All aspects of computing</a:t>
            </a:r>
            <a:endParaRPr/>
          </a:p>
          <a:p>
            <a:pPr indent="-285750" lvl="1" marL="742950" marR="0" rtl="0" algn="l">
              <a:lnSpc>
                <a:spcPct val="100000"/>
              </a:lnSpc>
              <a:spcBef>
                <a:spcPts val="5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http://www.emerald-library.com</a:t>
            </a:r>
            <a:endParaRPr/>
          </a:p>
        </p:txBody>
      </p:sp>
      <p:sp>
        <p:nvSpPr>
          <p:cNvPr id="345" name="Google Shape;345;p13"/>
          <p:cNvSpPr txBox="1"/>
          <p:nvPr>
            <p:ph idx="4294967295" type="title"/>
          </p:nvPr>
        </p:nvSpPr>
        <p:spPr>
          <a:xfrm>
            <a:off x="457200" y="274637"/>
            <a:ext cx="8229600" cy="4841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0" i="0" lang="en-US" sz="2800" u="none" cap="none" strike="noStrike">
                <a:solidFill>
                  <a:schemeClr val="lt1"/>
                </a:solidFill>
                <a:latin typeface="Arial"/>
                <a:ea typeface="Arial"/>
                <a:cs typeface="Arial"/>
                <a:sym typeface="Arial"/>
              </a:rPr>
              <a:t>[Information sources #2]</a:t>
            </a:r>
            <a:endParaRPr/>
          </a:p>
        </p:txBody>
      </p:sp>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4">
                                            <p:txEl>
                                              <p:pRg end="0" st="0"/>
                                            </p:txEl>
                                          </p:spTgt>
                                        </p:tgtEl>
                                        <p:attrNameLst>
                                          <p:attrName>style.visibility</p:attrName>
                                        </p:attrNameLst>
                                      </p:cBhvr>
                                      <p:to>
                                        <p:strVal val="visible"/>
                                      </p:to>
                                    </p:set>
                                    <p:animEffect filter="fade" transition="in">
                                      <p:cBhvr>
                                        <p:cTn dur="500"/>
                                        <p:tgtEl>
                                          <p:spTgt spid="34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1" st="1"/>
                                            </p:txEl>
                                          </p:spTgt>
                                        </p:tgtEl>
                                        <p:attrNameLst>
                                          <p:attrName>style.visibility</p:attrName>
                                        </p:attrNameLst>
                                      </p:cBhvr>
                                      <p:to>
                                        <p:strVal val="visible"/>
                                      </p:to>
                                    </p:set>
                                    <p:animEffect filter="fade" transition="in">
                                      <p:cBhvr>
                                        <p:cTn dur="500"/>
                                        <p:tgtEl>
                                          <p:spTgt spid="34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2" st="2"/>
                                            </p:txEl>
                                          </p:spTgt>
                                        </p:tgtEl>
                                        <p:attrNameLst>
                                          <p:attrName>style.visibility</p:attrName>
                                        </p:attrNameLst>
                                      </p:cBhvr>
                                      <p:to>
                                        <p:strVal val="visible"/>
                                      </p:to>
                                    </p:set>
                                    <p:animEffect filter="fade" transition="in">
                                      <p:cBhvr>
                                        <p:cTn dur="500"/>
                                        <p:tgtEl>
                                          <p:spTgt spid="34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3" st="3"/>
                                            </p:txEl>
                                          </p:spTgt>
                                        </p:tgtEl>
                                        <p:attrNameLst>
                                          <p:attrName>style.visibility</p:attrName>
                                        </p:attrNameLst>
                                      </p:cBhvr>
                                      <p:to>
                                        <p:strVal val="visible"/>
                                      </p:to>
                                    </p:set>
                                    <p:animEffect filter="fade" transition="in">
                                      <p:cBhvr>
                                        <p:cTn dur="500"/>
                                        <p:tgtEl>
                                          <p:spTgt spid="34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4" st="4"/>
                                            </p:txEl>
                                          </p:spTgt>
                                        </p:tgtEl>
                                        <p:attrNameLst>
                                          <p:attrName>style.visibility</p:attrName>
                                        </p:attrNameLst>
                                      </p:cBhvr>
                                      <p:to>
                                        <p:strVal val="visible"/>
                                      </p:to>
                                    </p:set>
                                    <p:animEffect filter="fade" transition="in">
                                      <p:cBhvr>
                                        <p:cTn dur="500"/>
                                        <p:tgtEl>
                                          <p:spTgt spid="34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5" st="5"/>
                                            </p:txEl>
                                          </p:spTgt>
                                        </p:tgtEl>
                                        <p:attrNameLst>
                                          <p:attrName>style.visibility</p:attrName>
                                        </p:attrNameLst>
                                      </p:cBhvr>
                                      <p:to>
                                        <p:strVal val="visible"/>
                                      </p:to>
                                    </p:set>
                                    <p:animEffect filter="fade" transition="in">
                                      <p:cBhvr>
                                        <p:cTn dur="500"/>
                                        <p:tgtEl>
                                          <p:spTgt spid="34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6" st="6"/>
                                            </p:txEl>
                                          </p:spTgt>
                                        </p:tgtEl>
                                        <p:attrNameLst>
                                          <p:attrName>style.visibility</p:attrName>
                                        </p:attrNameLst>
                                      </p:cBhvr>
                                      <p:to>
                                        <p:strVal val="visible"/>
                                      </p:to>
                                    </p:set>
                                    <p:animEffect filter="fade" transition="in">
                                      <p:cBhvr>
                                        <p:cTn dur="500"/>
                                        <p:tgtEl>
                                          <p:spTgt spid="34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7" st="7"/>
                                            </p:txEl>
                                          </p:spTgt>
                                        </p:tgtEl>
                                        <p:attrNameLst>
                                          <p:attrName>style.visibility</p:attrName>
                                        </p:attrNameLst>
                                      </p:cBhvr>
                                      <p:to>
                                        <p:strVal val="visible"/>
                                      </p:to>
                                    </p:set>
                                    <p:animEffect filter="fade" transition="in">
                                      <p:cBhvr>
                                        <p:cTn dur="500"/>
                                        <p:tgtEl>
                                          <p:spTgt spid="34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8" st="8"/>
                                            </p:txEl>
                                          </p:spTgt>
                                        </p:tgtEl>
                                        <p:attrNameLst>
                                          <p:attrName>style.visibility</p:attrName>
                                        </p:attrNameLst>
                                      </p:cBhvr>
                                      <p:to>
                                        <p:strVal val="visible"/>
                                      </p:to>
                                    </p:set>
                                    <p:animEffect filter="fade" transition="in">
                                      <p:cBhvr>
                                        <p:cTn dur="500"/>
                                        <p:tgtEl>
                                          <p:spTgt spid="344">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xEl>
                                              <p:pRg end="9" st="9"/>
                                            </p:txEl>
                                          </p:spTgt>
                                        </p:tgtEl>
                                        <p:attrNameLst>
                                          <p:attrName>style.visibility</p:attrName>
                                        </p:attrNameLst>
                                      </p:cBhvr>
                                      <p:to>
                                        <p:strVal val="visible"/>
                                      </p:to>
                                    </p:set>
                                    <p:animEffect filter="fade" transition="in">
                                      <p:cBhvr>
                                        <p:cTn dur="500"/>
                                        <p:tgtEl>
                                          <p:spTgt spid="34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4"/>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355" name="Google Shape;355;p14"/>
          <p:cNvSpPr txBox="1"/>
          <p:nvPr>
            <p:ph type="title"/>
          </p:nvPr>
        </p:nvSpPr>
        <p:spPr>
          <a:xfrm>
            <a:off x="457200" y="274637"/>
            <a:ext cx="8229600" cy="4667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0" i="0" lang="en-US" sz="2800" u="none">
                <a:solidFill>
                  <a:schemeClr val="lt1"/>
                </a:solidFill>
                <a:latin typeface="Arial"/>
                <a:ea typeface="Arial"/>
                <a:cs typeface="Arial"/>
                <a:sym typeface="Arial"/>
              </a:rPr>
              <a:t>[Information Sources #3]</a:t>
            </a:r>
            <a:endParaRPr/>
          </a:p>
        </p:txBody>
      </p:sp>
      <p:sp>
        <p:nvSpPr>
          <p:cNvPr id="356" name="Google Shape;356;p14"/>
          <p:cNvSpPr txBox="1"/>
          <p:nvPr>
            <p:ph idx="1" type="body"/>
          </p:nvPr>
        </p:nvSpPr>
        <p:spPr>
          <a:xfrm>
            <a:off x="457200" y="1371600"/>
            <a:ext cx="8229600" cy="5181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IngentaJournals</a:t>
            </a:r>
            <a:endParaRPr/>
          </a:p>
          <a:p>
            <a:pPr indent="-285750" lvl="1" marL="742950" rtl="0" algn="l">
              <a:lnSpc>
                <a:spcPct val="14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Incorporates </a:t>
            </a:r>
            <a:r>
              <a:rPr b="1" i="1" lang="en-US" sz="2000" u="none">
                <a:solidFill>
                  <a:schemeClr val="dk1"/>
                </a:solidFill>
                <a:latin typeface="Arial"/>
                <a:ea typeface="Arial"/>
                <a:cs typeface="Arial"/>
                <a:sym typeface="Arial"/>
              </a:rPr>
              <a:t>full-text</a:t>
            </a:r>
            <a:r>
              <a:rPr b="0" i="0" lang="en-US" sz="2000" u="none">
                <a:solidFill>
                  <a:schemeClr val="dk1"/>
                </a:solidFill>
                <a:latin typeface="Arial"/>
                <a:ea typeface="Arial"/>
                <a:cs typeface="Arial"/>
                <a:sym typeface="Arial"/>
              </a:rPr>
              <a:t> links to a number of engineering and computing journals</a:t>
            </a:r>
            <a:endParaRPr/>
          </a:p>
          <a:p>
            <a:pPr indent="-285750" lvl="1" marL="742950" rtl="0" algn="l">
              <a:lnSpc>
                <a:spcPct val="13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http://www.ingenta.com</a:t>
            </a:r>
            <a:endParaRPr/>
          </a:p>
          <a:p>
            <a:pPr indent="-342900" lvl="0" marL="342900" rtl="0" algn="l">
              <a:lnSpc>
                <a:spcPct val="140000"/>
              </a:lnSpc>
              <a:spcBef>
                <a:spcPts val="1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Some useful links including; </a:t>
            </a:r>
            <a:endParaRPr b="0" i="0" sz="1600" u="none">
              <a:solidFill>
                <a:schemeClr val="dk1"/>
              </a:solidFill>
              <a:latin typeface="Arial"/>
              <a:ea typeface="Arial"/>
              <a:cs typeface="Arial"/>
              <a:sym typeface="Arial"/>
            </a:endParaRPr>
          </a:p>
          <a:p>
            <a:pPr indent="-228600" lvl="2" marL="11430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http://nulis.napier.ac.uk</a:t>
            </a:r>
            <a:endParaRPr/>
          </a:p>
          <a:p>
            <a:pPr indent="-228600" lvl="2" marL="11430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Information Skills Tutorial</a:t>
            </a:r>
            <a:endParaRPr/>
          </a:p>
          <a:p>
            <a:pPr indent="-228600" lvl="3" marL="1562100" rtl="0" algn="l">
              <a:lnSpc>
                <a:spcPct val="90000"/>
              </a:lnSpc>
              <a:spcBef>
                <a:spcPts val="240"/>
              </a:spcBef>
              <a:spcAft>
                <a:spcPts val="0"/>
              </a:spcAft>
              <a:buClr>
                <a:schemeClr val="dk1"/>
              </a:buClr>
              <a:buSzPts val="1200"/>
              <a:buFont typeface="Arial"/>
              <a:buChar char="–"/>
            </a:pPr>
            <a:r>
              <a:rPr b="0" i="0" lang="en-US" sz="1200" u="none">
                <a:solidFill>
                  <a:schemeClr val="dk1"/>
                </a:solidFill>
                <a:latin typeface="Arial"/>
                <a:ea typeface="Arial"/>
                <a:cs typeface="Arial"/>
                <a:sym typeface="Arial"/>
              </a:rPr>
              <a:t>http://cwis.livjm.ac.uk/lea/</a:t>
            </a:r>
            <a:endParaRPr/>
          </a:p>
          <a:p>
            <a:pPr indent="-228600" lvl="2" marL="11430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http://www.eevl.ac.uk</a:t>
            </a:r>
            <a:endParaRPr/>
          </a:p>
          <a:p>
            <a:pPr indent="-228600" lvl="2" marL="11430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http://edina.ed.ac.uk/salser</a:t>
            </a:r>
            <a:r>
              <a:rPr b="0" i="0" lang="en-US" sz="1200" u="none">
                <a:solidFill>
                  <a:schemeClr val="dk1"/>
                </a:solidFill>
                <a:latin typeface="Arial"/>
                <a:ea typeface="Arial"/>
                <a:cs typeface="Arial"/>
                <a:sym typeface="Arial"/>
              </a:rPr>
              <a:t> </a:t>
            </a:r>
            <a:endParaRPr/>
          </a:p>
          <a:p>
            <a:pPr indent="-342900" lvl="0" marL="3429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Some useful sources</a:t>
            </a:r>
            <a:endParaRPr/>
          </a:p>
          <a:p>
            <a:pPr indent="-285750" lvl="1" marL="74295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Ei Compendex &amp; Ei Engineering Village 2</a:t>
            </a:r>
            <a:endParaRPr/>
          </a:p>
          <a:p>
            <a:pPr indent="-228600" lvl="2" marL="11430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All aspects of engineering and computing</a:t>
            </a:r>
            <a:endParaRPr/>
          </a:p>
          <a:p>
            <a:pPr indent="-228600" lvl="2" marL="1143000" rtl="0" algn="l">
              <a:lnSpc>
                <a:spcPct val="12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 http://edina.ed.ac.uk/compendex</a:t>
            </a:r>
            <a:endParaRPr/>
          </a:p>
          <a:p>
            <a:pPr indent="-285750" lvl="1" marL="74295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Inspec</a:t>
            </a:r>
            <a:endParaRPr/>
          </a:p>
          <a:p>
            <a:pPr indent="-228600" lvl="2" marL="11430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 Physics, engineering, communications, control engineering, and computing</a:t>
            </a:r>
            <a:endParaRPr/>
          </a:p>
          <a:p>
            <a:pPr indent="-228600" lvl="2" marL="11430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http://edina.ed.ac.uk/inspec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5"/>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366" name="Google Shape;366;p15"/>
          <p:cNvSpPr txBox="1"/>
          <p:nvPr>
            <p:ph type="title"/>
          </p:nvPr>
        </p:nvSpPr>
        <p:spPr>
          <a:xfrm>
            <a:off x="457200" y="274637"/>
            <a:ext cx="8229600" cy="5191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[Information Sources #4]</a:t>
            </a:r>
            <a:endParaRPr/>
          </a:p>
        </p:txBody>
      </p:sp>
      <p:sp>
        <p:nvSpPr>
          <p:cNvPr id="367" name="Google Shape;367;p15"/>
          <p:cNvSpPr txBox="1"/>
          <p:nvPr>
            <p:ph idx="1" type="body"/>
          </p:nvPr>
        </p:nvSpPr>
        <p:spPr>
          <a:xfrm>
            <a:off x="228600" y="1371600"/>
            <a:ext cx="8683625" cy="47434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Full-text </a:t>
            </a:r>
            <a:r>
              <a:rPr b="0" i="0" lang="en-US" sz="2000" u="none">
                <a:solidFill>
                  <a:schemeClr val="dk1"/>
                </a:solidFill>
                <a:latin typeface="Arial"/>
                <a:ea typeface="Arial"/>
                <a:cs typeface="Arial"/>
                <a:sym typeface="Arial"/>
              </a:rPr>
              <a:t>Access to Electronic Journals see</a:t>
            </a:r>
            <a:endParaRPr b="0" i="0" sz="24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Ingenta Journals </a:t>
            </a:r>
            <a:r>
              <a:rPr b="0" i="0" lang="en-US" sz="1600" u="none">
                <a:solidFill>
                  <a:schemeClr val="dk1"/>
                </a:solidFill>
                <a:latin typeface="Arial"/>
                <a:ea typeface="Arial"/>
                <a:cs typeface="Arial"/>
                <a:sym typeface="Arial"/>
              </a:rPr>
              <a:t>(http://www.bids.ac.uk)</a:t>
            </a:r>
            <a:r>
              <a:rPr b="0" i="0" lang="en-US" sz="2000" u="none">
                <a:solidFill>
                  <a:schemeClr val="dk1"/>
                </a:solidFill>
                <a:latin typeface="Arial"/>
                <a:ea typeface="Arial"/>
                <a:cs typeface="Arial"/>
                <a:sym typeface="Arial"/>
              </a:rPr>
              <a:t>,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ScienceDirect </a:t>
            </a:r>
            <a:r>
              <a:rPr b="0" i="0" lang="en-US" sz="1600" u="none">
                <a:solidFill>
                  <a:schemeClr val="dk1"/>
                </a:solidFill>
                <a:latin typeface="Arial"/>
                <a:ea typeface="Arial"/>
                <a:cs typeface="Arial"/>
                <a:sym typeface="Arial"/>
              </a:rPr>
              <a:t>(http://www.sciencedirect.com)</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Emerald, Catchword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IDEAL</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Expanded Academic ASAP International</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etc, </a:t>
            </a:r>
            <a:endParaRPr/>
          </a:p>
          <a:p>
            <a:pPr indent="-342900" lvl="0" marL="3429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Finding standards and patents</a:t>
            </a:r>
            <a:endParaRPr b="0" i="0" sz="24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Technical Indexes: British Standards (http://bsonline.techindex.co.uk)</a:t>
            </a:r>
            <a:endParaRPr b="0" i="0" sz="2400" u="none">
              <a:solidFill>
                <a:schemeClr val="dk1"/>
              </a:solidFill>
              <a:latin typeface="Arial"/>
              <a:ea typeface="Arial"/>
              <a:cs typeface="Arial"/>
              <a:sym typeface="Arial"/>
            </a:endParaRPr>
          </a:p>
          <a:p>
            <a:pPr indent="-285750" lvl="1" marL="742950" rtl="0" algn="l">
              <a:lnSpc>
                <a:spcPct val="105000"/>
              </a:lnSpc>
              <a:spcBef>
                <a:spcPts val="48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EEVL</a:t>
            </a:r>
            <a:r>
              <a:rPr b="0" i="0" lang="en-US" sz="24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(http://www.eevl.ac.uk)</a:t>
            </a:r>
            <a:r>
              <a:rPr b="0" i="0" lang="en-US" sz="2400" u="none">
                <a:solidFill>
                  <a:schemeClr val="dk1"/>
                </a:solidFill>
                <a:latin typeface="Arial"/>
                <a:ea typeface="Arial"/>
                <a:cs typeface="Arial"/>
                <a:sym typeface="Arial"/>
              </a:rPr>
              <a:t> </a:t>
            </a:r>
            <a:endParaRPr/>
          </a:p>
          <a:p>
            <a:pPr indent="-228600" lvl="2" marL="11430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Select </a:t>
            </a:r>
            <a:r>
              <a:rPr b="0" i="1" lang="en-US" sz="1800" u="none">
                <a:solidFill>
                  <a:schemeClr val="dk1"/>
                </a:solidFill>
                <a:latin typeface="Arial"/>
                <a:ea typeface="Arial"/>
                <a:cs typeface="Arial"/>
                <a:sym typeface="Arial"/>
              </a:rPr>
              <a:t>EEVL catalogue</a:t>
            </a: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tick resource(s) required</a:t>
            </a: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select resource operator (or/and)</a:t>
            </a:r>
            <a:endParaRPr b="0" i="0" sz="1800" u="none">
              <a:solidFill>
                <a:schemeClr val="dk1"/>
              </a:solidFill>
              <a:latin typeface="Arial"/>
              <a:ea typeface="Arial"/>
              <a:cs typeface="Arial"/>
              <a:sym typeface="Arial"/>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Ei Engineering Village 2 </a:t>
            </a:r>
            <a:r>
              <a:rPr b="0" i="0" lang="en-US" sz="1800" u="none">
                <a:solidFill>
                  <a:schemeClr val="dk1"/>
                </a:solidFill>
                <a:latin typeface="Arial"/>
                <a:ea typeface="Arial"/>
                <a:cs typeface="Arial"/>
                <a:sym typeface="Arial"/>
              </a:rPr>
              <a:t>http://edina.ed.ac.uk/compendex)</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US patents full-text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6"/>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377" name="Google Shape;377;p16"/>
          <p:cNvSpPr txBox="1"/>
          <p:nvPr>
            <p:ph type="title"/>
          </p:nvPr>
        </p:nvSpPr>
        <p:spPr>
          <a:xfrm>
            <a:off x="457200" y="274637"/>
            <a:ext cx="8229600" cy="492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[Information Sources #5]</a:t>
            </a:r>
            <a:endParaRPr/>
          </a:p>
        </p:txBody>
      </p:sp>
      <p:sp>
        <p:nvSpPr>
          <p:cNvPr id="378" name="Google Shape;378;p16"/>
          <p:cNvSpPr txBox="1"/>
          <p:nvPr>
            <p:ph idx="1" type="body"/>
          </p:nvPr>
        </p:nvSpPr>
        <p:spPr>
          <a:xfrm>
            <a:off x="457200" y="1428750"/>
            <a:ext cx="8229600" cy="47815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Finding company and industry information</a:t>
            </a:r>
            <a:endParaRPr/>
          </a:p>
          <a:p>
            <a:pPr indent="-285750" lvl="1" marL="74295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Company/Professional association websites</a:t>
            </a:r>
            <a:endParaRPr b="0" i="0" sz="2400" u="none">
              <a:solidFill>
                <a:schemeClr val="dk1"/>
              </a:solidFill>
              <a:latin typeface="Arial"/>
              <a:ea typeface="Arial"/>
              <a:cs typeface="Arial"/>
              <a:sym typeface="Arial"/>
            </a:endParaRPr>
          </a:p>
          <a:p>
            <a:pPr indent="-285750" lvl="1" marL="742950" rtl="0" algn="l">
              <a:lnSpc>
                <a:spcPct val="90000"/>
              </a:lnSpc>
              <a:spcBef>
                <a:spcPts val="48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Mintel Marketing Intelligence </a:t>
            </a:r>
            <a:r>
              <a:rPr b="0" i="0" lang="en-US" sz="1600" u="none">
                <a:solidFill>
                  <a:schemeClr val="dk1"/>
                </a:solidFill>
                <a:latin typeface="Arial"/>
                <a:ea typeface="Arial"/>
                <a:cs typeface="Arial"/>
                <a:sym typeface="Arial"/>
              </a:rPr>
              <a:t>(Web)</a:t>
            </a:r>
            <a:r>
              <a:rPr b="0" i="0" lang="en-US" sz="2400" u="none">
                <a:solidFill>
                  <a:schemeClr val="dk1"/>
                </a:solidFill>
                <a:latin typeface="Arial"/>
                <a:ea typeface="Arial"/>
                <a:cs typeface="Arial"/>
                <a:sym typeface="Arial"/>
              </a:rPr>
              <a:t> </a:t>
            </a:r>
            <a:endParaRPr/>
          </a:p>
          <a:p>
            <a:pPr indent="-228600" lvl="2" marL="1143000" rtl="0" algn="l">
              <a:lnSpc>
                <a:spcPct val="10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consumer market research reports</a:t>
            </a:r>
            <a:endParaRPr/>
          </a:p>
          <a:p>
            <a:pPr indent="-285750" lvl="1" marL="742950" rtl="0" algn="l">
              <a:lnSpc>
                <a:spcPct val="8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Newspapers </a:t>
            </a:r>
            <a:r>
              <a:rPr b="0" i="0" lang="en-US" sz="1600" u="none">
                <a:solidFill>
                  <a:schemeClr val="dk1"/>
                </a:solidFill>
                <a:latin typeface="Arial"/>
                <a:ea typeface="Arial"/>
                <a:cs typeface="Arial"/>
                <a:sym typeface="Arial"/>
              </a:rPr>
              <a:t>(Learning Centres, Web)</a:t>
            </a:r>
            <a:endParaRPr/>
          </a:p>
          <a:p>
            <a:pPr indent="-285750" lvl="1" marL="742950" rtl="0" algn="l">
              <a:lnSpc>
                <a:spcPct val="8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Findex see Cambridge Scientific Abstracts</a:t>
            </a:r>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Finding Internet resources</a:t>
            </a:r>
            <a:endParaRPr/>
          </a:p>
          <a:p>
            <a:pPr indent="-285750" lvl="1" marL="742950" rtl="0" algn="l">
              <a:lnSpc>
                <a:spcPct val="12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Search Engines such as;</a:t>
            </a:r>
            <a:endParaRPr/>
          </a:p>
          <a:p>
            <a:pPr indent="-228600" lvl="2" marL="1143000" rtl="0" algn="l">
              <a:lnSpc>
                <a:spcPct val="12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AltaVista, Yahoo, Google</a:t>
            </a:r>
            <a:endParaRPr/>
          </a:p>
          <a:p>
            <a:pPr indent="-285750" lvl="1" marL="742950" rtl="0" algn="l">
              <a:lnSpc>
                <a:spcPct val="12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CS and IT only</a:t>
            </a:r>
            <a:endParaRPr/>
          </a:p>
          <a:p>
            <a:pPr indent="-228600" lvl="2" marL="1143000" rtl="0" algn="l">
              <a:lnSpc>
                <a:spcPct val="12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www.researchindex.com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7"/>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388" name="Google Shape;388;p17"/>
          <p:cNvSpPr txBox="1"/>
          <p:nvPr>
            <p:ph type="title"/>
          </p:nvPr>
        </p:nvSpPr>
        <p:spPr>
          <a:xfrm>
            <a:off x="457200" y="274637"/>
            <a:ext cx="8229600" cy="4016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Storing information</a:t>
            </a:r>
            <a:endParaRPr/>
          </a:p>
        </p:txBody>
      </p:sp>
      <p:sp>
        <p:nvSpPr>
          <p:cNvPr id="389" name="Google Shape;389;p17"/>
          <p:cNvSpPr txBox="1"/>
          <p:nvPr>
            <p:ph idx="1" type="body"/>
          </p:nvPr>
        </p:nvSpPr>
        <p:spPr>
          <a:xfrm>
            <a:off x="457200" y="1039812"/>
            <a:ext cx="8686800" cy="531018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Extracting information from sources - an exhaustive process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use key topics as ‘hooks’ for searching and storing</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making notes</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make accurate note of bibliographic details of item</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at top of notes about any item, put key topic(s) prominently</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don’t copy large chunks of text, but do note page no. of any quotations you might use</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which vehicles to use for notes? Cards, loose leaf, notebooks?  If notebooks, number them and number pages.</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Storing information - key decisions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what containers to use</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how to arrange items in containers</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like with like (need to label the containers by key topic)</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in sequence (need to number items as they come in)</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whether to create </a:t>
            </a:r>
            <a:r>
              <a:rPr b="0" i="1" lang="en-US" sz="1800" u="none">
                <a:solidFill>
                  <a:schemeClr val="dk1"/>
                </a:solidFill>
                <a:latin typeface="Arial"/>
                <a:ea typeface="Arial"/>
                <a:cs typeface="Arial"/>
                <a:sym typeface="Arial"/>
              </a:rPr>
              <a:t>records </a:t>
            </a:r>
            <a:r>
              <a:rPr b="0" i="0" lang="en-US" sz="1800" u="none">
                <a:solidFill>
                  <a:schemeClr val="dk1"/>
                </a:solidFill>
                <a:latin typeface="Arial"/>
                <a:ea typeface="Arial"/>
                <a:cs typeface="Arial"/>
                <a:sym typeface="Arial"/>
              </a:rPr>
              <a:t>of the items you store</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probably yes</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if no, items must be clearly labelled, and you will need an index into them by topic (etc)</a:t>
            </a:r>
            <a:endParaRPr/>
          </a:p>
        </p:txBody>
      </p:sp>
      <p:sp>
        <p:nvSpPr>
          <p:cNvPr id="390" name="Google Shape;390;p17"/>
          <p:cNvSpPr txBox="1"/>
          <p:nvPr/>
        </p:nvSpPr>
        <p:spPr>
          <a:xfrm>
            <a:off x="457200" y="6365875"/>
            <a:ext cx="526415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E Orna w. G Stevens, </a:t>
            </a:r>
            <a:r>
              <a:rPr b="0" i="1" lang="en-US" sz="1200" u="none">
                <a:solidFill>
                  <a:schemeClr val="dk1"/>
                </a:solidFill>
                <a:latin typeface="Arial"/>
                <a:ea typeface="Arial"/>
                <a:cs typeface="Arial"/>
                <a:sym typeface="Arial"/>
              </a:rPr>
              <a:t>Managing Information for Research </a:t>
            </a:r>
            <a:r>
              <a:rPr b="0" i="0" lang="en-US" sz="1200" u="none">
                <a:solidFill>
                  <a:schemeClr val="dk1"/>
                </a:solidFill>
                <a:latin typeface="Arial"/>
                <a:ea typeface="Arial"/>
                <a:cs typeface="Arial"/>
                <a:sym typeface="Arial"/>
              </a:rPr>
              <a:t>(OU Press 1995), Ch. 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8"/>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00" name="Google Shape;400;p18"/>
          <p:cNvSpPr txBox="1"/>
          <p:nvPr>
            <p:ph type="title"/>
          </p:nvPr>
        </p:nvSpPr>
        <p:spPr>
          <a:xfrm>
            <a:off x="393700" y="0"/>
            <a:ext cx="6921500" cy="1308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Software</a:t>
            </a:r>
            <a:endParaRPr/>
          </a:p>
        </p:txBody>
      </p:sp>
      <p:sp>
        <p:nvSpPr>
          <p:cNvPr descr="Image result for mendeley" id="401" name="Google Shape;401;p18"/>
          <p:cNvSpPr txBox="1"/>
          <p:nvPr/>
        </p:nvSpPr>
        <p:spPr>
          <a:xfrm>
            <a:off x="168275" y="-1825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02" name="Google Shape;402;p18"/>
          <p:cNvPicPr preferRelativeResize="0"/>
          <p:nvPr/>
        </p:nvPicPr>
        <p:blipFill rotWithShape="1">
          <a:blip r:embed="rId3">
            <a:alphaModFix/>
          </a:blip>
          <a:srcRect b="0" l="0" r="0" t="0"/>
          <a:stretch/>
        </p:blipFill>
        <p:spPr>
          <a:xfrm>
            <a:off x="2047875" y="1308100"/>
            <a:ext cx="5411787" cy="3187700"/>
          </a:xfrm>
          <a:prstGeom prst="rect">
            <a:avLst/>
          </a:prstGeom>
          <a:noFill/>
          <a:ln>
            <a:noFill/>
          </a:ln>
        </p:spPr>
      </p:pic>
      <p:sp>
        <p:nvSpPr>
          <p:cNvPr id="403" name="Google Shape;403;p18"/>
          <p:cNvSpPr txBox="1"/>
          <p:nvPr/>
        </p:nvSpPr>
        <p:spPr>
          <a:xfrm>
            <a:off x="1292225" y="4852987"/>
            <a:ext cx="6724650" cy="922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Arial"/>
              <a:buNone/>
            </a:pPr>
            <a:r>
              <a:rPr b="0" i="0" lang="en-US" sz="5400" u="none">
                <a:solidFill>
                  <a:schemeClr val="dk1"/>
                </a:solidFill>
                <a:latin typeface="Arial"/>
                <a:ea typeface="Arial"/>
                <a:cs typeface="Arial"/>
                <a:sym typeface="Arial"/>
              </a:rPr>
              <a:t>www.</a:t>
            </a:r>
            <a:r>
              <a:rPr b="1" i="0" lang="en-US" sz="5400" u="none">
                <a:solidFill>
                  <a:schemeClr val="dk1"/>
                </a:solidFill>
                <a:latin typeface="Arial"/>
                <a:ea typeface="Arial"/>
                <a:cs typeface="Arial"/>
                <a:sym typeface="Arial"/>
              </a:rPr>
              <a:t>mendeley</a:t>
            </a:r>
            <a:r>
              <a:rPr b="0" i="0" lang="en-US" sz="5400" u="none">
                <a:solidFill>
                  <a:schemeClr val="dk1"/>
                </a:solidFill>
                <a:latin typeface="Arial"/>
                <a:ea typeface="Arial"/>
                <a:cs typeface="Arial"/>
                <a:sym typeface="Arial"/>
              </a:rPr>
              <a:t>.com/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9"/>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13" name="Google Shape;413;p19"/>
          <p:cNvSpPr txBox="1"/>
          <p:nvPr>
            <p:ph type="title"/>
          </p:nvPr>
        </p:nvSpPr>
        <p:spPr>
          <a:xfrm>
            <a:off x="457200" y="274637"/>
            <a:ext cx="8229600" cy="4667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Evaluating your Search Results</a:t>
            </a:r>
            <a:endParaRPr/>
          </a:p>
        </p:txBody>
      </p:sp>
      <p:sp>
        <p:nvSpPr>
          <p:cNvPr id="414" name="Google Shape;414;p19"/>
          <p:cNvSpPr txBox="1"/>
          <p:nvPr>
            <p:ph idx="1" type="body"/>
          </p:nvPr>
        </p:nvSpPr>
        <p:spPr>
          <a:xfrm>
            <a:off x="457200" y="1543050"/>
            <a:ext cx="8229600" cy="47434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Ask yourself a number of questions;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relevant to your needs?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useful for the problem in hand?</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date of publication appropriate?</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obtainable?</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level of information correct? </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Too simple/advanced?</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Is this a new information or do you know this already?</a:t>
            </a:r>
            <a:endParaRPr/>
          </a:p>
        </p:txBody>
      </p:sp>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4">
                                            <p:txEl>
                                              <p:pRg end="0" st="0"/>
                                            </p:txEl>
                                          </p:spTgt>
                                        </p:tgtEl>
                                        <p:attrNameLst>
                                          <p:attrName>style.visibility</p:attrName>
                                        </p:attrNameLst>
                                      </p:cBhvr>
                                      <p:to>
                                        <p:strVal val="visible"/>
                                      </p:to>
                                    </p:set>
                                    <p:animEffect filter="fade" transition="in">
                                      <p:cBhvr>
                                        <p:cTn dur="500"/>
                                        <p:tgtEl>
                                          <p:spTgt spid="41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4">
                                            <p:txEl>
                                              <p:pRg end="1" st="1"/>
                                            </p:txEl>
                                          </p:spTgt>
                                        </p:tgtEl>
                                        <p:attrNameLst>
                                          <p:attrName>style.visibility</p:attrName>
                                        </p:attrNameLst>
                                      </p:cBhvr>
                                      <p:to>
                                        <p:strVal val="visible"/>
                                      </p:to>
                                    </p:set>
                                    <p:animEffect filter="fade" transition="in">
                                      <p:cBhvr>
                                        <p:cTn dur="500"/>
                                        <p:tgtEl>
                                          <p:spTgt spid="41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4">
                                            <p:txEl>
                                              <p:pRg end="2" st="2"/>
                                            </p:txEl>
                                          </p:spTgt>
                                        </p:tgtEl>
                                        <p:attrNameLst>
                                          <p:attrName>style.visibility</p:attrName>
                                        </p:attrNameLst>
                                      </p:cBhvr>
                                      <p:to>
                                        <p:strVal val="visible"/>
                                      </p:to>
                                    </p:set>
                                    <p:animEffect filter="fade" transition="in">
                                      <p:cBhvr>
                                        <p:cTn dur="500"/>
                                        <p:tgtEl>
                                          <p:spTgt spid="41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4">
                                            <p:txEl>
                                              <p:pRg end="3" st="3"/>
                                            </p:txEl>
                                          </p:spTgt>
                                        </p:tgtEl>
                                        <p:attrNameLst>
                                          <p:attrName>style.visibility</p:attrName>
                                        </p:attrNameLst>
                                      </p:cBhvr>
                                      <p:to>
                                        <p:strVal val="visible"/>
                                      </p:to>
                                    </p:set>
                                    <p:animEffect filter="fade" transition="in">
                                      <p:cBhvr>
                                        <p:cTn dur="500"/>
                                        <p:tgtEl>
                                          <p:spTgt spid="41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4">
                                            <p:txEl>
                                              <p:pRg end="4" st="4"/>
                                            </p:txEl>
                                          </p:spTgt>
                                        </p:tgtEl>
                                        <p:attrNameLst>
                                          <p:attrName>style.visibility</p:attrName>
                                        </p:attrNameLst>
                                      </p:cBhvr>
                                      <p:to>
                                        <p:strVal val="visible"/>
                                      </p:to>
                                    </p:set>
                                    <p:animEffect filter="fade" transition="in">
                                      <p:cBhvr>
                                        <p:cTn dur="500"/>
                                        <p:tgtEl>
                                          <p:spTgt spid="41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4">
                                            <p:txEl>
                                              <p:pRg end="5" st="5"/>
                                            </p:txEl>
                                          </p:spTgt>
                                        </p:tgtEl>
                                        <p:attrNameLst>
                                          <p:attrName>style.visibility</p:attrName>
                                        </p:attrNameLst>
                                      </p:cBhvr>
                                      <p:to>
                                        <p:strVal val="visible"/>
                                      </p:to>
                                    </p:set>
                                    <p:animEffect filter="fade" transition="in">
                                      <p:cBhvr>
                                        <p:cTn dur="500"/>
                                        <p:tgtEl>
                                          <p:spTgt spid="41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4">
                                            <p:txEl>
                                              <p:pRg end="6" st="6"/>
                                            </p:txEl>
                                          </p:spTgt>
                                        </p:tgtEl>
                                        <p:attrNameLst>
                                          <p:attrName>style.visibility</p:attrName>
                                        </p:attrNameLst>
                                      </p:cBhvr>
                                      <p:to>
                                        <p:strVal val="visible"/>
                                      </p:to>
                                    </p:set>
                                    <p:animEffect filter="fade" transition="in">
                                      <p:cBhvr>
                                        <p:cTn dur="500"/>
                                        <p:tgtEl>
                                          <p:spTgt spid="41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4">
                                            <p:txEl>
                                              <p:pRg end="7" st="7"/>
                                            </p:txEl>
                                          </p:spTgt>
                                        </p:tgtEl>
                                        <p:attrNameLst>
                                          <p:attrName>style.visibility</p:attrName>
                                        </p:attrNameLst>
                                      </p:cBhvr>
                                      <p:to>
                                        <p:strVal val="visible"/>
                                      </p:to>
                                    </p:set>
                                    <p:animEffect filter="fade" transition="in">
                                      <p:cBhvr>
                                        <p:cTn dur="500"/>
                                        <p:tgtEl>
                                          <p:spTgt spid="41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0"/>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24" name="Google Shape;424;p20"/>
          <p:cNvSpPr txBox="1"/>
          <p:nvPr>
            <p:ph type="title"/>
          </p:nvPr>
        </p:nvSpPr>
        <p:spPr>
          <a:xfrm>
            <a:off x="457200" y="274637"/>
            <a:ext cx="8229600" cy="5286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Searching your information</a:t>
            </a:r>
            <a:endParaRPr/>
          </a:p>
        </p:txBody>
      </p:sp>
      <p:sp>
        <p:nvSpPr>
          <p:cNvPr id="425" name="Google Shape;425;p20"/>
          <p:cNvSpPr txBox="1"/>
          <p:nvPr>
            <p:ph idx="1" type="body"/>
          </p:nvPr>
        </p:nvSpPr>
        <p:spPr>
          <a:xfrm>
            <a:off x="762000" y="1371600"/>
            <a:ext cx="7772400" cy="52117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Key considerations for indexing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decide what are the key topics</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put them on index cards or use reference database software (Mendeley)</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use them as hooks to fish for information</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put main topics on notes you make and on items you photocopy.</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decide how to store your information - in number sequence or by main topic</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set up an index - use cards from 2 or make back-of-book index to notebooks.</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Searching your information</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look up the cards for topics you want.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go from there to information store, and take out relevant items</a:t>
            </a:r>
            <a:endParaRPr/>
          </a:p>
        </p:txBody>
      </p:sp>
      <p:sp>
        <p:nvSpPr>
          <p:cNvPr id="426" name="Google Shape;426;p20"/>
          <p:cNvSpPr txBox="1"/>
          <p:nvPr/>
        </p:nvSpPr>
        <p:spPr>
          <a:xfrm>
            <a:off x="762000" y="6330950"/>
            <a:ext cx="526415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E Orna w. G Stevens, </a:t>
            </a:r>
            <a:r>
              <a:rPr b="0" i="1" lang="en-US" sz="1200" u="none">
                <a:solidFill>
                  <a:schemeClr val="dk1"/>
                </a:solidFill>
                <a:latin typeface="Arial"/>
                <a:ea typeface="Arial"/>
                <a:cs typeface="Arial"/>
                <a:sym typeface="Arial"/>
              </a:rPr>
              <a:t>Managing Information for Research </a:t>
            </a:r>
            <a:r>
              <a:rPr b="0" i="0" lang="en-US" sz="1200" u="none">
                <a:solidFill>
                  <a:schemeClr val="dk1"/>
                </a:solidFill>
                <a:latin typeface="Arial"/>
                <a:ea typeface="Arial"/>
                <a:cs typeface="Arial"/>
                <a:sym typeface="Arial"/>
              </a:rPr>
              <a:t>(OU Press 1995), Ch. 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1"/>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36" name="Google Shape;436;p21"/>
          <p:cNvSpPr txBox="1"/>
          <p:nvPr>
            <p:ph type="title"/>
          </p:nvPr>
        </p:nvSpPr>
        <p:spPr>
          <a:xfrm>
            <a:off x="457200" y="274637"/>
            <a:ext cx="8229600" cy="4667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Literature Review</a:t>
            </a:r>
            <a:endParaRPr/>
          </a:p>
        </p:txBody>
      </p:sp>
      <p:sp>
        <p:nvSpPr>
          <p:cNvPr id="437" name="Google Shape;437;p21"/>
          <p:cNvSpPr txBox="1"/>
          <p:nvPr>
            <p:ph idx="1" type="body"/>
          </p:nvPr>
        </p:nvSpPr>
        <p:spPr>
          <a:xfrm>
            <a:off x="514350" y="1203325"/>
            <a:ext cx="8096250" cy="52927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Definition</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A story or narrative, which documents the previous research that is relevant to your own research area</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The literature review essentially “sets the scene” and prepares the reader for your own contribution</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The literature review usually occurs as chapter 2 in your thesis</a:t>
            </a:r>
            <a:endParaRPr b="0" i="0" sz="1600" u="none">
              <a:solidFill>
                <a:schemeClr val="dk1"/>
              </a:solidFill>
              <a:latin typeface="Arial"/>
              <a:ea typeface="Arial"/>
              <a:cs typeface="Arial"/>
              <a:sym typeface="Arial"/>
            </a:endParaRPr>
          </a:p>
          <a:p>
            <a:pPr indent="-228600" lvl="3" marL="1600200" rtl="0" algn="l">
              <a:lnSpc>
                <a:spcPct val="90000"/>
              </a:lnSpc>
              <a:spcBef>
                <a:spcPts val="28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But other sections of your thesis are likely to contain references to material considered in the literature review</a:t>
            </a:r>
            <a:endParaRPr/>
          </a:p>
          <a:p>
            <a:pPr indent="-228600" lvl="2" marL="1143000" rtl="0" algn="l">
              <a:lnSpc>
                <a:spcPct val="90000"/>
              </a:lnSpc>
              <a:spcBef>
                <a:spcPts val="32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Also the literature review is also an opportunity to learn more about the subject area you are researching </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Purpose </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knowledge of current literature and your own reading</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present it thematically or in an order that relates to the rest of the project structure</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identify trends, gaps etc in the literature</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analyse, evaluate and otherwise demonstrate that you have understood what you have read</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ALWAYS check your project guidelines</a:t>
            </a:r>
            <a:endParaRPr/>
          </a:p>
        </p:txBody>
      </p:sp>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37">
                                            <p:txEl>
                                              <p:pRg end="0" st="0"/>
                                            </p:txEl>
                                          </p:spTgt>
                                        </p:tgtEl>
                                        <p:attrNameLst>
                                          <p:attrName>style.visibility</p:attrName>
                                        </p:attrNameLst>
                                      </p:cBhvr>
                                      <p:to>
                                        <p:strVal val="visible"/>
                                      </p:to>
                                    </p:set>
                                    <p:animEffect filter="fade" transition="in">
                                      <p:cBhvr>
                                        <p:cTn dur="500"/>
                                        <p:tgtEl>
                                          <p:spTgt spid="437">
                                            <p:txEl>
                                              <p:pRg end="0" st="0"/>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1" st="1"/>
                                            </p:txEl>
                                          </p:spTgt>
                                        </p:tgtEl>
                                        <p:attrNameLst>
                                          <p:attrName>style.visibility</p:attrName>
                                        </p:attrNameLst>
                                      </p:cBhvr>
                                      <p:to>
                                        <p:strVal val="visible"/>
                                      </p:to>
                                    </p:set>
                                    <p:animEffect filter="fade" transition="in">
                                      <p:cBhvr>
                                        <p:cTn dur="500"/>
                                        <p:tgtEl>
                                          <p:spTgt spid="437">
                                            <p:txEl>
                                              <p:pRg end="1" st="1"/>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2" st="2"/>
                                            </p:txEl>
                                          </p:spTgt>
                                        </p:tgtEl>
                                        <p:attrNameLst>
                                          <p:attrName>style.visibility</p:attrName>
                                        </p:attrNameLst>
                                      </p:cBhvr>
                                      <p:to>
                                        <p:strVal val="visible"/>
                                      </p:to>
                                    </p:set>
                                    <p:animEffect filter="fade" transition="in">
                                      <p:cBhvr>
                                        <p:cTn dur="500"/>
                                        <p:tgtEl>
                                          <p:spTgt spid="437">
                                            <p:txEl>
                                              <p:pRg end="2" st="2"/>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3" st="3"/>
                                            </p:txEl>
                                          </p:spTgt>
                                        </p:tgtEl>
                                        <p:attrNameLst>
                                          <p:attrName>style.visibility</p:attrName>
                                        </p:attrNameLst>
                                      </p:cBhvr>
                                      <p:to>
                                        <p:strVal val="visible"/>
                                      </p:to>
                                    </p:set>
                                    <p:animEffect filter="fade" transition="in">
                                      <p:cBhvr>
                                        <p:cTn dur="500"/>
                                        <p:tgtEl>
                                          <p:spTgt spid="437">
                                            <p:txEl>
                                              <p:pRg end="3" st="3"/>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4" st="4"/>
                                            </p:txEl>
                                          </p:spTgt>
                                        </p:tgtEl>
                                        <p:attrNameLst>
                                          <p:attrName>style.visibility</p:attrName>
                                        </p:attrNameLst>
                                      </p:cBhvr>
                                      <p:to>
                                        <p:strVal val="visible"/>
                                      </p:to>
                                    </p:set>
                                    <p:animEffect filter="fade" transition="in">
                                      <p:cBhvr>
                                        <p:cTn dur="500"/>
                                        <p:tgtEl>
                                          <p:spTgt spid="437">
                                            <p:txEl>
                                              <p:pRg end="4" st="4"/>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5" st="5"/>
                                            </p:txEl>
                                          </p:spTgt>
                                        </p:tgtEl>
                                        <p:attrNameLst>
                                          <p:attrName>style.visibility</p:attrName>
                                        </p:attrNameLst>
                                      </p:cBhvr>
                                      <p:to>
                                        <p:strVal val="visible"/>
                                      </p:to>
                                    </p:set>
                                    <p:animEffect filter="fade" transition="in">
                                      <p:cBhvr>
                                        <p:cTn dur="500"/>
                                        <p:tgtEl>
                                          <p:spTgt spid="437">
                                            <p:txEl>
                                              <p:pRg end="5" st="5"/>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6" st="6"/>
                                            </p:txEl>
                                          </p:spTgt>
                                        </p:tgtEl>
                                        <p:attrNameLst>
                                          <p:attrName>style.visibility</p:attrName>
                                        </p:attrNameLst>
                                      </p:cBhvr>
                                      <p:to>
                                        <p:strVal val="visible"/>
                                      </p:to>
                                    </p:set>
                                    <p:animEffect filter="fade" transition="in">
                                      <p:cBhvr>
                                        <p:cTn dur="500"/>
                                        <p:tgtEl>
                                          <p:spTgt spid="437">
                                            <p:txEl>
                                              <p:pRg end="6" st="6"/>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7" st="7"/>
                                            </p:txEl>
                                          </p:spTgt>
                                        </p:tgtEl>
                                        <p:attrNameLst>
                                          <p:attrName>style.visibility</p:attrName>
                                        </p:attrNameLst>
                                      </p:cBhvr>
                                      <p:to>
                                        <p:strVal val="visible"/>
                                      </p:to>
                                    </p:set>
                                    <p:animEffect filter="fade" transition="in">
                                      <p:cBhvr>
                                        <p:cTn dur="500"/>
                                        <p:tgtEl>
                                          <p:spTgt spid="437">
                                            <p:txEl>
                                              <p:pRg end="7" st="7"/>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8" st="8"/>
                                            </p:txEl>
                                          </p:spTgt>
                                        </p:tgtEl>
                                        <p:attrNameLst>
                                          <p:attrName>style.visibility</p:attrName>
                                        </p:attrNameLst>
                                      </p:cBhvr>
                                      <p:to>
                                        <p:strVal val="visible"/>
                                      </p:to>
                                    </p:set>
                                    <p:animEffect filter="fade" transition="in">
                                      <p:cBhvr>
                                        <p:cTn dur="500"/>
                                        <p:tgtEl>
                                          <p:spTgt spid="437">
                                            <p:txEl>
                                              <p:pRg end="8" st="8"/>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9" st="9"/>
                                            </p:txEl>
                                          </p:spTgt>
                                        </p:tgtEl>
                                        <p:attrNameLst>
                                          <p:attrName>style.visibility</p:attrName>
                                        </p:attrNameLst>
                                      </p:cBhvr>
                                      <p:to>
                                        <p:strVal val="visible"/>
                                      </p:to>
                                    </p:set>
                                    <p:animEffect filter="fade" transition="in">
                                      <p:cBhvr>
                                        <p:cTn dur="500"/>
                                        <p:tgtEl>
                                          <p:spTgt spid="437">
                                            <p:txEl>
                                              <p:pRg end="9" st="9"/>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10" st="10"/>
                                            </p:txEl>
                                          </p:spTgt>
                                        </p:tgtEl>
                                        <p:attrNameLst>
                                          <p:attrName>style.visibility</p:attrName>
                                        </p:attrNameLst>
                                      </p:cBhvr>
                                      <p:to>
                                        <p:strVal val="visible"/>
                                      </p:to>
                                    </p:set>
                                    <p:animEffect filter="fade" transition="in">
                                      <p:cBhvr>
                                        <p:cTn dur="500"/>
                                        <p:tgtEl>
                                          <p:spTgt spid="437">
                                            <p:txEl>
                                              <p:pRg end="10" st="10"/>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437">
                                            <p:txEl>
                                              <p:pRg end="11" st="11"/>
                                            </p:txEl>
                                          </p:spTgt>
                                        </p:tgtEl>
                                        <p:attrNameLst>
                                          <p:attrName>style.visibility</p:attrName>
                                        </p:attrNameLst>
                                      </p:cBhvr>
                                      <p:to>
                                        <p:strVal val="visible"/>
                                      </p:to>
                                    </p:set>
                                    <p:animEffect filter="fade" transition="in">
                                      <p:cBhvr>
                                        <p:cTn dur="500"/>
                                        <p:tgtEl>
                                          <p:spTgt spid="437">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2"/>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47" name="Google Shape;447;p22"/>
          <p:cNvSpPr txBox="1"/>
          <p:nvPr>
            <p:ph idx="4294967295" type="title"/>
          </p:nvPr>
        </p:nvSpPr>
        <p:spPr>
          <a:xfrm>
            <a:off x="457200" y="274637"/>
            <a:ext cx="8229600" cy="4746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Planning the Literature Review #1</a:t>
            </a:r>
            <a:endParaRPr/>
          </a:p>
        </p:txBody>
      </p:sp>
      <p:sp>
        <p:nvSpPr>
          <p:cNvPr id="448" name="Google Shape;448;p22"/>
          <p:cNvSpPr txBox="1"/>
          <p:nvPr>
            <p:ph idx="4294967295" type="body"/>
          </p:nvPr>
        </p:nvSpPr>
        <p:spPr>
          <a:xfrm>
            <a:off x="457200" y="1333500"/>
            <a:ext cx="82296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Planning the literature review</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Set aside enough time to find, read and review a given publication.</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75% of the literature review can be done in one session</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other 25% may be ongoing as your understanding, knowledge and research skills develop</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Identify the main areas of the literature to be covered</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Make up a “shopping-list” of these areas so you know what you are looking for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3"/>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58" name="Google Shape;458;p23"/>
          <p:cNvSpPr txBox="1"/>
          <p:nvPr>
            <p:ph idx="4294967295" type="title"/>
          </p:nvPr>
        </p:nvSpPr>
        <p:spPr>
          <a:xfrm>
            <a:off x="457200" y="274637"/>
            <a:ext cx="8229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Planning the Literature Review #2</a:t>
            </a:r>
            <a:endParaRPr/>
          </a:p>
        </p:txBody>
      </p:sp>
      <p:sp>
        <p:nvSpPr>
          <p:cNvPr id="459" name="Google Shape;459;p23"/>
          <p:cNvSpPr txBox="1"/>
          <p:nvPr>
            <p:ph idx="4294967295" type="body"/>
          </p:nvPr>
        </p:nvSpPr>
        <p:spPr>
          <a:xfrm>
            <a:off x="685800" y="1295400"/>
            <a:ext cx="8229600" cy="5162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Find relevant publications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Always follow the literature search cycle</a:t>
            </a:r>
            <a:endParaRPr/>
          </a:p>
          <a:p>
            <a:pPr indent="-228600" lvl="2" marL="11430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Remember</a:t>
            </a:r>
            <a:endParaRPr/>
          </a:p>
          <a:p>
            <a:pPr indent="-228600" lvl="3" marL="1600200" marR="0" rtl="0" algn="l">
              <a:lnSpc>
                <a:spcPct val="100000"/>
              </a:lnSpc>
              <a:spcBef>
                <a:spcPts val="400"/>
              </a:spcBef>
              <a:spcAft>
                <a:spcPts val="0"/>
              </a:spcAft>
              <a:buClr>
                <a:srgbClr val="FF0000"/>
              </a:buClr>
              <a:buSzPts val="2000"/>
              <a:buFont typeface="Arial"/>
              <a:buChar char="–"/>
            </a:pPr>
            <a:r>
              <a:rPr b="1" i="0" lang="en-US" sz="2000" u="none" cap="none" strike="noStrike">
                <a:solidFill>
                  <a:srgbClr val="FF0000"/>
                </a:solidFill>
                <a:latin typeface="Arial"/>
                <a:ea typeface="Arial"/>
                <a:cs typeface="Arial"/>
                <a:sym typeface="Arial"/>
              </a:rPr>
              <a:t>to find 10 relevant publications you may have to read over 30 ☹</a:t>
            </a:r>
            <a:endParaRPr/>
          </a:p>
          <a:p>
            <a:pPr indent="-228600" lvl="2" marL="11430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Thus you need to adhere to</a:t>
            </a:r>
            <a:endParaRPr/>
          </a:p>
          <a:p>
            <a:pPr indent="-228600" lvl="3" marL="16002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Find, read and record relevant literature</a:t>
            </a:r>
            <a:endParaRPr/>
          </a:p>
          <a:p>
            <a:pPr indent="-228600" lvl="4" marL="20574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Record the title of each publication</a:t>
            </a:r>
            <a:endParaRPr/>
          </a:p>
          <a:p>
            <a:pPr indent="-228600" lvl="4" marL="20574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Record the source (e.g. reference or a web-page)</a:t>
            </a:r>
            <a:endParaRPr/>
          </a:p>
          <a:p>
            <a:pPr indent="-228600" lvl="4" marL="20574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Make a brief note about the relevance of the publication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4"/>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69" name="Google Shape;469;p24"/>
          <p:cNvSpPr txBox="1"/>
          <p:nvPr>
            <p:ph idx="4294967295" type="body"/>
          </p:nvPr>
        </p:nvSpPr>
        <p:spPr>
          <a:xfrm>
            <a:off x="457200" y="1219200"/>
            <a:ext cx="8229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Structure the literature that you have reviewed</a:t>
            </a:r>
            <a:endParaRPr/>
          </a:p>
          <a:p>
            <a:pPr indent="-285750" lvl="1" marL="742950" marR="0" rtl="0" algn="l">
              <a:lnSpc>
                <a:spcPct val="9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You could even use a table with appropriate categories</a:t>
            </a:r>
            <a:endParaRPr/>
          </a:p>
          <a:p>
            <a:pPr indent="-285750" lvl="1" marL="742950" marR="0" rtl="0" algn="l">
              <a:lnSpc>
                <a:spcPct val="9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Start by drawing a “concept map” or an overall plan of the literature review chapter</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Identify the main areas of the literature</a:t>
            </a:r>
            <a:endParaRPr/>
          </a:p>
          <a:p>
            <a:pPr indent="-285750" lvl="1" marL="742950" marR="0" rtl="0" algn="l">
              <a:lnSpc>
                <a:spcPct val="9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This will include the “parent” or main discipline and the context of your research</a:t>
            </a:r>
            <a:endParaRPr/>
          </a:p>
          <a:p>
            <a:pPr indent="-285750" lvl="1" marL="742950" marR="0" rtl="0" algn="l">
              <a:lnSpc>
                <a:spcPct val="9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The main areas will be the main sections in the literature chapter</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Identify relevant sub-areas to be highlighted</a:t>
            </a:r>
            <a:endParaRPr/>
          </a:p>
          <a:p>
            <a:pPr indent="-285750" lvl="1" marL="742950" marR="0" rtl="0" algn="l">
              <a:lnSpc>
                <a:spcPct val="9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Sub-divide the main literature areas into smaller sections</a:t>
            </a:r>
            <a:endParaRPr/>
          </a:p>
          <a:p>
            <a:pPr indent="-285750" lvl="1" marL="742950" marR="0" rtl="0" algn="l">
              <a:lnSpc>
                <a:spcPct val="9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These sections will be the sub-sections within the main sections of the literature chapter</a:t>
            </a:r>
            <a:endParaRPr/>
          </a:p>
        </p:txBody>
      </p:sp>
      <p:sp>
        <p:nvSpPr>
          <p:cNvPr id="470" name="Google Shape;470;p24"/>
          <p:cNvSpPr txBox="1"/>
          <p:nvPr>
            <p:ph idx="4294967295" type="title"/>
          </p:nvPr>
        </p:nvSpPr>
        <p:spPr>
          <a:xfrm>
            <a:off x="460375" y="309562"/>
            <a:ext cx="8229600" cy="4222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Structuring your Review #1</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5"/>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480" name="Google Shape;480;p25"/>
          <p:cNvSpPr txBox="1"/>
          <p:nvPr/>
        </p:nvSpPr>
        <p:spPr>
          <a:xfrm>
            <a:off x="685800" y="1116012"/>
            <a:ext cx="7772400" cy="533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1" i="0" lang="en-US" sz="3200" u="sng">
                <a:solidFill>
                  <a:schemeClr val="dk2"/>
                </a:solidFill>
                <a:latin typeface="Times New Roman"/>
                <a:ea typeface="Times New Roman"/>
                <a:cs typeface="Times New Roman"/>
                <a:sym typeface="Times New Roman"/>
              </a:rPr>
              <a:t>Structuring the literature review</a:t>
            </a:r>
            <a:endParaRPr/>
          </a:p>
        </p:txBody>
      </p:sp>
      <p:sp>
        <p:nvSpPr>
          <p:cNvPr id="481" name="Google Shape;481;p25"/>
          <p:cNvSpPr txBox="1"/>
          <p:nvPr>
            <p:ph idx="4294967295" type="body"/>
          </p:nvPr>
        </p:nvSpPr>
        <p:spPr>
          <a:xfrm>
            <a:off x="457200" y="1814512"/>
            <a:ext cx="8229600" cy="5232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Section 2.1 (introduction)</a:t>
            </a:r>
            <a:endParaRPr/>
          </a:p>
          <a:p>
            <a:pPr indent="-285750" lvl="1" marL="742950" marR="0" rtl="0" algn="l">
              <a:lnSpc>
                <a:spcPct val="10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Introduce your own research topic and explain what literature areas need to be reviewed</a:t>
            </a:r>
            <a:endParaRPr/>
          </a:p>
          <a:p>
            <a:pPr indent="-285750" lvl="1" marL="742950" marR="0" rtl="0" algn="l">
              <a:lnSpc>
                <a:spcPct val="10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Briefly present your concept map or plan to show the reader how the literature review is logically structured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Section 2.2 to 2.x</a:t>
            </a:r>
            <a:endParaRPr/>
          </a:p>
          <a:p>
            <a:pPr indent="-285750" lvl="1" marL="742950" marR="0" rtl="0" algn="l">
              <a:lnSpc>
                <a:spcPct val="10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Address each of the main areas of the concept map or plan</a:t>
            </a:r>
            <a:endParaRPr/>
          </a:p>
          <a:p>
            <a:pPr indent="-285750" lvl="1" marL="742950" marR="0" rtl="0" algn="l">
              <a:lnSpc>
                <a:spcPct val="10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Try to move towards specific discussion of each area and identify what is already known and what is not known</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Section 2.x (final section)</a:t>
            </a:r>
            <a:endParaRPr/>
          </a:p>
          <a:p>
            <a:pPr indent="-285750" lvl="1" marL="742950" marR="0" rtl="0" algn="l">
              <a:lnSpc>
                <a:spcPct val="100000"/>
              </a:lnSpc>
              <a:spcBef>
                <a:spcPts val="4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End by stating your own research challenge/question or any hypothesis</a:t>
            </a:r>
            <a:endParaRPr/>
          </a:p>
        </p:txBody>
      </p:sp>
      <p:sp>
        <p:nvSpPr>
          <p:cNvPr id="482" name="Google Shape;482;p25"/>
          <p:cNvSpPr txBox="1"/>
          <p:nvPr>
            <p:ph idx="4294967295" type="title"/>
          </p:nvPr>
        </p:nvSpPr>
        <p:spPr>
          <a:xfrm>
            <a:off x="460375" y="309562"/>
            <a:ext cx="8229600" cy="4143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Structuring your Review #2</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26"/>
          <p:cNvSpPr txBox="1"/>
          <p:nvPr/>
        </p:nvSpPr>
        <p:spPr>
          <a:xfrm>
            <a:off x="685800" y="958850"/>
            <a:ext cx="7772400" cy="533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1" i="0" lang="en-US" sz="3200" u="sng">
                <a:solidFill>
                  <a:schemeClr val="dk2"/>
                </a:solidFill>
                <a:latin typeface="Times New Roman"/>
                <a:ea typeface="Times New Roman"/>
                <a:cs typeface="Times New Roman"/>
                <a:sym typeface="Times New Roman"/>
              </a:rPr>
              <a:t>Writing the literature review</a:t>
            </a:r>
            <a:endParaRPr/>
          </a:p>
        </p:txBody>
      </p:sp>
      <p:grpSp>
        <p:nvGrpSpPr>
          <p:cNvPr id="492" name="Google Shape;492;p26"/>
          <p:cNvGrpSpPr/>
          <p:nvPr/>
        </p:nvGrpSpPr>
        <p:grpSpPr>
          <a:xfrm>
            <a:off x="6926262" y="1628775"/>
            <a:ext cx="1933574" cy="1281112"/>
            <a:chOff x="3840" y="1248"/>
            <a:chExt cx="1218" cy="807"/>
          </a:xfrm>
        </p:grpSpPr>
        <p:cxnSp>
          <p:nvCxnSpPr>
            <p:cNvPr id="493" name="Google Shape;493;p26"/>
            <p:cNvCxnSpPr/>
            <p:nvPr/>
          </p:nvCxnSpPr>
          <p:spPr>
            <a:xfrm>
              <a:off x="3840" y="1383"/>
              <a:ext cx="432" cy="672"/>
            </a:xfrm>
            <a:prstGeom prst="straightConnector1">
              <a:avLst/>
            </a:prstGeom>
            <a:noFill/>
            <a:ln cap="flat" cmpd="sng" w="9525">
              <a:solidFill>
                <a:schemeClr val="dk1"/>
              </a:solidFill>
              <a:prstDash val="solid"/>
              <a:miter lim="800000"/>
              <a:headEnd len="med" w="med" type="none"/>
              <a:tailEnd len="med" w="med" type="none"/>
            </a:ln>
          </p:spPr>
        </p:cxnSp>
        <p:cxnSp>
          <p:nvCxnSpPr>
            <p:cNvPr id="494" name="Google Shape;494;p26"/>
            <p:cNvCxnSpPr/>
            <p:nvPr/>
          </p:nvCxnSpPr>
          <p:spPr>
            <a:xfrm flipH="1">
              <a:off x="4272" y="1383"/>
              <a:ext cx="480" cy="672"/>
            </a:xfrm>
            <a:prstGeom prst="straightConnector1">
              <a:avLst/>
            </a:prstGeom>
            <a:noFill/>
            <a:ln cap="flat" cmpd="sng" w="9525">
              <a:solidFill>
                <a:schemeClr val="dk1"/>
              </a:solidFill>
              <a:prstDash val="solid"/>
              <a:miter lim="800000"/>
              <a:headEnd len="med" w="med" type="none"/>
              <a:tailEnd len="med" w="med" type="none"/>
            </a:ln>
          </p:spPr>
        </p:cxnSp>
        <p:sp>
          <p:nvSpPr>
            <p:cNvPr id="495" name="Google Shape;495;p26"/>
            <p:cNvSpPr txBox="1"/>
            <p:nvPr/>
          </p:nvSpPr>
          <p:spPr>
            <a:xfrm>
              <a:off x="3888" y="1287"/>
              <a:ext cx="816" cy="1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6" name="Google Shape;496;p26"/>
            <p:cNvSpPr txBox="1"/>
            <p:nvPr/>
          </p:nvSpPr>
          <p:spPr>
            <a:xfrm>
              <a:off x="4128" y="1623"/>
              <a:ext cx="336" cy="1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7" name="Google Shape;497;p26"/>
            <p:cNvSpPr txBox="1"/>
            <p:nvPr/>
          </p:nvSpPr>
          <p:spPr>
            <a:xfrm>
              <a:off x="4742" y="1248"/>
              <a:ext cx="316"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2.2</a:t>
              </a:r>
              <a:endParaRPr/>
            </a:p>
          </p:txBody>
        </p:sp>
        <p:sp>
          <p:nvSpPr>
            <p:cNvPr id="498" name="Google Shape;498;p26"/>
            <p:cNvSpPr txBox="1"/>
            <p:nvPr/>
          </p:nvSpPr>
          <p:spPr>
            <a:xfrm>
              <a:off x="4502" y="1584"/>
              <a:ext cx="316"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2.3</a:t>
              </a:r>
              <a:endParaRPr/>
            </a:p>
          </p:txBody>
        </p:sp>
      </p:grpSp>
      <p:grpSp>
        <p:nvGrpSpPr>
          <p:cNvPr id="499" name="Google Shape;499;p26"/>
          <p:cNvGrpSpPr/>
          <p:nvPr/>
        </p:nvGrpSpPr>
        <p:grpSpPr>
          <a:xfrm>
            <a:off x="6745287" y="3016250"/>
            <a:ext cx="1955800" cy="1381125"/>
            <a:chOff x="3744" y="2592"/>
            <a:chExt cx="1232" cy="870"/>
          </a:xfrm>
        </p:grpSpPr>
        <p:sp>
          <p:nvSpPr>
            <p:cNvPr id="500" name="Google Shape;500;p26"/>
            <p:cNvSpPr txBox="1"/>
            <p:nvPr/>
          </p:nvSpPr>
          <p:spPr>
            <a:xfrm>
              <a:off x="4234" y="2631"/>
              <a:ext cx="240" cy="1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1" name="Google Shape;501;p26"/>
            <p:cNvSpPr txBox="1"/>
            <p:nvPr/>
          </p:nvSpPr>
          <p:spPr>
            <a:xfrm>
              <a:off x="4618" y="3063"/>
              <a:ext cx="240" cy="1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2" name="Google Shape;502;p26"/>
            <p:cNvSpPr txBox="1"/>
            <p:nvPr/>
          </p:nvSpPr>
          <p:spPr>
            <a:xfrm>
              <a:off x="4234" y="3063"/>
              <a:ext cx="240" cy="1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3" name="Google Shape;503;p26"/>
            <p:cNvSpPr txBox="1"/>
            <p:nvPr/>
          </p:nvSpPr>
          <p:spPr>
            <a:xfrm>
              <a:off x="3850" y="3063"/>
              <a:ext cx="240" cy="1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504" name="Google Shape;504;p26"/>
            <p:cNvCxnSpPr/>
            <p:nvPr/>
          </p:nvCxnSpPr>
          <p:spPr>
            <a:xfrm>
              <a:off x="3946" y="2919"/>
              <a:ext cx="816" cy="0"/>
            </a:xfrm>
            <a:prstGeom prst="straightConnector1">
              <a:avLst/>
            </a:prstGeom>
            <a:noFill/>
            <a:ln cap="flat" cmpd="sng" w="9525">
              <a:solidFill>
                <a:schemeClr val="dk1"/>
              </a:solidFill>
              <a:prstDash val="solid"/>
              <a:miter lim="800000"/>
              <a:headEnd len="med" w="med" type="none"/>
              <a:tailEnd len="med" w="med" type="none"/>
            </a:ln>
          </p:spPr>
        </p:cxnSp>
        <p:cxnSp>
          <p:nvCxnSpPr>
            <p:cNvPr id="505" name="Google Shape;505;p26"/>
            <p:cNvCxnSpPr/>
            <p:nvPr/>
          </p:nvCxnSpPr>
          <p:spPr>
            <a:xfrm>
              <a:off x="4330" y="2823"/>
              <a:ext cx="0" cy="96"/>
            </a:xfrm>
            <a:prstGeom prst="straightConnector1">
              <a:avLst/>
            </a:prstGeom>
            <a:noFill/>
            <a:ln cap="flat" cmpd="sng" w="9525">
              <a:solidFill>
                <a:schemeClr val="dk1"/>
              </a:solidFill>
              <a:prstDash val="solid"/>
              <a:miter lim="800000"/>
              <a:headEnd len="med" w="med" type="none"/>
              <a:tailEnd len="med" w="med" type="none"/>
            </a:ln>
          </p:spPr>
        </p:cxnSp>
        <p:cxnSp>
          <p:nvCxnSpPr>
            <p:cNvPr id="506" name="Google Shape;506;p26"/>
            <p:cNvCxnSpPr/>
            <p:nvPr/>
          </p:nvCxnSpPr>
          <p:spPr>
            <a:xfrm>
              <a:off x="3946" y="2919"/>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507" name="Google Shape;507;p26"/>
            <p:cNvCxnSpPr/>
            <p:nvPr/>
          </p:nvCxnSpPr>
          <p:spPr>
            <a:xfrm>
              <a:off x="4762" y="2919"/>
              <a:ext cx="0" cy="144"/>
            </a:xfrm>
            <a:prstGeom prst="straightConnector1">
              <a:avLst/>
            </a:prstGeom>
            <a:noFill/>
            <a:ln cap="flat" cmpd="sng" w="9525">
              <a:solidFill>
                <a:schemeClr val="dk1"/>
              </a:solidFill>
              <a:prstDash val="solid"/>
              <a:miter lim="800000"/>
              <a:headEnd len="med" w="med" type="none"/>
              <a:tailEnd len="med" w="med" type="none"/>
            </a:ln>
          </p:spPr>
        </p:cxnSp>
        <p:cxnSp>
          <p:nvCxnSpPr>
            <p:cNvPr id="508" name="Google Shape;508;p26"/>
            <p:cNvCxnSpPr/>
            <p:nvPr/>
          </p:nvCxnSpPr>
          <p:spPr>
            <a:xfrm>
              <a:off x="4330" y="2919"/>
              <a:ext cx="0" cy="144"/>
            </a:xfrm>
            <a:prstGeom prst="straightConnector1">
              <a:avLst/>
            </a:prstGeom>
            <a:noFill/>
            <a:ln cap="flat" cmpd="sng" w="9525">
              <a:solidFill>
                <a:schemeClr val="dk1"/>
              </a:solidFill>
              <a:prstDash val="solid"/>
              <a:miter lim="800000"/>
              <a:headEnd len="med" w="med" type="none"/>
              <a:tailEnd len="med" w="med" type="none"/>
            </a:ln>
          </p:spPr>
        </p:cxnSp>
        <p:sp>
          <p:nvSpPr>
            <p:cNvPr id="509" name="Google Shape;509;p26"/>
            <p:cNvSpPr txBox="1"/>
            <p:nvPr/>
          </p:nvSpPr>
          <p:spPr>
            <a:xfrm>
              <a:off x="4512" y="2592"/>
              <a:ext cx="316"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2.2</a:t>
              </a:r>
              <a:endParaRPr/>
            </a:p>
          </p:txBody>
        </p:sp>
        <p:sp>
          <p:nvSpPr>
            <p:cNvPr id="510" name="Google Shape;510;p26"/>
            <p:cNvSpPr txBox="1"/>
            <p:nvPr/>
          </p:nvSpPr>
          <p:spPr>
            <a:xfrm>
              <a:off x="3744" y="3231"/>
              <a:ext cx="123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2.2.1   2.2.2    2.2.3</a:t>
              </a:r>
              <a:endParaRPr/>
            </a:p>
          </p:txBody>
        </p:sp>
      </p:grpSp>
      <p:sp>
        <p:nvSpPr>
          <p:cNvPr id="511" name="Google Shape;511;p26"/>
          <p:cNvSpPr txBox="1"/>
          <p:nvPr>
            <p:ph idx="4294967295" type="title"/>
          </p:nvPr>
        </p:nvSpPr>
        <p:spPr>
          <a:xfrm>
            <a:off x="457200" y="258762"/>
            <a:ext cx="8229600" cy="4984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Structuring your Review #3</a:t>
            </a:r>
            <a:endParaRPr/>
          </a:p>
        </p:txBody>
      </p:sp>
      <p:sp>
        <p:nvSpPr>
          <p:cNvPr id="512" name="Google Shape;512;p26"/>
          <p:cNvSpPr txBox="1"/>
          <p:nvPr>
            <p:ph idx="4294967295" type="body"/>
          </p:nvPr>
        </p:nvSpPr>
        <p:spPr>
          <a:xfrm>
            <a:off x="244475" y="1535112"/>
            <a:ext cx="6442075" cy="48212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Different literature review structures can be used including;</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‘funnel’ approach:</a:t>
            </a:r>
            <a:endParaRPr/>
          </a:p>
          <a:p>
            <a:pPr indent="-228600" lvl="2" marL="11430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from broad to narrow focus, </a:t>
            </a:r>
            <a:endParaRPr/>
          </a:p>
          <a:p>
            <a:pPr indent="-228600" lvl="2" marL="11430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from main areas/issues to detail</a:t>
            </a:r>
            <a:endParaRPr/>
          </a:p>
          <a:p>
            <a:pPr indent="-228600" lvl="2" marL="11430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from periphery to centre of research issue</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‘family tree’ approach:</a:t>
            </a:r>
            <a:endParaRPr/>
          </a:p>
          <a:p>
            <a:pPr indent="-228600" lvl="2" marL="11430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different levels of knowledge at each level: </a:t>
            </a:r>
            <a:endParaRPr/>
          </a:p>
          <a:p>
            <a:pPr indent="-228600" lvl="3" marL="16002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various options/theories/issues</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Time line</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Concept map</a:t>
            </a:r>
            <a:endParaRPr/>
          </a:p>
        </p:txBody>
      </p:sp>
      <p:pic>
        <p:nvPicPr>
          <p:cNvPr descr="Image5" id="513" name="Google Shape;513;p26"/>
          <p:cNvPicPr preferRelativeResize="0"/>
          <p:nvPr/>
        </p:nvPicPr>
        <p:blipFill rotWithShape="1">
          <a:blip r:embed="rId3">
            <a:alphaModFix/>
          </a:blip>
          <a:srcRect b="0" l="0" r="0" t="0"/>
          <a:stretch/>
        </p:blipFill>
        <p:spPr>
          <a:xfrm>
            <a:off x="6745287" y="4660900"/>
            <a:ext cx="2198687" cy="1798637"/>
          </a:xfrm>
          <a:prstGeom prst="rect">
            <a:avLst/>
          </a:prstGeom>
          <a:noFill/>
          <a:ln>
            <a:noFill/>
          </a:ln>
        </p:spPr>
      </p:pic>
      <p:grpSp>
        <p:nvGrpSpPr>
          <p:cNvPr id="514" name="Google Shape;514;p26"/>
          <p:cNvGrpSpPr/>
          <p:nvPr/>
        </p:nvGrpSpPr>
        <p:grpSpPr>
          <a:xfrm>
            <a:off x="4845050" y="5638800"/>
            <a:ext cx="1435100" cy="1076325"/>
            <a:chOff x="4558" y="4121"/>
            <a:chExt cx="1076" cy="842"/>
          </a:xfrm>
        </p:grpSpPr>
        <p:grpSp>
          <p:nvGrpSpPr>
            <p:cNvPr id="515" name="Google Shape;515;p26"/>
            <p:cNvGrpSpPr/>
            <p:nvPr/>
          </p:nvGrpSpPr>
          <p:grpSpPr>
            <a:xfrm>
              <a:off x="4730" y="4191"/>
              <a:ext cx="712" cy="669"/>
              <a:chOff x="2585" y="3405"/>
              <a:chExt cx="712" cy="669"/>
            </a:xfrm>
          </p:grpSpPr>
          <p:sp>
            <p:nvSpPr>
              <p:cNvPr id="516" name="Google Shape;516;p26"/>
              <p:cNvSpPr/>
              <p:nvPr/>
            </p:nvSpPr>
            <p:spPr>
              <a:xfrm>
                <a:off x="2894" y="3775"/>
                <a:ext cx="176" cy="144"/>
              </a:xfrm>
              <a:custGeom>
                <a:rect b="b" l="l" r="r" t="t"/>
                <a:pathLst>
                  <a:path extrusionOk="0" h="576" w="816">
                    <a:moveTo>
                      <a:pt x="0" y="0"/>
                    </a:moveTo>
                    <a:cubicBezTo>
                      <a:pt x="124" y="168"/>
                      <a:pt x="248" y="336"/>
                      <a:pt x="384" y="432"/>
                    </a:cubicBezTo>
                    <a:cubicBezTo>
                      <a:pt x="520" y="528"/>
                      <a:pt x="668" y="552"/>
                      <a:pt x="816" y="576"/>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7" name="Google Shape;517;p26"/>
              <p:cNvSpPr/>
              <p:nvPr/>
            </p:nvSpPr>
            <p:spPr>
              <a:xfrm>
                <a:off x="3194" y="3405"/>
                <a:ext cx="82" cy="84"/>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8" name="Google Shape;518;p26"/>
              <p:cNvSpPr/>
              <p:nvPr/>
            </p:nvSpPr>
            <p:spPr>
              <a:xfrm>
                <a:off x="2812" y="3548"/>
                <a:ext cx="82" cy="84"/>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9" name="Google Shape;519;p26"/>
              <p:cNvSpPr/>
              <p:nvPr/>
            </p:nvSpPr>
            <p:spPr>
              <a:xfrm>
                <a:off x="3214" y="3548"/>
                <a:ext cx="83" cy="84"/>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0" name="Google Shape;520;p26"/>
              <p:cNvSpPr/>
              <p:nvPr/>
            </p:nvSpPr>
            <p:spPr>
              <a:xfrm>
                <a:off x="2616" y="3644"/>
                <a:ext cx="82" cy="84"/>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1" name="Google Shape;521;p26"/>
              <p:cNvSpPr/>
              <p:nvPr/>
            </p:nvSpPr>
            <p:spPr>
              <a:xfrm>
                <a:off x="2832" y="3704"/>
                <a:ext cx="83" cy="83"/>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2" name="Google Shape;522;p26"/>
              <p:cNvSpPr/>
              <p:nvPr/>
            </p:nvSpPr>
            <p:spPr>
              <a:xfrm>
                <a:off x="3173" y="3752"/>
                <a:ext cx="83" cy="83"/>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3" name="Google Shape;523;p26"/>
              <p:cNvSpPr/>
              <p:nvPr/>
            </p:nvSpPr>
            <p:spPr>
              <a:xfrm>
                <a:off x="2832" y="3883"/>
                <a:ext cx="83" cy="84"/>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4" name="Google Shape;524;p26"/>
              <p:cNvSpPr/>
              <p:nvPr/>
            </p:nvSpPr>
            <p:spPr>
              <a:xfrm>
                <a:off x="3049" y="3907"/>
                <a:ext cx="83" cy="84"/>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5" name="Google Shape;525;p26"/>
              <p:cNvSpPr/>
              <p:nvPr/>
            </p:nvSpPr>
            <p:spPr>
              <a:xfrm>
                <a:off x="2585" y="3991"/>
                <a:ext cx="82" cy="83"/>
              </a:xfrm>
              <a:prstGeom prst="ellipse">
                <a:avLst/>
              </a:prstGeom>
              <a:solidFill>
                <a:schemeClr val="l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526" name="Google Shape;526;p26"/>
              <p:cNvCxnSpPr/>
              <p:nvPr/>
            </p:nvCxnSpPr>
            <p:spPr>
              <a:xfrm flipH="1">
                <a:off x="2884" y="3465"/>
                <a:ext cx="320" cy="119"/>
              </a:xfrm>
              <a:prstGeom prst="straightConnector1">
                <a:avLst/>
              </a:prstGeom>
              <a:noFill/>
              <a:ln cap="flat" cmpd="sng" w="38100">
                <a:solidFill>
                  <a:schemeClr val="lt2"/>
                </a:solidFill>
                <a:prstDash val="solid"/>
                <a:miter lim="800000"/>
                <a:headEnd len="med" w="med" type="none"/>
                <a:tailEnd len="med" w="med" type="none"/>
              </a:ln>
            </p:spPr>
          </p:cxnSp>
          <p:cxnSp>
            <p:nvCxnSpPr>
              <p:cNvPr id="527" name="Google Shape;527;p26"/>
              <p:cNvCxnSpPr/>
              <p:nvPr/>
            </p:nvCxnSpPr>
            <p:spPr>
              <a:xfrm flipH="1">
                <a:off x="2688" y="3608"/>
                <a:ext cx="134" cy="48"/>
              </a:xfrm>
              <a:prstGeom prst="straightConnector1">
                <a:avLst/>
              </a:prstGeom>
              <a:noFill/>
              <a:ln cap="flat" cmpd="sng" w="38100">
                <a:solidFill>
                  <a:schemeClr val="lt2"/>
                </a:solidFill>
                <a:prstDash val="solid"/>
                <a:miter lim="800000"/>
                <a:headEnd len="med" w="med" type="none"/>
                <a:tailEnd len="med" w="med" type="none"/>
              </a:ln>
            </p:spPr>
          </p:cxnSp>
          <p:sp>
            <p:nvSpPr>
              <p:cNvPr id="528" name="Google Shape;528;p26"/>
              <p:cNvSpPr/>
              <p:nvPr/>
            </p:nvSpPr>
            <p:spPr>
              <a:xfrm>
                <a:off x="2884" y="3596"/>
                <a:ext cx="330" cy="36"/>
              </a:xfrm>
              <a:custGeom>
                <a:rect b="b" l="l" r="r" t="t"/>
                <a:pathLst>
                  <a:path extrusionOk="0" h="144" w="1536">
                    <a:moveTo>
                      <a:pt x="0" y="0"/>
                    </a:moveTo>
                    <a:cubicBezTo>
                      <a:pt x="280" y="72"/>
                      <a:pt x="560" y="144"/>
                      <a:pt x="816" y="144"/>
                    </a:cubicBezTo>
                    <a:cubicBezTo>
                      <a:pt x="1072" y="144"/>
                      <a:pt x="1304" y="72"/>
                      <a:pt x="1536" y="0"/>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529" name="Google Shape;529;p26"/>
              <p:cNvCxnSpPr/>
              <p:nvPr/>
            </p:nvCxnSpPr>
            <p:spPr>
              <a:xfrm flipH="1">
                <a:off x="3225" y="3620"/>
                <a:ext cx="41" cy="132"/>
              </a:xfrm>
              <a:prstGeom prst="straightConnector1">
                <a:avLst/>
              </a:prstGeom>
              <a:noFill/>
              <a:ln cap="flat" cmpd="sng" w="38100">
                <a:solidFill>
                  <a:schemeClr val="lt2"/>
                </a:solidFill>
                <a:prstDash val="solid"/>
                <a:miter lim="800000"/>
                <a:headEnd len="med" w="med" type="none"/>
                <a:tailEnd len="med" w="med" type="none"/>
              </a:ln>
            </p:spPr>
          </p:cxnSp>
          <p:cxnSp>
            <p:nvCxnSpPr>
              <p:cNvPr id="530" name="Google Shape;530;p26"/>
              <p:cNvCxnSpPr/>
              <p:nvPr/>
            </p:nvCxnSpPr>
            <p:spPr>
              <a:xfrm>
                <a:off x="2863" y="3620"/>
                <a:ext cx="11" cy="96"/>
              </a:xfrm>
              <a:prstGeom prst="straightConnector1">
                <a:avLst/>
              </a:prstGeom>
              <a:noFill/>
              <a:ln cap="flat" cmpd="sng" w="38100">
                <a:solidFill>
                  <a:schemeClr val="lt2"/>
                </a:solidFill>
                <a:prstDash val="solid"/>
                <a:miter lim="800000"/>
                <a:headEnd len="med" w="med" type="none"/>
                <a:tailEnd len="med" w="med" type="none"/>
              </a:ln>
            </p:spPr>
          </p:cxnSp>
          <p:cxnSp>
            <p:nvCxnSpPr>
              <p:cNvPr id="531" name="Google Shape;531;p26"/>
              <p:cNvCxnSpPr/>
              <p:nvPr/>
            </p:nvCxnSpPr>
            <p:spPr>
              <a:xfrm>
                <a:off x="2874" y="3787"/>
                <a:ext cx="10" cy="96"/>
              </a:xfrm>
              <a:prstGeom prst="straightConnector1">
                <a:avLst/>
              </a:prstGeom>
              <a:noFill/>
              <a:ln cap="flat" cmpd="sng" w="38100">
                <a:solidFill>
                  <a:schemeClr val="lt2"/>
                </a:solidFill>
                <a:prstDash val="solid"/>
                <a:miter lim="800000"/>
                <a:headEnd len="med" w="med" type="none"/>
                <a:tailEnd len="med" w="med" type="none"/>
              </a:ln>
            </p:spPr>
          </p:cxnSp>
          <p:sp>
            <p:nvSpPr>
              <p:cNvPr id="532" name="Google Shape;532;p26"/>
              <p:cNvSpPr/>
              <p:nvPr/>
            </p:nvSpPr>
            <p:spPr>
              <a:xfrm>
                <a:off x="2657" y="3931"/>
                <a:ext cx="175" cy="95"/>
              </a:xfrm>
              <a:custGeom>
                <a:rect b="b" l="l" r="r" t="t"/>
                <a:pathLst>
                  <a:path extrusionOk="0" h="384" w="816">
                    <a:moveTo>
                      <a:pt x="816" y="0"/>
                    </a:moveTo>
                    <a:cubicBezTo>
                      <a:pt x="620" y="16"/>
                      <a:pt x="424" y="32"/>
                      <a:pt x="288" y="96"/>
                    </a:cubicBezTo>
                    <a:cubicBezTo>
                      <a:pt x="152" y="160"/>
                      <a:pt x="76" y="272"/>
                      <a:pt x="0" y="384"/>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533" name="Google Shape;533;p26"/>
              <p:cNvCxnSpPr/>
              <p:nvPr/>
            </p:nvCxnSpPr>
            <p:spPr>
              <a:xfrm>
                <a:off x="2915" y="3919"/>
                <a:ext cx="134" cy="36"/>
              </a:xfrm>
              <a:prstGeom prst="straightConnector1">
                <a:avLst/>
              </a:prstGeom>
              <a:noFill/>
              <a:ln cap="flat" cmpd="sng" w="38100">
                <a:solidFill>
                  <a:schemeClr val="lt2"/>
                </a:solidFill>
                <a:prstDash val="solid"/>
                <a:miter lim="800000"/>
                <a:headEnd len="med" w="med" type="none"/>
                <a:tailEnd len="med" w="med" type="none"/>
              </a:ln>
            </p:spPr>
          </p:cxnSp>
          <p:sp>
            <p:nvSpPr>
              <p:cNvPr id="534" name="Google Shape;534;p26"/>
              <p:cNvSpPr/>
              <p:nvPr/>
            </p:nvSpPr>
            <p:spPr>
              <a:xfrm>
                <a:off x="3235" y="3417"/>
                <a:ext cx="10" cy="155"/>
              </a:xfrm>
              <a:custGeom>
                <a:rect b="b" l="l" r="r" t="t"/>
                <a:pathLst>
                  <a:path extrusionOk="0" h="288" w="912">
                    <a:moveTo>
                      <a:pt x="0" y="0"/>
                    </a:moveTo>
                    <a:cubicBezTo>
                      <a:pt x="20" y="72"/>
                      <a:pt x="40" y="144"/>
                      <a:pt x="192" y="192"/>
                    </a:cubicBezTo>
                    <a:cubicBezTo>
                      <a:pt x="344" y="240"/>
                      <a:pt x="792" y="272"/>
                      <a:pt x="912" y="288"/>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535" name="Google Shape;535;p26"/>
              <p:cNvCxnSpPr/>
              <p:nvPr/>
            </p:nvCxnSpPr>
            <p:spPr>
              <a:xfrm>
                <a:off x="2688" y="3692"/>
                <a:ext cx="144" cy="48"/>
              </a:xfrm>
              <a:prstGeom prst="straightConnector1">
                <a:avLst/>
              </a:prstGeom>
              <a:noFill/>
              <a:ln cap="flat" cmpd="sng" w="38100">
                <a:solidFill>
                  <a:schemeClr val="lt2"/>
                </a:solidFill>
                <a:prstDash val="solid"/>
                <a:miter lim="800000"/>
                <a:headEnd len="med" w="med" type="none"/>
                <a:tailEnd len="med" w="med" type="none"/>
              </a:ln>
            </p:spPr>
          </p:cxnSp>
          <p:sp>
            <p:nvSpPr>
              <p:cNvPr id="536" name="Google Shape;536;p26"/>
              <p:cNvSpPr/>
              <p:nvPr/>
            </p:nvSpPr>
            <p:spPr>
              <a:xfrm>
                <a:off x="2915" y="3752"/>
                <a:ext cx="258" cy="35"/>
              </a:xfrm>
              <a:custGeom>
                <a:rect b="b" l="l" r="r" t="t"/>
                <a:pathLst>
                  <a:path extrusionOk="0" h="144" w="1200">
                    <a:moveTo>
                      <a:pt x="0" y="0"/>
                    </a:moveTo>
                    <a:cubicBezTo>
                      <a:pt x="500" y="60"/>
                      <a:pt x="1000" y="120"/>
                      <a:pt x="1200" y="144"/>
                    </a:cubicBezTo>
                  </a:path>
                </a:pathLst>
              </a:custGeom>
              <a:no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537" name="Google Shape;537;p26"/>
            <p:cNvSpPr/>
            <p:nvPr/>
          </p:nvSpPr>
          <p:spPr>
            <a:xfrm>
              <a:off x="4558" y="4121"/>
              <a:ext cx="1076" cy="842"/>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538" name="Google Shape;538;p26"/>
          <p:cNvCxnSpPr/>
          <p:nvPr/>
        </p:nvCxnSpPr>
        <p:spPr>
          <a:xfrm>
            <a:off x="3465512" y="6057900"/>
            <a:ext cx="1379537" cy="119062"/>
          </a:xfrm>
          <a:prstGeom prst="straightConnector1">
            <a:avLst/>
          </a:prstGeom>
          <a:noFill/>
          <a:ln cap="flat" cmpd="sng" w="12700">
            <a:solidFill>
              <a:schemeClr val="dk1"/>
            </a:solidFill>
            <a:prstDash val="solid"/>
            <a:miter lim="800000"/>
            <a:headEnd len="med" w="med" type="stealth"/>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7"/>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548" name="Google Shape;548;p27"/>
          <p:cNvSpPr txBox="1"/>
          <p:nvPr>
            <p:ph idx="4294967295" type="title"/>
          </p:nvPr>
        </p:nvSpPr>
        <p:spPr>
          <a:xfrm>
            <a:off x="457200" y="274637"/>
            <a:ext cx="8229600" cy="492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Guidelines #1</a:t>
            </a:r>
            <a:endParaRPr/>
          </a:p>
        </p:txBody>
      </p:sp>
      <p:sp>
        <p:nvSpPr>
          <p:cNvPr id="549" name="Google Shape;549;p27"/>
          <p:cNvSpPr txBox="1"/>
          <p:nvPr>
            <p:ph idx="4294967295" type="body"/>
          </p:nvPr>
        </p:nvSpPr>
        <p:spPr>
          <a:xfrm>
            <a:off x="457200" y="1066800"/>
            <a:ext cx="8229600" cy="53943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The literature review chapter should not be standalone but relates to other chapters</a:t>
            </a:r>
            <a:endParaRPr/>
          </a:p>
          <a:p>
            <a:pPr indent="-285750" lvl="1" marL="742950" marR="0" rtl="0" algn="l">
              <a:lnSpc>
                <a:spcPct val="90000"/>
              </a:lnSpc>
              <a:spcBef>
                <a:spcPts val="48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Ensure that the literature review chapter is closely linked to your study</a:t>
            </a:r>
            <a:endParaRPr/>
          </a:p>
          <a:p>
            <a:pPr indent="-380999" lvl="2" marL="1341437"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Mention your research topic up-front</a:t>
            </a:r>
            <a:endParaRPr/>
          </a:p>
          <a:p>
            <a:pPr indent="-380999" lvl="2" marL="1341437"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Then proceed to identify the main areas that will drive the literature review</a:t>
            </a:r>
            <a:endParaRPr/>
          </a:p>
          <a:p>
            <a:pPr indent="-380999" lvl="2" marL="1341437"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Show how your study is related to previous work (e.g. extends, fills gap, applies in different contexts, etc.)</a:t>
            </a:r>
            <a:endParaRPr/>
          </a:p>
          <a:p>
            <a:pPr indent="-380999" lvl="2" marL="1341437"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 the literature review chapter to develop your own research framework or research model</a:t>
            </a:r>
            <a:endParaRPr/>
          </a:p>
          <a:p>
            <a:pPr indent="-380999" lvl="2" marL="1341437"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 the literature review chapter to help shape subsequent chapters in your thesis</a:t>
            </a:r>
            <a:endParaRPr/>
          </a:p>
          <a:p>
            <a:pPr indent="-228599" lvl="3" marL="1760536"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Often to highlight the gap including research problem that your project is to focus 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28"/>
          <p:cNvSpPr txBox="1"/>
          <p:nvPr/>
        </p:nvSpPr>
        <p:spPr>
          <a:xfrm>
            <a:off x="8316912" y="6410325"/>
            <a:ext cx="719137" cy="2587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1" i="0" lang="en-US" sz="1400" u="none">
                <a:solidFill>
                  <a:schemeClr val="dk1"/>
                </a:solidFill>
                <a:latin typeface="Arial"/>
                <a:ea typeface="Arial"/>
                <a:cs typeface="Arial"/>
                <a:sym typeface="Arial"/>
              </a:rPr>
              <a:t>‹#›</a:t>
            </a:fld>
            <a:endParaRPr/>
          </a:p>
        </p:txBody>
      </p:sp>
      <p:sp>
        <p:nvSpPr>
          <p:cNvPr id="559" name="Google Shape;559;p28"/>
          <p:cNvSpPr txBox="1"/>
          <p:nvPr>
            <p:ph type="title"/>
          </p:nvPr>
        </p:nvSpPr>
        <p:spPr>
          <a:xfrm>
            <a:off x="457200" y="274637"/>
            <a:ext cx="8229600" cy="5191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Guidelines #2</a:t>
            </a:r>
            <a:endParaRPr/>
          </a:p>
        </p:txBody>
      </p:sp>
      <p:sp>
        <p:nvSpPr>
          <p:cNvPr id="560" name="Google Shape;560;p28"/>
          <p:cNvSpPr txBox="1"/>
          <p:nvPr>
            <p:ph idx="1" type="body"/>
          </p:nvPr>
        </p:nvSpPr>
        <p:spPr>
          <a:xfrm>
            <a:off x="457200" y="1371600"/>
            <a:ext cx="8229600" cy="50450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Try to review topics rather than articles</a:t>
            </a:r>
            <a:endParaRPr/>
          </a:p>
          <a:p>
            <a:pPr indent="-285750" lvl="1" marL="742950" rtl="0" algn="l">
              <a:lnSpc>
                <a:spcPct val="9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GOOD: reviewing topics</a:t>
            </a:r>
            <a:endParaRPr/>
          </a:p>
          <a:p>
            <a:pPr indent="-228600" lvl="2" marL="11430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“Absenteeism has been defined in three ways:</a:t>
            </a:r>
            <a:endParaRPr/>
          </a:p>
          <a:p>
            <a:pPr indent="-228600" lvl="3" marL="16002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genuine absences through illness [1]</a:t>
            </a:r>
            <a:endParaRPr/>
          </a:p>
          <a:p>
            <a:pPr indent="-228600" lvl="3" marL="16002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voluntary non-attendance e.g. skiving [2]</a:t>
            </a:r>
            <a:endParaRPr/>
          </a:p>
          <a:p>
            <a:pPr indent="-228600" lvl="3" marL="16002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frequent absences due to mental or physical health problems [3]”</a:t>
            </a:r>
            <a:endParaRPr/>
          </a:p>
          <a:p>
            <a:pPr indent="-285750" lvl="1" marL="742950" rtl="0" algn="l">
              <a:lnSpc>
                <a:spcPct val="9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NOT AS GOOD: reviewing articles</a:t>
            </a:r>
            <a:endParaRPr/>
          </a:p>
          <a:p>
            <a:pPr indent="-228600" lvl="2" marL="11430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“[1] says voluntary absences are due to illness. [2] suggests some absences are simply due to non-attendance e.g. skiving. [3] did a study and found that frequent absences are caused by mental or physical health problems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29"/>
          <p:cNvSpPr txBox="1"/>
          <p:nvPr>
            <p:ph idx="4294967295" type="title"/>
          </p:nvPr>
        </p:nvSpPr>
        <p:spPr>
          <a:xfrm>
            <a:off x="762000" y="419100"/>
            <a:ext cx="77724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Arial"/>
                <a:ea typeface="Arial"/>
                <a:cs typeface="Arial"/>
                <a:sym typeface="Arial"/>
              </a:rPr>
              <a:t>Student Project Design and Idea Generation</a:t>
            </a:r>
            <a:endParaRPr/>
          </a:p>
        </p:txBody>
      </p:sp>
      <p:sp>
        <p:nvSpPr>
          <p:cNvPr id="570" name="Google Shape;570;p29"/>
          <p:cNvSpPr txBox="1"/>
          <p:nvPr/>
        </p:nvSpPr>
        <p:spPr>
          <a:xfrm>
            <a:off x="1595437" y="1304925"/>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1" name="Google Shape;571;p29"/>
          <p:cNvSpPr txBox="1"/>
          <p:nvPr>
            <p:ph idx="4294967295" type="body"/>
          </p:nvPr>
        </p:nvSpPr>
        <p:spPr>
          <a:xfrm>
            <a:off x="762000" y="1076325"/>
            <a:ext cx="7772400" cy="5381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Rounded"/>
              <a:buChar char="•"/>
            </a:pPr>
            <a:r>
              <a:rPr b="1" i="0" lang="en-US" sz="2800" u="none" cap="none" strike="noStrike">
                <a:solidFill>
                  <a:schemeClr val="dk1"/>
                </a:solidFill>
                <a:latin typeface="Arial Rounded"/>
                <a:ea typeface="Arial Rounded"/>
                <a:cs typeface="Arial Rounded"/>
                <a:sym typeface="Arial Rounded"/>
              </a:rPr>
              <a:t>An overview of project  development process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Key steps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How to generate and develop suitable topic</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Recognise time and resource constraints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Is it an achievable piece of research?</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Overview of planning process for the work</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Development of research proposal</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Get you started on thinking about and planning this process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Involves a working relationship with supervisor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0"/>
          <p:cNvSpPr txBox="1"/>
          <p:nvPr>
            <p:ph type="title"/>
          </p:nvPr>
        </p:nvSpPr>
        <p:spPr>
          <a:xfrm>
            <a:off x="0" y="0"/>
            <a:ext cx="9140825" cy="112395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Project Management Model</a:t>
            </a:r>
            <a:endParaRPr/>
          </a:p>
        </p:txBody>
      </p:sp>
      <p:sp>
        <p:nvSpPr>
          <p:cNvPr id="581" name="Google Shape;581;p30"/>
          <p:cNvSpPr txBox="1"/>
          <p:nvPr>
            <p:ph idx="1" type="body"/>
          </p:nvPr>
        </p:nvSpPr>
        <p:spPr>
          <a:xfrm>
            <a:off x="457200" y="1246187"/>
            <a:ext cx="8229600" cy="5181600"/>
          </a:xfrm>
          <a:prstGeom prst="rect">
            <a:avLst/>
          </a:prstGeom>
          <a:noFill/>
          <a:ln>
            <a:noFill/>
          </a:ln>
        </p:spPr>
        <p:txBody>
          <a:bodyPr anchorCtr="0" anchor="t" bIns="46025" lIns="92075" spcFirstLastPara="1" rIns="92075" wrap="square" tIns="46025">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 general model including:</a:t>
            </a:r>
            <a:endParaRPr/>
          </a:p>
          <a:p>
            <a:pPr indent="-285750" lvl="1" marL="742950" rtl="0" algn="l">
              <a:lnSpc>
                <a:spcPct val="14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Define</a:t>
            </a:r>
            <a:endParaRPr/>
          </a:p>
          <a:p>
            <a:pPr indent="-228600" lvl="3" marL="1600200" rtl="0" algn="l">
              <a:lnSpc>
                <a:spcPct val="13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Why are you doing this project?</a:t>
            </a:r>
            <a:endParaRPr/>
          </a:p>
          <a:p>
            <a:pPr indent="-228600" lvl="3" marL="1600200" rtl="0" algn="l">
              <a:lnSpc>
                <a:spcPct val="13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Who is involved? What are the objectives and constraints?</a:t>
            </a:r>
            <a:endParaRPr/>
          </a:p>
          <a:p>
            <a:pPr indent="-228600" lvl="3" marL="1600200" rtl="0" algn="l">
              <a:lnSpc>
                <a:spcPct val="13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What are the alternatives? Write it down, discuss and agree</a:t>
            </a:r>
            <a:endParaRPr/>
          </a:p>
          <a:p>
            <a:pPr indent="-285750" lvl="1" marL="742950" rtl="0" algn="l">
              <a:lnSpc>
                <a:spcPct val="14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Plan</a:t>
            </a:r>
            <a:endParaRPr/>
          </a:p>
          <a:p>
            <a:pPr indent="-228600" lvl="3" marL="16002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Establish objective</a:t>
            </a:r>
            <a:endParaRPr/>
          </a:p>
          <a:p>
            <a:pPr indent="-228600" lvl="3" marL="16002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Formulate basic strategy, Develop work breakdown structure, </a:t>
            </a:r>
            <a:endParaRPr/>
          </a:p>
          <a:p>
            <a:pPr indent="-228600" lvl="3" marL="16002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Resource requirements planning including; </a:t>
            </a:r>
            <a:endParaRPr/>
          </a:p>
          <a:p>
            <a:pPr indent="-228600" lvl="4" marL="20574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HR, resources, schedules, budget, etc.</a:t>
            </a:r>
            <a:endParaRPr/>
          </a:p>
          <a:p>
            <a:pPr indent="-285750" lvl="1" marL="742950" rtl="0" algn="l">
              <a:lnSpc>
                <a:spcPct val="14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Implement</a:t>
            </a:r>
            <a:endParaRPr/>
          </a:p>
          <a:p>
            <a:pPr indent="-285750" lvl="1" marL="742950" rtl="0" algn="l">
              <a:lnSpc>
                <a:spcPct val="14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Control</a:t>
            </a:r>
            <a:endParaRPr/>
          </a:p>
          <a:p>
            <a:pPr indent="-285750" lvl="1" marL="742950" rtl="0" algn="l">
              <a:lnSpc>
                <a:spcPct val="14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Complete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0" st="0"/>
                                            </p:txEl>
                                          </p:spTgt>
                                        </p:tgtEl>
                                        <p:attrNameLst>
                                          <p:attrName>style.visibility</p:attrName>
                                        </p:attrNameLst>
                                      </p:cBhvr>
                                      <p:to>
                                        <p:strVal val="visible"/>
                                      </p:to>
                                    </p:set>
                                    <p:animEffect filter="fade" transition="in">
                                      <p:cBhvr>
                                        <p:cTn dur="500"/>
                                        <p:tgtEl>
                                          <p:spTgt spid="5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1" st="1"/>
                                            </p:txEl>
                                          </p:spTgt>
                                        </p:tgtEl>
                                        <p:attrNameLst>
                                          <p:attrName>style.visibility</p:attrName>
                                        </p:attrNameLst>
                                      </p:cBhvr>
                                      <p:to>
                                        <p:strVal val="visible"/>
                                      </p:to>
                                    </p:set>
                                    <p:animEffect filter="fade" transition="in">
                                      <p:cBhvr>
                                        <p:cTn dur="500"/>
                                        <p:tgtEl>
                                          <p:spTgt spid="5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2" st="2"/>
                                            </p:txEl>
                                          </p:spTgt>
                                        </p:tgtEl>
                                        <p:attrNameLst>
                                          <p:attrName>style.visibility</p:attrName>
                                        </p:attrNameLst>
                                      </p:cBhvr>
                                      <p:to>
                                        <p:strVal val="visible"/>
                                      </p:to>
                                    </p:set>
                                    <p:animEffect filter="fade" transition="in">
                                      <p:cBhvr>
                                        <p:cTn dur="500"/>
                                        <p:tgtEl>
                                          <p:spTgt spid="5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3" st="3"/>
                                            </p:txEl>
                                          </p:spTgt>
                                        </p:tgtEl>
                                        <p:attrNameLst>
                                          <p:attrName>style.visibility</p:attrName>
                                        </p:attrNameLst>
                                      </p:cBhvr>
                                      <p:to>
                                        <p:strVal val="visible"/>
                                      </p:to>
                                    </p:set>
                                    <p:animEffect filter="fade" transition="in">
                                      <p:cBhvr>
                                        <p:cTn dur="500"/>
                                        <p:tgtEl>
                                          <p:spTgt spid="5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4" st="4"/>
                                            </p:txEl>
                                          </p:spTgt>
                                        </p:tgtEl>
                                        <p:attrNameLst>
                                          <p:attrName>style.visibility</p:attrName>
                                        </p:attrNameLst>
                                      </p:cBhvr>
                                      <p:to>
                                        <p:strVal val="visible"/>
                                      </p:to>
                                    </p:set>
                                    <p:animEffect filter="fade" transition="in">
                                      <p:cBhvr>
                                        <p:cTn dur="500"/>
                                        <p:tgtEl>
                                          <p:spTgt spid="5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5" st="5"/>
                                            </p:txEl>
                                          </p:spTgt>
                                        </p:tgtEl>
                                        <p:attrNameLst>
                                          <p:attrName>style.visibility</p:attrName>
                                        </p:attrNameLst>
                                      </p:cBhvr>
                                      <p:to>
                                        <p:strVal val="visible"/>
                                      </p:to>
                                    </p:set>
                                    <p:animEffect filter="fade" transition="in">
                                      <p:cBhvr>
                                        <p:cTn dur="500"/>
                                        <p:tgtEl>
                                          <p:spTgt spid="5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6" st="6"/>
                                            </p:txEl>
                                          </p:spTgt>
                                        </p:tgtEl>
                                        <p:attrNameLst>
                                          <p:attrName>style.visibility</p:attrName>
                                        </p:attrNameLst>
                                      </p:cBhvr>
                                      <p:to>
                                        <p:strVal val="visible"/>
                                      </p:to>
                                    </p:set>
                                    <p:animEffect filter="fade" transition="in">
                                      <p:cBhvr>
                                        <p:cTn dur="500"/>
                                        <p:tgtEl>
                                          <p:spTgt spid="58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7" st="7"/>
                                            </p:txEl>
                                          </p:spTgt>
                                        </p:tgtEl>
                                        <p:attrNameLst>
                                          <p:attrName>style.visibility</p:attrName>
                                        </p:attrNameLst>
                                      </p:cBhvr>
                                      <p:to>
                                        <p:strVal val="visible"/>
                                      </p:to>
                                    </p:set>
                                    <p:animEffect filter="fade" transition="in">
                                      <p:cBhvr>
                                        <p:cTn dur="500"/>
                                        <p:tgtEl>
                                          <p:spTgt spid="58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8" st="8"/>
                                            </p:txEl>
                                          </p:spTgt>
                                        </p:tgtEl>
                                        <p:attrNameLst>
                                          <p:attrName>style.visibility</p:attrName>
                                        </p:attrNameLst>
                                      </p:cBhvr>
                                      <p:to>
                                        <p:strVal val="visible"/>
                                      </p:to>
                                    </p:set>
                                    <p:animEffect filter="fade" transition="in">
                                      <p:cBhvr>
                                        <p:cTn dur="500"/>
                                        <p:tgtEl>
                                          <p:spTgt spid="58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9" st="9"/>
                                            </p:txEl>
                                          </p:spTgt>
                                        </p:tgtEl>
                                        <p:attrNameLst>
                                          <p:attrName>style.visibility</p:attrName>
                                        </p:attrNameLst>
                                      </p:cBhvr>
                                      <p:to>
                                        <p:strVal val="visible"/>
                                      </p:to>
                                    </p:set>
                                    <p:animEffect filter="fade" transition="in">
                                      <p:cBhvr>
                                        <p:cTn dur="500"/>
                                        <p:tgtEl>
                                          <p:spTgt spid="58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10" st="10"/>
                                            </p:txEl>
                                          </p:spTgt>
                                        </p:tgtEl>
                                        <p:attrNameLst>
                                          <p:attrName>style.visibility</p:attrName>
                                        </p:attrNameLst>
                                      </p:cBhvr>
                                      <p:to>
                                        <p:strVal val="visible"/>
                                      </p:to>
                                    </p:set>
                                    <p:animEffect filter="fade" transition="in">
                                      <p:cBhvr>
                                        <p:cTn dur="500"/>
                                        <p:tgtEl>
                                          <p:spTgt spid="58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11" st="11"/>
                                            </p:txEl>
                                          </p:spTgt>
                                        </p:tgtEl>
                                        <p:attrNameLst>
                                          <p:attrName>style.visibility</p:attrName>
                                        </p:attrNameLst>
                                      </p:cBhvr>
                                      <p:to>
                                        <p:strVal val="visible"/>
                                      </p:to>
                                    </p:set>
                                    <p:animEffect filter="fade" transition="in">
                                      <p:cBhvr>
                                        <p:cTn dur="500"/>
                                        <p:tgtEl>
                                          <p:spTgt spid="58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xEl>
                                              <p:pRg end="12" st="12"/>
                                            </p:txEl>
                                          </p:spTgt>
                                        </p:tgtEl>
                                        <p:attrNameLst>
                                          <p:attrName>style.visibility</p:attrName>
                                        </p:attrNameLst>
                                      </p:cBhvr>
                                      <p:to>
                                        <p:strVal val="visible"/>
                                      </p:to>
                                    </p:set>
                                    <p:animEffect filter="fade" transition="in">
                                      <p:cBhvr>
                                        <p:cTn dur="500"/>
                                        <p:tgtEl>
                                          <p:spTgt spid="581">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1"/>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Other Considerations</a:t>
            </a:r>
            <a:endParaRPr/>
          </a:p>
        </p:txBody>
      </p:sp>
      <p:sp>
        <p:nvSpPr>
          <p:cNvPr id="587" name="Google Shape;587;p31"/>
          <p:cNvSpPr txBox="1"/>
          <p:nvPr>
            <p:ph idx="1" type="body"/>
          </p:nvPr>
        </p:nvSpPr>
        <p:spPr>
          <a:xfrm>
            <a:off x="457200" y="1268412"/>
            <a:ext cx="8229600" cy="48577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The topic must be interesting to you!</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do you really care about the answer?</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will you be able to sustain your enthusiasm?</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is the topic “off the shelf” or your own?</a:t>
            </a:r>
            <a:endParaRPr/>
          </a:p>
          <a:p>
            <a:pPr indent="-285750" lvl="1" marL="742950" rtl="0" algn="l">
              <a:lnSpc>
                <a:spcPct val="9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much</a:t>
            </a:r>
            <a:r>
              <a:rPr b="0" i="0" lang="en-US" sz="2800" u="none">
                <a:solidFill>
                  <a:schemeClr val="dk1"/>
                </a:solidFill>
                <a:latin typeface="Arial"/>
                <a:ea typeface="Arial"/>
                <a:cs typeface="Arial"/>
                <a:sym typeface="Arial"/>
              </a:rPr>
              <a:t> harder work if you find it boring!</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What skills will it require of you?</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review, survey, experiment, analysis …?</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Transfer of ownership and responsibility</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from supervisor to you</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32"/>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Types of research project</a:t>
            </a:r>
            <a:endParaRPr/>
          </a:p>
        </p:txBody>
      </p:sp>
      <p:sp>
        <p:nvSpPr>
          <p:cNvPr id="593" name="Google Shape;593;p32"/>
          <p:cNvSpPr txBox="1"/>
          <p:nvPr>
            <p:ph idx="1" type="body"/>
          </p:nvPr>
        </p:nvSpPr>
        <p:spPr>
          <a:xfrm>
            <a:off x="762000" y="16764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Experimental study</a:t>
            </a:r>
            <a:endParaRPr b="0" i="0" sz="3200" u="none">
              <a:solidFill>
                <a:schemeClr val="dk1"/>
              </a:solidFill>
              <a:latin typeface="Arial"/>
              <a:ea typeface="Arial"/>
              <a:cs typeface="Arial"/>
              <a:sym typeface="Arial"/>
            </a:endParaRPr>
          </a:p>
          <a:p>
            <a:pPr indent="-285750" lvl="1" marL="742950" rtl="0" algn="l">
              <a:lnSpc>
                <a:spcPct val="10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eg </a:t>
            </a:r>
            <a:r>
              <a:rPr b="0" i="0" lang="en-US" sz="2000" u="none">
                <a:solidFill>
                  <a:schemeClr val="dk1"/>
                </a:solidFill>
                <a:latin typeface="Arial"/>
                <a:ea typeface="Arial"/>
                <a:cs typeface="Arial"/>
                <a:sym typeface="Arial"/>
              </a:rPr>
              <a:t>investigate properties of material ….</a:t>
            </a:r>
            <a:endParaRPr b="0" i="0" sz="2800" u="none">
              <a:solidFill>
                <a:schemeClr val="dk1"/>
              </a:solidFill>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Survey</a:t>
            </a:r>
            <a:endParaRPr b="0" i="0" sz="3200" u="none">
              <a:solidFill>
                <a:schemeClr val="dk1"/>
              </a:solidFill>
              <a:latin typeface="Arial"/>
              <a:ea typeface="Arial"/>
              <a:cs typeface="Arial"/>
              <a:sym typeface="Arial"/>
            </a:endParaRPr>
          </a:p>
          <a:p>
            <a:pPr indent="-285750" lvl="1" marL="742950" rtl="0" algn="l">
              <a:lnSpc>
                <a:spcPct val="10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eg</a:t>
            </a:r>
            <a:r>
              <a:rPr b="0" i="0" lang="en-US" sz="2000" u="none">
                <a:solidFill>
                  <a:schemeClr val="dk1"/>
                </a:solidFill>
                <a:latin typeface="Arial"/>
                <a:ea typeface="Arial"/>
                <a:cs typeface="Arial"/>
                <a:sym typeface="Arial"/>
              </a:rPr>
              <a:t> interviews of people’s attitudes on …..</a:t>
            </a:r>
            <a:endParaRPr b="0" i="0" sz="2800" u="none">
              <a:solidFill>
                <a:schemeClr val="dk1"/>
              </a:solidFill>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Modelling</a:t>
            </a:r>
            <a:endParaRPr b="0" i="0" sz="3200" u="none">
              <a:solidFill>
                <a:schemeClr val="dk1"/>
              </a:solidFill>
              <a:latin typeface="Arial"/>
              <a:ea typeface="Arial"/>
              <a:cs typeface="Arial"/>
              <a:sym typeface="Arial"/>
            </a:endParaRPr>
          </a:p>
          <a:p>
            <a:pPr indent="-285750" lvl="1" marL="742950" rtl="0" algn="l">
              <a:lnSpc>
                <a:spcPct val="10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eg</a:t>
            </a:r>
            <a:r>
              <a:rPr b="0" i="0" lang="en-US" sz="2000" u="none">
                <a:solidFill>
                  <a:schemeClr val="dk1"/>
                </a:solidFill>
                <a:latin typeface="Arial"/>
                <a:ea typeface="Arial"/>
                <a:cs typeface="Arial"/>
                <a:sym typeface="Arial"/>
              </a:rPr>
              <a:t> apply existing model to …</a:t>
            </a:r>
            <a:endParaRPr b="0" i="0" sz="2800" u="none">
              <a:solidFill>
                <a:schemeClr val="dk1"/>
              </a:solidFill>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Software development</a:t>
            </a:r>
            <a:endParaRPr b="0" i="0" sz="3200" u="none">
              <a:solidFill>
                <a:schemeClr val="dk1"/>
              </a:solidFill>
              <a:latin typeface="Arial"/>
              <a:ea typeface="Arial"/>
              <a:cs typeface="Arial"/>
              <a:sym typeface="Arial"/>
            </a:endParaRPr>
          </a:p>
          <a:p>
            <a:pPr indent="-285750" lvl="1" marL="742950" rtl="0" algn="l">
              <a:lnSpc>
                <a:spcPct val="10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eg</a:t>
            </a:r>
            <a:r>
              <a:rPr b="0" i="0" lang="en-US" sz="2000" u="none">
                <a:solidFill>
                  <a:schemeClr val="dk1"/>
                </a:solidFill>
                <a:latin typeface="Arial"/>
                <a:ea typeface="Arial"/>
                <a:cs typeface="Arial"/>
                <a:sym typeface="Arial"/>
              </a:rPr>
              <a:t> writing software to implement …..</a:t>
            </a:r>
            <a:endParaRPr b="0" i="0" sz="2800" u="none">
              <a:solidFill>
                <a:schemeClr val="dk1"/>
              </a:solidFill>
              <a:latin typeface="Arial"/>
              <a:ea typeface="Arial"/>
              <a:cs typeface="Arial"/>
              <a:sym typeface="Arial"/>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Literature review</a:t>
            </a:r>
            <a:endParaRPr b="0" i="0" sz="3200" u="none">
              <a:solidFill>
                <a:schemeClr val="dk1"/>
              </a:solidFill>
              <a:latin typeface="Arial"/>
              <a:ea typeface="Arial"/>
              <a:cs typeface="Arial"/>
              <a:sym typeface="Arial"/>
            </a:endParaRPr>
          </a:p>
          <a:p>
            <a:pPr indent="-285750" lvl="1" marL="742950" rtl="0" algn="l">
              <a:lnSpc>
                <a:spcPct val="10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eg</a:t>
            </a:r>
            <a:r>
              <a:rPr b="0" i="0" lang="en-US" sz="2000" u="none">
                <a:solidFill>
                  <a:schemeClr val="dk1"/>
                </a:solidFill>
                <a:latin typeface="Arial"/>
                <a:ea typeface="Arial"/>
                <a:cs typeface="Arial"/>
                <a:sym typeface="Arial"/>
              </a:rPr>
              <a:t> synthesise / compare previous work on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3"/>
          <p:cNvSpPr txBox="1"/>
          <p:nvPr>
            <p:ph type="title"/>
          </p:nvPr>
        </p:nvSpPr>
        <p:spPr>
          <a:xfrm>
            <a:off x="0" y="0"/>
            <a:ext cx="9140825" cy="87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Structure of proposal</a:t>
            </a:r>
            <a:endParaRPr/>
          </a:p>
        </p:txBody>
      </p:sp>
      <p:sp>
        <p:nvSpPr>
          <p:cNvPr id="599" name="Google Shape;599;p33"/>
          <p:cNvSpPr txBox="1"/>
          <p:nvPr>
            <p:ph idx="1" type="body"/>
          </p:nvPr>
        </p:nvSpPr>
        <p:spPr>
          <a:xfrm>
            <a:off x="685800" y="1104900"/>
            <a:ext cx="7772400" cy="51625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Aims and objectives of research</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Introduction, background</a:t>
            </a:r>
            <a:endParaRPr b="0" i="0" sz="32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overview of what is known, need for this work</a:t>
            </a:r>
            <a:endParaRPr b="0" i="0" sz="2800" u="none">
              <a:solidFill>
                <a:schemeClr val="dk1"/>
              </a:solidFill>
              <a:latin typeface="Arial"/>
              <a:ea typeface="Arial"/>
              <a:cs typeface="Arial"/>
              <a:sym typeface="Arial"/>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Methods to be used</a:t>
            </a:r>
            <a:endParaRPr b="0" i="0" sz="32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1" lang="en-US" sz="2000" u="none">
                <a:solidFill>
                  <a:schemeClr val="dk1"/>
                </a:solidFill>
                <a:latin typeface="Arial"/>
                <a:ea typeface="Arial"/>
                <a:cs typeface="Arial"/>
                <a:sym typeface="Arial"/>
              </a:rPr>
              <a:t>eg</a:t>
            </a:r>
            <a:r>
              <a:rPr b="0" i="0" lang="en-US" sz="2000" u="none">
                <a:solidFill>
                  <a:schemeClr val="dk1"/>
                </a:solidFill>
                <a:latin typeface="Arial"/>
                <a:ea typeface="Arial"/>
                <a:cs typeface="Arial"/>
                <a:sym typeface="Arial"/>
              </a:rPr>
              <a:t> sources of data, lab experiments, surveys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anticipated nature of results</a:t>
            </a:r>
            <a:endParaRPr b="0" i="0" sz="2800" u="none">
              <a:solidFill>
                <a:schemeClr val="dk1"/>
              </a:solidFill>
              <a:latin typeface="Arial"/>
              <a:ea typeface="Arial"/>
              <a:cs typeface="Arial"/>
              <a:sym typeface="Arial"/>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Programme of work</a:t>
            </a:r>
            <a:endParaRPr b="0" i="0" sz="32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key stages, estimated duration, milestones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Gantt chart or similar?</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deliverables</a:t>
            </a:r>
            <a:endParaRPr b="0" i="0" sz="2800" u="none">
              <a:solidFill>
                <a:schemeClr val="dk1"/>
              </a:solidFill>
              <a:latin typeface="Arial"/>
              <a:ea typeface="Arial"/>
              <a:cs typeface="Arial"/>
              <a:sym typeface="Arial"/>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List of references</a:t>
            </a:r>
            <a:endParaRPr b="0" i="0" sz="3200" u="none">
              <a:solidFill>
                <a:schemeClr val="dk1"/>
              </a:solidFill>
              <a:latin typeface="Arial"/>
              <a:ea typeface="Arial"/>
              <a:cs typeface="Arial"/>
              <a:sym typeface="Arial"/>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Tip: Always useful to look at (good) examples</a:t>
            </a:r>
            <a:endParaRPr b="0" i="0" sz="32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but not to follow slavishly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34"/>
          <p:cNvSpPr txBox="1"/>
          <p:nvPr/>
        </p:nvSpPr>
        <p:spPr>
          <a:xfrm>
            <a:off x="304800" y="1600200"/>
            <a:ext cx="8382000" cy="35607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Importance of publishing the findings of your research:</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“Publish or Perish” is an old saying in the academic circles. Its implication is that the primary motivation for academics to publish is to serve themselves; to save their own careers. Whilst the converse of this statement might be true that lack of publication does not serve the career of the average researcher or academic, in most cases there are higher motivations and responsibilities that results in the publishing research findings. We had previously discussed some of these motivations but in short, they are: </a:t>
            </a:r>
            <a:endParaRPr/>
          </a:p>
        </p:txBody>
      </p:sp>
      <p:sp>
        <p:nvSpPr>
          <p:cNvPr id="605" name="Google Shape;605;p34"/>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35"/>
          <p:cNvSpPr txBox="1"/>
          <p:nvPr/>
        </p:nvSpPr>
        <p:spPr>
          <a:xfrm>
            <a:off x="533400" y="1676400"/>
            <a:ext cx="8001000" cy="3743325"/>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It is essential to share the results of our findings. Research costs money and those who supply the money must get something of value in return.</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It is through research that the totality of the human body of knowledge increases. We must as “pampered” and “privileged”  individuals in the society, and in the name of progress, discharge our obligations towards our kind.</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Human knowledge belongs to all humanity, it must be shared and made available publicly.</a:t>
            </a:r>
            <a:endParaRPr/>
          </a:p>
        </p:txBody>
      </p:sp>
      <p:sp>
        <p:nvSpPr>
          <p:cNvPr id="611" name="Google Shape;611;p35"/>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36"/>
          <p:cNvSpPr txBox="1"/>
          <p:nvPr/>
        </p:nvSpPr>
        <p:spPr>
          <a:xfrm>
            <a:off x="457200" y="1371600"/>
            <a:ext cx="8305800" cy="48387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Knowledge is the only commodity in the world that actually increases in value and extent only when shared. The researcher’s duty is to increase knowledge.</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We must share our experiences with our colleagues to assist them in their quests.</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We must expose our work to critique by those who can evaluate our work in terms of value, interest and accuracy. </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We must publish so that we can give credit to those whose work has been instrumental in us arriving at our findings.</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We must publish as  researchers’ professional value can only be evaluated in terms of  their output.</a:t>
            </a:r>
            <a:endParaRPr/>
          </a:p>
        </p:txBody>
      </p:sp>
      <p:sp>
        <p:nvSpPr>
          <p:cNvPr id="617" name="Google Shape;617;p36"/>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7"/>
          <p:cNvSpPr txBox="1"/>
          <p:nvPr/>
        </p:nvSpPr>
        <p:spPr>
          <a:xfrm>
            <a:off x="838200" y="2667000"/>
            <a:ext cx="7010400" cy="32766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3" name="Google Shape;623;p37"/>
          <p:cNvSpPr txBox="1"/>
          <p:nvPr/>
        </p:nvSpPr>
        <p:spPr>
          <a:xfrm>
            <a:off x="228600" y="137160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Types of research articles:</a:t>
            </a:r>
            <a:endParaRPr/>
          </a:p>
        </p:txBody>
      </p:sp>
      <p:sp>
        <p:nvSpPr>
          <p:cNvPr id="624" name="Google Shape;624;p37"/>
          <p:cNvSpPr txBox="1"/>
          <p:nvPr/>
        </p:nvSpPr>
        <p:spPr>
          <a:xfrm>
            <a:off x="304800" y="1828800"/>
            <a:ext cx="84582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Research results may be published in many ways. These are some of the more traditional ones:</a:t>
            </a:r>
            <a:endParaRPr/>
          </a:p>
        </p:txBody>
      </p:sp>
      <p:sp>
        <p:nvSpPr>
          <p:cNvPr id="625" name="Google Shape;625;p37"/>
          <p:cNvSpPr txBox="1"/>
          <p:nvPr/>
        </p:nvSpPr>
        <p:spPr>
          <a:xfrm>
            <a:off x="838200" y="2667000"/>
            <a:ext cx="7772400" cy="319563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 journal article</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 conference paper</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An article in a trade or scholarly periodical</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 thesis</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 research report</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 research monograph</a:t>
            </a:r>
            <a:endParaRPr/>
          </a:p>
        </p:txBody>
      </p:sp>
      <p:sp>
        <p:nvSpPr>
          <p:cNvPr id="626" name="Google Shape;626;p37"/>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8"/>
          <p:cNvSpPr txBox="1"/>
          <p:nvPr/>
        </p:nvSpPr>
        <p:spPr>
          <a:xfrm>
            <a:off x="228600" y="1295400"/>
            <a:ext cx="5486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Journal papers:</a:t>
            </a:r>
            <a:endParaRPr/>
          </a:p>
        </p:txBody>
      </p:sp>
      <p:sp>
        <p:nvSpPr>
          <p:cNvPr id="632" name="Google Shape;632;p38"/>
          <p:cNvSpPr txBox="1"/>
          <p:nvPr/>
        </p:nvSpPr>
        <p:spPr>
          <a:xfrm>
            <a:off x="152400" y="1752600"/>
            <a:ext cx="8458200" cy="822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Each discipline has a number of “journals” where the findings in the discipline are published. These come in two general categories:</a:t>
            </a:r>
            <a:endParaRPr/>
          </a:p>
        </p:txBody>
      </p:sp>
      <p:sp>
        <p:nvSpPr>
          <p:cNvPr id="633" name="Google Shape;633;p38"/>
          <p:cNvSpPr txBox="1"/>
          <p:nvPr/>
        </p:nvSpPr>
        <p:spPr>
          <a:xfrm>
            <a:off x="2133600" y="2667000"/>
            <a:ext cx="3886200" cy="100488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Peer reviewed</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Non- peer-reviewed</a:t>
            </a:r>
            <a:endParaRPr/>
          </a:p>
        </p:txBody>
      </p:sp>
      <p:sp>
        <p:nvSpPr>
          <p:cNvPr id="634" name="Google Shape;634;p38"/>
          <p:cNvSpPr txBox="1"/>
          <p:nvPr/>
        </p:nvSpPr>
        <p:spPr>
          <a:xfrm>
            <a:off x="304800" y="3810000"/>
            <a:ext cx="8305800" cy="22828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peer-reviewed journal is one in which the articles submitted for publication are sent to a panel of expert “peers” in the discipline to read and evaluate the suitability of publication of the material presented. Only peer-reviewed publications are of significance as scientific research publication. We shall not discuss non-reviewed publications.</a:t>
            </a:r>
            <a:endParaRPr/>
          </a:p>
        </p:txBody>
      </p:sp>
      <p:sp>
        <p:nvSpPr>
          <p:cNvPr id="635" name="Google Shape;635;p38"/>
          <p:cNvSpPr txBox="1"/>
          <p:nvPr/>
        </p:nvSpPr>
        <p:spPr>
          <a:xfrm>
            <a:off x="0" y="252412"/>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39"/>
          <p:cNvSpPr txBox="1"/>
          <p:nvPr/>
        </p:nvSpPr>
        <p:spPr>
          <a:xfrm>
            <a:off x="304800" y="1371600"/>
            <a:ext cx="502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Peer-reviewed journals:</a:t>
            </a:r>
            <a:endParaRPr/>
          </a:p>
        </p:txBody>
      </p:sp>
      <p:sp>
        <p:nvSpPr>
          <p:cNvPr id="641" name="Google Shape;641;p39"/>
          <p:cNvSpPr txBox="1"/>
          <p:nvPr/>
        </p:nvSpPr>
        <p:spPr>
          <a:xfrm>
            <a:off x="381000" y="1828800"/>
            <a:ext cx="8229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Reviewed journals again fall into two categories:</a:t>
            </a:r>
            <a:endParaRPr/>
          </a:p>
        </p:txBody>
      </p:sp>
      <p:sp>
        <p:nvSpPr>
          <p:cNvPr id="642" name="Google Shape;642;p39"/>
          <p:cNvSpPr txBox="1"/>
          <p:nvPr/>
        </p:nvSpPr>
        <p:spPr>
          <a:xfrm>
            <a:off x="1447800" y="2286000"/>
            <a:ext cx="4800600" cy="100488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Archival journals</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Non-archival journals</a:t>
            </a:r>
            <a:endParaRPr/>
          </a:p>
        </p:txBody>
      </p:sp>
      <p:sp>
        <p:nvSpPr>
          <p:cNvPr id="643" name="Google Shape;643;p39"/>
          <p:cNvSpPr txBox="1"/>
          <p:nvPr/>
        </p:nvSpPr>
        <p:spPr>
          <a:xfrm>
            <a:off x="457200" y="3429000"/>
            <a:ext cx="8458200" cy="28305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Archival journals are those that are usually reviewed most stringently and usually only contain the “</a:t>
            </a:r>
            <a:r>
              <a:rPr b="0" i="0" lang="en-US" sz="2400" u="none">
                <a:solidFill>
                  <a:srgbClr val="FF3300"/>
                </a:solidFill>
                <a:latin typeface="Times New Roman"/>
                <a:ea typeface="Times New Roman"/>
                <a:cs typeface="Times New Roman"/>
                <a:sym typeface="Times New Roman"/>
              </a:rPr>
              <a:t>confirmed</a:t>
            </a:r>
            <a:r>
              <a:rPr b="0" i="0" lang="en-US" sz="2400" u="none">
                <a:solidFill>
                  <a:schemeClr val="dk1"/>
                </a:solidFill>
                <a:latin typeface="Times New Roman"/>
                <a:ea typeface="Times New Roman"/>
                <a:cs typeface="Times New Roman"/>
                <a:sym typeface="Times New Roman"/>
              </a:rPr>
              <a:t>” and “</a:t>
            </a:r>
            <a:r>
              <a:rPr b="0" i="0" lang="en-US" sz="2400" u="none">
                <a:solidFill>
                  <a:srgbClr val="FF3300"/>
                </a:solidFill>
                <a:latin typeface="Times New Roman"/>
                <a:ea typeface="Times New Roman"/>
                <a:cs typeface="Times New Roman"/>
                <a:sym typeface="Times New Roman"/>
              </a:rPr>
              <a:t>principle</a:t>
            </a:r>
            <a:r>
              <a:rPr b="0" i="0" lang="en-US" sz="2400" u="none">
                <a:solidFill>
                  <a:schemeClr val="dk1"/>
                </a:solidFill>
                <a:latin typeface="Times New Roman"/>
                <a:ea typeface="Times New Roman"/>
                <a:cs typeface="Times New Roman"/>
                <a:sym typeface="Times New Roman"/>
              </a:rPr>
              <a:t>” findings of the discipline. Those that establish or extend the foundation for the discipline. </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Non-archival journals publish those papers, that whilst important, report on the “</a:t>
            </a:r>
            <a:r>
              <a:rPr b="0" i="0" lang="en-US" sz="2400" u="none">
                <a:solidFill>
                  <a:srgbClr val="FF3300"/>
                </a:solidFill>
                <a:latin typeface="Times New Roman"/>
                <a:ea typeface="Times New Roman"/>
                <a:cs typeface="Times New Roman"/>
                <a:sym typeface="Times New Roman"/>
              </a:rPr>
              <a:t>newest</a:t>
            </a:r>
            <a:r>
              <a:rPr b="0" i="0" lang="en-US" sz="2400" u="none">
                <a:solidFill>
                  <a:schemeClr val="dk1"/>
                </a:solidFill>
                <a:latin typeface="Times New Roman"/>
                <a:ea typeface="Times New Roman"/>
                <a:cs typeface="Times New Roman"/>
                <a:sym typeface="Times New Roman"/>
              </a:rPr>
              <a:t>”and most significant “</a:t>
            </a:r>
            <a:r>
              <a:rPr b="0" i="0" lang="en-US" sz="2400" u="none">
                <a:solidFill>
                  <a:srgbClr val="FF3300"/>
                </a:solidFill>
                <a:latin typeface="Times New Roman"/>
                <a:ea typeface="Times New Roman"/>
                <a:cs typeface="Times New Roman"/>
                <a:sym typeface="Times New Roman"/>
              </a:rPr>
              <a:t>current</a:t>
            </a:r>
            <a:r>
              <a:rPr b="0" i="0" lang="en-US" sz="2400" u="none">
                <a:solidFill>
                  <a:schemeClr val="dk1"/>
                </a:solidFill>
                <a:latin typeface="Times New Roman"/>
                <a:ea typeface="Times New Roman"/>
                <a:cs typeface="Times New Roman"/>
                <a:sym typeface="Times New Roman"/>
              </a:rPr>
              <a:t>” developments in the field. Yet the work may need further qualification. </a:t>
            </a:r>
            <a:endParaRPr/>
          </a:p>
        </p:txBody>
      </p:sp>
      <p:sp>
        <p:nvSpPr>
          <p:cNvPr id="644" name="Google Shape;644;p39"/>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40"/>
          <p:cNvSpPr txBox="1"/>
          <p:nvPr/>
        </p:nvSpPr>
        <p:spPr>
          <a:xfrm>
            <a:off x="457200" y="1600200"/>
            <a:ext cx="8153400" cy="44735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most prestigious and significant peer-reviewed journals usually do not have a page limit and allow the article to be as long as it is necessary for it to convey the message (within reason of course). This is particularly the case with archival journals. </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Archival journals are usually identified by the terms such as:</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Transactions on….,  Annals of…., Archives of…, </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Non-archival journals usually are termed:</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Journal of…,  ….. Journal, …… Today, Communications of the …, </a:t>
            </a:r>
            <a:endParaRPr/>
          </a:p>
        </p:txBody>
      </p:sp>
      <p:sp>
        <p:nvSpPr>
          <p:cNvPr id="650" name="Google Shape;650;p40"/>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1"/>
          <p:cNvSpPr txBox="1"/>
          <p:nvPr/>
        </p:nvSpPr>
        <p:spPr>
          <a:xfrm>
            <a:off x="228600" y="1447800"/>
            <a:ext cx="5791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Conferences and conference papers:</a:t>
            </a:r>
            <a:endParaRPr/>
          </a:p>
        </p:txBody>
      </p:sp>
      <p:sp>
        <p:nvSpPr>
          <p:cNvPr id="656" name="Google Shape;656;p41"/>
          <p:cNvSpPr txBox="1"/>
          <p:nvPr/>
        </p:nvSpPr>
        <p:spPr>
          <a:xfrm>
            <a:off x="304800" y="1981200"/>
            <a:ext cx="86106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Almost every discipline also has a number of conferences associated with work in it. Conferences may be:</a:t>
            </a:r>
            <a:endParaRPr/>
          </a:p>
        </p:txBody>
      </p:sp>
      <p:sp>
        <p:nvSpPr>
          <p:cNvPr id="657" name="Google Shape;657;p41"/>
          <p:cNvSpPr txBox="1"/>
          <p:nvPr/>
        </p:nvSpPr>
        <p:spPr>
          <a:xfrm>
            <a:off x="2133600" y="3048000"/>
            <a:ext cx="6172200" cy="210026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Commercially or trade oriented</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Professionally/scholarly oriented, or </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Research oriented.  </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8" name="Google Shape;658;p41"/>
          <p:cNvSpPr txBox="1"/>
          <p:nvPr/>
        </p:nvSpPr>
        <p:spPr>
          <a:xfrm>
            <a:off x="381000" y="4953000"/>
            <a:ext cx="83058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Commercially oriented conferences are really trade shows, we will not discuss them here.</a:t>
            </a:r>
            <a:endParaRPr/>
          </a:p>
        </p:txBody>
      </p:sp>
      <p:sp>
        <p:nvSpPr>
          <p:cNvPr id="659" name="Google Shape;659;p41"/>
          <p:cNvSpPr txBox="1"/>
          <p:nvPr/>
        </p:nvSpPr>
        <p:spPr>
          <a:xfrm>
            <a:off x="0" y="220662"/>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42"/>
          <p:cNvSpPr txBox="1"/>
          <p:nvPr/>
        </p:nvSpPr>
        <p:spPr>
          <a:xfrm>
            <a:off x="457200" y="1447800"/>
            <a:ext cx="8305800" cy="3925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Professional/scholarly conferences provide opportunities for high level professionals and scholars in a given field to get together and exchange ideas, methods and techniques attend tutorials or to establish collaboration for the future or to “compare notes”. Usually a set of “proceedings” are published which contains the copies or abstracts (sometimes full text) of the various or all of the presentations.</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Whilst researchers might benefit from attending a number of these conferences, they are not where research or at least first hand research is discussed.</a:t>
            </a:r>
            <a:endParaRPr/>
          </a:p>
        </p:txBody>
      </p:sp>
      <p:sp>
        <p:nvSpPr>
          <p:cNvPr id="665" name="Google Shape;665;p42"/>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3"/>
          <p:cNvSpPr txBox="1"/>
          <p:nvPr/>
        </p:nvSpPr>
        <p:spPr>
          <a:xfrm>
            <a:off x="381000" y="1600200"/>
            <a:ext cx="8382000" cy="4108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Research oriented conferences are the venues where a dynamic discipline exposes the world to the research work-in-progress or emerging research directions. Research oriented conferences usually are in the form of a series of paper presentations by the researchers conducting the research or their close associates. These papers are usually peer-reviewed and although accommodation is usually made that the work is still in progress or that stringent validation may not have been performed on the results, nevertheless, effort is made that only robust and high quality work is presented. The reputation and the quality of a conference is only a function of the quality of the peer-review performed.</a:t>
            </a:r>
            <a:endParaRPr/>
          </a:p>
        </p:txBody>
      </p:sp>
      <p:sp>
        <p:nvSpPr>
          <p:cNvPr id="671" name="Google Shape;671;p43"/>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4"/>
          <p:cNvSpPr txBox="1"/>
          <p:nvPr/>
        </p:nvSpPr>
        <p:spPr>
          <a:xfrm>
            <a:off x="381000" y="1600200"/>
            <a:ext cx="8382000" cy="4108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Conference papers are usually limited in terms of page numbers allowed (usually a maximum of 5-8 pages) and the presentation slides used during the actual talk would not be published nor acceptable in lieu of a full-length paper.</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Each conference usually has its own styles, rules and requirements pertaining to how a paper is prepared, reviewed, published and presented.</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Of course all the rules of good  writing style (to be discussed shortly) pertinent to journal papers also apply to conference papers.</a:t>
            </a:r>
            <a:endParaRPr/>
          </a:p>
        </p:txBody>
      </p:sp>
      <p:sp>
        <p:nvSpPr>
          <p:cNvPr id="677" name="Google Shape;677;p44"/>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45"/>
          <p:cNvSpPr txBox="1"/>
          <p:nvPr/>
        </p:nvSpPr>
        <p:spPr>
          <a:xfrm>
            <a:off x="304800" y="1371600"/>
            <a:ext cx="624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Articles in  trade or scholarly periodicals:</a:t>
            </a:r>
            <a:endParaRPr/>
          </a:p>
        </p:txBody>
      </p:sp>
      <p:sp>
        <p:nvSpPr>
          <p:cNvPr id="683" name="Google Shape;683;p45"/>
          <p:cNvSpPr txBox="1"/>
          <p:nvPr/>
        </p:nvSpPr>
        <p:spPr>
          <a:xfrm>
            <a:off x="381000" y="2590800"/>
            <a:ext cx="8382000" cy="2830512"/>
          </a:xfrm>
          <a:prstGeom prst="rect">
            <a:avLst/>
          </a:prstGeom>
          <a:noFill/>
          <a:ln>
            <a:noFill/>
          </a:ln>
        </p:spPr>
        <p:txBody>
          <a:bodyPr anchorCtr="0" anchor="t" bIns="45700" lIns="91425" spcFirstLastPara="1" rIns="91425" wrap="square" tIns="45700">
            <a:spAutoFit/>
          </a:bodyPr>
          <a:lstStyle/>
          <a:p>
            <a:pPr indent="4761" lvl="0" marL="53975"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These articles have the same relationship to archival articles as do trade or professional conferences have to research conferences. This means that they are a venue for the publication of material that might be of value to the profession or the research community which may not be publishable in an archival or research journal. For example:</a:t>
            </a:r>
            <a:endParaRPr/>
          </a:p>
          <a:p>
            <a:pPr indent="4761" lvl="0" marL="53975"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endParaRPr/>
          </a:p>
        </p:txBody>
      </p:sp>
      <p:sp>
        <p:nvSpPr>
          <p:cNvPr id="684" name="Google Shape;684;p45"/>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6"/>
          <p:cNvSpPr txBox="1"/>
          <p:nvPr/>
        </p:nvSpPr>
        <p:spPr>
          <a:xfrm>
            <a:off x="381000" y="1447800"/>
            <a:ext cx="8458200" cy="48387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Material that is not original research but is an application of some current or established research which highlights a new issue or opens a question etc.</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Material that proposes a research project of interest or a collaboration for a project.</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 case study or an experience report</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 revalidation of previous research</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Scholarly (non-research) work of an eminent authority</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Advice, methodologies, and advocations of eminent authorities.</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0" name="Google Shape;690;p46"/>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47"/>
          <p:cNvSpPr txBox="1"/>
          <p:nvPr/>
        </p:nvSpPr>
        <p:spPr>
          <a:xfrm>
            <a:off x="381000" y="1752600"/>
            <a:ext cx="8229600" cy="3925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These articles are also of limited page extent and must conform to a strict set of style and publication rules. They are also stringently peer-reviewed (usually) and researchers are expected to contribute to this kind of publication as part of their publication history.</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Despite what might seem initially, this kind of publication is extremely important as it is usually through this avenue that results of theoretical research are transferred to a wider audience of not necessarily research oriented professionals in the discipline.</a:t>
            </a:r>
            <a:endParaRPr/>
          </a:p>
        </p:txBody>
      </p:sp>
      <p:sp>
        <p:nvSpPr>
          <p:cNvPr id="696" name="Google Shape;696;p47"/>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48"/>
          <p:cNvSpPr txBox="1"/>
          <p:nvPr/>
        </p:nvSpPr>
        <p:spPr>
          <a:xfrm>
            <a:off x="457200" y="1295400"/>
            <a:ext cx="7467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Theses:</a:t>
            </a:r>
            <a:endParaRPr/>
          </a:p>
        </p:txBody>
      </p:sp>
      <p:sp>
        <p:nvSpPr>
          <p:cNvPr id="702" name="Google Shape;702;p48"/>
          <p:cNvSpPr txBox="1"/>
          <p:nvPr/>
        </p:nvSpPr>
        <p:spPr>
          <a:xfrm>
            <a:off x="381000" y="1828800"/>
            <a:ext cx="8534400" cy="4108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In the centuries past, theses were the primary means of exchange of scholarly ideas. Scholars/researchers wrote a number of these, each dealing with the way they viewed a particular aspect of their work and thus reported not only their findings but also what they </a:t>
            </a:r>
            <a:r>
              <a:rPr b="0" i="0" lang="en-US" sz="2400" u="none">
                <a:solidFill>
                  <a:srgbClr val="FF3300"/>
                </a:solidFill>
                <a:latin typeface="Times New Roman"/>
                <a:ea typeface="Times New Roman"/>
                <a:cs typeface="Times New Roman"/>
                <a:sym typeface="Times New Roman"/>
              </a:rPr>
              <a:t>knew</a:t>
            </a:r>
            <a:r>
              <a:rPr b="0" i="0" lang="en-US" sz="2400" u="none">
                <a:solidFill>
                  <a:schemeClr val="dk1"/>
                </a:solidFill>
                <a:latin typeface="Times New Roman"/>
                <a:ea typeface="Times New Roman"/>
                <a:cs typeface="Times New Roman"/>
                <a:sym typeface="Times New Roman"/>
              </a:rPr>
              <a:t> about the subject at hand. </a:t>
            </a:r>
            <a:r>
              <a:rPr b="0" i="1" lang="en-US" sz="2400" u="none">
                <a:solidFill>
                  <a:schemeClr val="dk1"/>
                </a:solidFill>
                <a:latin typeface="Times New Roman"/>
                <a:ea typeface="Times New Roman"/>
                <a:cs typeface="Times New Roman"/>
                <a:sym typeface="Times New Roman"/>
              </a:rPr>
              <a:t>Principia</a:t>
            </a:r>
            <a:r>
              <a:rPr b="0" i="0" lang="en-US" sz="2400" u="none">
                <a:solidFill>
                  <a:schemeClr val="dk1"/>
                </a:solidFill>
                <a:latin typeface="Times New Roman"/>
                <a:ea typeface="Times New Roman"/>
                <a:cs typeface="Times New Roman"/>
                <a:sym typeface="Times New Roman"/>
              </a:rPr>
              <a:t> </a:t>
            </a:r>
            <a:r>
              <a:rPr b="0" i="1" lang="en-US" sz="2400" u="none">
                <a:solidFill>
                  <a:schemeClr val="dk1"/>
                </a:solidFill>
                <a:latin typeface="Times New Roman"/>
                <a:ea typeface="Times New Roman"/>
                <a:cs typeface="Times New Roman"/>
                <a:sym typeface="Times New Roman"/>
              </a:rPr>
              <a:t>Mathematica</a:t>
            </a:r>
            <a:r>
              <a:rPr b="0" i="0" lang="en-US" sz="2400" u="none">
                <a:solidFill>
                  <a:schemeClr val="dk1"/>
                </a:solidFill>
                <a:latin typeface="Times New Roman"/>
                <a:ea typeface="Times New Roman"/>
                <a:cs typeface="Times New Roman"/>
                <a:sym typeface="Times New Roman"/>
              </a:rPr>
              <a:t> is one such thesis.</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In recent years the meaning of the word has somewhat changed and the role a thesis played previously is now played by another artifact called a research monogram. </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thesis today is a major written work reporting on an identifiable piece of research conducted by a candidate for a higher degree.</a:t>
            </a:r>
            <a:endParaRPr/>
          </a:p>
        </p:txBody>
      </p:sp>
      <p:sp>
        <p:nvSpPr>
          <p:cNvPr id="703" name="Google Shape;703;p48"/>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9"/>
          <p:cNvSpPr txBox="1"/>
          <p:nvPr/>
        </p:nvSpPr>
        <p:spPr>
          <a:xfrm>
            <a:off x="381000" y="1600200"/>
            <a:ext cx="8382000" cy="3743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thesis today, therefore, is a right of passage. It is an unabridged documented evidence that the candidate is capable of conducting independent research and of reporting its findings. Whilst a thesis is the usual requirement for PhD degrees, sometimes other lower degrees such as the MBA, JD, MD or DDS or at times some MSc or MA degrees also require a thesis. I also know that at least one BSc program also requires a full length thesis. Many require mini-theses. However, many non-doctoral “theses” are not necessarily research oriented or for the purpose of research training; at least in the sense of our discussion here.</a:t>
            </a:r>
            <a:endParaRPr/>
          </a:p>
        </p:txBody>
      </p:sp>
      <p:sp>
        <p:nvSpPr>
          <p:cNvPr id="709" name="Google Shape;709;p49"/>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0"/>
          <p:cNvSpPr txBox="1"/>
          <p:nvPr/>
        </p:nvSpPr>
        <p:spPr>
          <a:xfrm>
            <a:off x="304800" y="4724400"/>
            <a:ext cx="8686800" cy="12954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5" name="Google Shape;715;p50"/>
          <p:cNvSpPr txBox="1"/>
          <p:nvPr/>
        </p:nvSpPr>
        <p:spPr>
          <a:xfrm>
            <a:off x="304800" y="1447800"/>
            <a:ext cx="8610600" cy="4656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research oriented thesis however is a valuable artifact. Theses are retained in the libraries of universities where they were submitted and are made available in full or abridged format as the original report of a research project.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Although it is true that the thesis written by most researchers ends up NOT being their most significant contribution, it is NOT true that theses are not significant contributions. In fact many theses have become major pieces of research in a discipline. For example</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 Borglie’s thesis on particle wave theory won him the Nobel Prize</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Petri’s thesis on Petri nets and Lotfi-Zadeh’s thesis on Fuzzy logic are amongst the two greatest contributions of all times.</a:t>
            </a:r>
            <a:endParaRPr/>
          </a:p>
        </p:txBody>
      </p:sp>
      <p:sp>
        <p:nvSpPr>
          <p:cNvPr id="716" name="Google Shape;716;p50"/>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51"/>
          <p:cNvSpPr txBox="1"/>
          <p:nvPr/>
        </p:nvSpPr>
        <p:spPr>
          <a:xfrm>
            <a:off x="381000" y="1219200"/>
            <a:ext cx="8534400" cy="5021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Theses are largely free from page limitation. Mine was over 400 pages. They usually contain a wealth of background or general information (pertinent to the topic) and are extremely useful for quickly learning a lot about a given subject matter. They must contain a sizeable literature review and they must provide easy to follow evidence and description of the method used, data collected, controls placed, etc. As such well-written theses tend to be excellent sources of learning how to design and conduct research.</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Although a thesis is much longer and has different organization and is of a much greater detail than a journal paper and may describe a more extensive project, nevertheless the style of writing to follow is the same as a journal and therefore a well-written thesis is a good source for learning the style of research writing.</a:t>
            </a:r>
            <a:endParaRPr/>
          </a:p>
        </p:txBody>
      </p:sp>
      <p:sp>
        <p:nvSpPr>
          <p:cNvPr id="722" name="Google Shape;722;p51"/>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52"/>
          <p:cNvSpPr txBox="1"/>
          <p:nvPr/>
        </p:nvSpPr>
        <p:spPr>
          <a:xfrm>
            <a:off x="533400" y="2819400"/>
            <a:ext cx="8153400" cy="33528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8" name="Google Shape;728;p52"/>
          <p:cNvSpPr txBox="1"/>
          <p:nvPr/>
        </p:nvSpPr>
        <p:spPr>
          <a:xfrm>
            <a:off x="304800" y="1295400"/>
            <a:ext cx="8458200" cy="155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Surprisingly, the sections (chapters) of a typical thesis may have the same titles (and contain in expanded form, the same material) as those of a journal paper. In general the following is a typical arrangement for a thesis:</a:t>
            </a:r>
            <a:endParaRPr/>
          </a:p>
        </p:txBody>
      </p:sp>
      <p:sp>
        <p:nvSpPr>
          <p:cNvPr id="729" name="Google Shape;729;p52"/>
          <p:cNvSpPr txBox="1"/>
          <p:nvPr/>
        </p:nvSpPr>
        <p:spPr>
          <a:xfrm>
            <a:off x="609600" y="2819400"/>
            <a:ext cx="4648200" cy="337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1:  Introduction</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2:  Scene setting/background</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3: Literature review</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4: The Hypothesis</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5: Methodology and research design</a:t>
            </a:r>
            <a:endParaRPr/>
          </a:p>
        </p:txBody>
      </p:sp>
      <p:sp>
        <p:nvSpPr>
          <p:cNvPr id="730" name="Google Shape;730;p52"/>
          <p:cNvSpPr txBox="1"/>
          <p:nvPr/>
        </p:nvSpPr>
        <p:spPr>
          <a:xfrm>
            <a:off x="4724400" y="2819400"/>
            <a:ext cx="4038600" cy="337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6: Conduct</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7: Results</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8: Analysis</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9: Findings and    impact of work</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Chapter 10: Conclusion             and future work</a:t>
            </a:r>
            <a:endParaRPr/>
          </a:p>
        </p:txBody>
      </p:sp>
      <p:sp>
        <p:nvSpPr>
          <p:cNvPr id="731" name="Google Shape;731;p52"/>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53"/>
          <p:cNvSpPr txBox="1"/>
          <p:nvPr/>
        </p:nvSpPr>
        <p:spPr>
          <a:xfrm>
            <a:off x="304800" y="1447800"/>
            <a:ext cx="6934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Research Report:</a:t>
            </a:r>
            <a:endParaRPr/>
          </a:p>
        </p:txBody>
      </p:sp>
      <p:sp>
        <p:nvSpPr>
          <p:cNvPr id="737" name="Google Shape;737;p53"/>
          <p:cNvSpPr txBox="1"/>
          <p:nvPr/>
        </p:nvSpPr>
        <p:spPr>
          <a:xfrm>
            <a:off x="304800" y="1981200"/>
            <a:ext cx="8458200" cy="3743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research report is also a report written usually without a page number limitation or many other restrictions for the purpose of documenting and publishing research work where details of the work that are not otherwise available in the journal paper are required. A research report is usually shorter than a thesis but longer than a typical archival paper (approximately 20-100 pages) and contains the details of the methodology, information on equipment, data collected in raw or semi-processed form, and any other piece of information needed to adequately understand or to reproduce the work. </a:t>
            </a:r>
            <a:endParaRPr/>
          </a:p>
        </p:txBody>
      </p:sp>
      <p:sp>
        <p:nvSpPr>
          <p:cNvPr id="738" name="Google Shape;738;p53"/>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54"/>
          <p:cNvSpPr txBox="1"/>
          <p:nvPr/>
        </p:nvSpPr>
        <p:spPr>
          <a:xfrm>
            <a:off x="1676400" y="2514600"/>
            <a:ext cx="6096000" cy="15525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Times New Roman"/>
              <a:buNone/>
            </a:pPr>
            <a:r>
              <a:rPr b="1" i="0" lang="en-US" sz="2400" u="none">
                <a:solidFill>
                  <a:srgbClr val="FF3300"/>
                </a:solidFill>
                <a:latin typeface="Times New Roman"/>
                <a:ea typeface="Times New Roman"/>
                <a:cs typeface="Times New Roman"/>
                <a:sym typeface="Times New Roman"/>
              </a:rPr>
              <a:t>IT IS USUALLY A LOT EASIER TO WRITE THESES OR RESEARCH REPORTS THAN IT IS TO WRITE JOURNAL OR CONFERENCE PAPERS.</a:t>
            </a:r>
            <a:endParaRPr/>
          </a:p>
        </p:txBody>
      </p:sp>
      <p:sp>
        <p:nvSpPr>
          <p:cNvPr id="744" name="Google Shape;744;p54"/>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5"/>
          <p:cNvSpPr txBox="1"/>
          <p:nvPr/>
        </p:nvSpPr>
        <p:spPr>
          <a:xfrm>
            <a:off x="457200" y="1371600"/>
            <a:ext cx="5715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A Research Monogram:</a:t>
            </a:r>
            <a:endParaRPr/>
          </a:p>
        </p:txBody>
      </p:sp>
      <p:sp>
        <p:nvSpPr>
          <p:cNvPr id="750" name="Google Shape;750;p55"/>
          <p:cNvSpPr txBox="1"/>
          <p:nvPr/>
        </p:nvSpPr>
        <p:spPr>
          <a:xfrm>
            <a:off x="533400" y="2133600"/>
            <a:ext cx="8077200" cy="1917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research monogram is a book written by the researcher and published by a publisher for the purpose of general sale. It is usually free from most stylistic and logistics limitations otherwise imposed on publications destined for journals or conferences.</a:t>
            </a:r>
            <a:endParaRPr/>
          </a:p>
        </p:txBody>
      </p:sp>
      <p:sp>
        <p:nvSpPr>
          <p:cNvPr id="751" name="Google Shape;751;p55"/>
          <p:cNvSpPr txBox="1"/>
          <p:nvPr/>
        </p:nvSpPr>
        <p:spPr>
          <a:xfrm>
            <a:off x="0" y="252412"/>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6"/>
          <p:cNvSpPr txBox="1"/>
          <p:nvPr/>
        </p:nvSpPr>
        <p:spPr>
          <a:xfrm>
            <a:off x="304800" y="1447800"/>
            <a:ext cx="449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Structure of a research article:</a:t>
            </a:r>
            <a:endParaRPr/>
          </a:p>
        </p:txBody>
      </p:sp>
      <p:sp>
        <p:nvSpPr>
          <p:cNvPr id="757" name="Google Shape;757;p56"/>
          <p:cNvSpPr txBox="1"/>
          <p:nvPr/>
        </p:nvSpPr>
        <p:spPr>
          <a:xfrm>
            <a:off x="457200" y="1981200"/>
            <a:ext cx="8458200" cy="4108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research article (a journal paper, a conference paper, a research report or thesis) is written for the purpose of communicating the findings of research conducted, in a manner that is clear, easy to read and to use.  This means that apart from the fact that the paper should be written in clear and understandable language, be well laid out and follow the style requirements of the publication, it should also follow a particular structure identified through years of experience writing and reading papers to be suitable. Such structure should be sufficiently concise but at the same time adequately detailed. It should contain both general discussion and specific treatment of the new material without confusing the reader. It </a:t>
            </a:r>
            <a:endParaRPr/>
          </a:p>
        </p:txBody>
      </p:sp>
      <p:sp>
        <p:nvSpPr>
          <p:cNvPr id="758" name="Google Shape;758;p56"/>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57"/>
          <p:cNvSpPr txBox="1"/>
          <p:nvPr/>
        </p:nvSpPr>
        <p:spPr>
          <a:xfrm>
            <a:off x="304800" y="1676400"/>
            <a:ext cx="8458200" cy="3743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should  have predictable and suitable sections with the right headings and content organized in a logical and predictable order. </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In contrast to style, most journals do not dictate a particular structure. There are however default formats explicitly or implicitly for each journal and for many types of research reporting. Some disciplines even have their own recommended format for the structure of papers written. </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format usually utilized for reporting the findings of an empirical scientific research project is reported on the next page:</a:t>
            </a:r>
            <a:endParaRPr/>
          </a:p>
        </p:txBody>
      </p:sp>
      <p:sp>
        <p:nvSpPr>
          <p:cNvPr id="764" name="Google Shape;764;p57"/>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8"/>
          <p:cNvSpPr txBox="1"/>
          <p:nvPr/>
        </p:nvSpPr>
        <p:spPr>
          <a:xfrm>
            <a:off x="3581400" y="4724400"/>
            <a:ext cx="4800600" cy="10668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0" name="Google Shape;770;p58"/>
          <p:cNvSpPr txBox="1"/>
          <p:nvPr/>
        </p:nvSpPr>
        <p:spPr>
          <a:xfrm>
            <a:off x="533400" y="1600200"/>
            <a:ext cx="2971800" cy="429101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Title page</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Abstract</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Introduction</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Related work</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Method</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Results</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Discussion</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Conclusion</a:t>
            </a:r>
            <a:endParaRPr/>
          </a:p>
        </p:txBody>
      </p:sp>
      <p:sp>
        <p:nvSpPr>
          <p:cNvPr id="771" name="Google Shape;771;p58"/>
          <p:cNvSpPr txBox="1"/>
          <p:nvPr/>
        </p:nvSpPr>
        <p:spPr>
          <a:xfrm>
            <a:off x="4267200" y="1600200"/>
            <a:ext cx="2971800" cy="319563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startAt="9"/>
            </a:pPr>
            <a:r>
              <a:rPr b="0" i="0" lang="en-US" sz="2400" u="none">
                <a:solidFill>
                  <a:schemeClr val="dk1"/>
                </a:solidFill>
                <a:latin typeface="Times New Roman"/>
                <a:ea typeface="Times New Roman"/>
                <a:cs typeface="Times New Roman"/>
                <a:sym typeface="Times New Roman"/>
              </a:rPr>
              <a:t>References</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9"/>
            </a:pPr>
            <a:r>
              <a:rPr b="0" i="0" lang="en-US" sz="2400" u="none">
                <a:solidFill>
                  <a:schemeClr val="dk1"/>
                </a:solidFill>
                <a:latin typeface="Times New Roman"/>
                <a:ea typeface="Times New Roman"/>
                <a:cs typeface="Times New Roman"/>
                <a:sym typeface="Times New Roman"/>
              </a:rPr>
              <a:t>Appendices</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9"/>
            </a:pPr>
            <a:r>
              <a:rPr b="0" i="0" lang="en-US" sz="2400" u="none">
                <a:solidFill>
                  <a:schemeClr val="dk1"/>
                </a:solidFill>
                <a:latin typeface="Times New Roman"/>
                <a:ea typeface="Times New Roman"/>
                <a:cs typeface="Times New Roman"/>
                <a:sym typeface="Times New Roman"/>
              </a:rPr>
              <a:t>Footnotes</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9"/>
            </a:pPr>
            <a:r>
              <a:rPr b="0" i="0" lang="en-US" sz="2400" u="none">
                <a:solidFill>
                  <a:schemeClr val="dk1"/>
                </a:solidFill>
                <a:latin typeface="Times New Roman"/>
                <a:ea typeface="Times New Roman"/>
                <a:cs typeface="Times New Roman"/>
                <a:sym typeface="Times New Roman"/>
              </a:rPr>
              <a:t>Tables</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9"/>
            </a:pPr>
            <a:r>
              <a:rPr b="0" i="0" lang="en-US" sz="2400" u="none">
                <a:solidFill>
                  <a:schemeClr val="dk1"/>
                </a:solidFill>
                <a:latin typeface="Times New Roman"/>
                <a:ea typeface="Times New Roman"/>
                <a:cs typeface="Times New Roman"/>
                <a:sym typeface="Times New Roman"/>
              </a:rPr>
              <a:t>Figures</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2" name="Google Shape;772;p58"/>
          <p:cNvSpPr txBox="1"/>
          <p:nvPr/>
        </p:nvSpPr>
        <p:spPr>
          <a:xfrm>
            <a:off x="3429000" y="4876800"/>
            <a:ext cx="4876800"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This is one popular format. Other variations exist</a:t>
            </a:r>
            <a:endParaRPr/>
          </a:p>
        </p:txBody>
      </p:sp>
      <p:sp>
        <p:nvSpPr>
          <p:cNvPr id="773" name="Google Shape;773;p58"/>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59"/>
          <p:cNvSpPr txBox="1"/>
          <p:nvPr/>
        </p:nvSpPr>
        <p:spPr>
          <a:xfrm>
            <a:off x="457200" y="1447800"/>
            <a:ext cx="7924800" cy="4473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title page contains the title of the article, the list of authors, their affiliations, and a running head. A running head is a concise  version of the title of the paper that is to appear on the header of each page of the paper when published in the journal.</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An abstract is a very much condensed summary of the paper. It should not exceed 150 words (some standards vary) and should contain all elements of the research report so it can adequately introduce the paper so that a potential future reader would be able to –by reading the abstract – decide whether the paper is going to be useful for his or her work or not. </a:t>
            </a:r>
            <a:endParaRPr/>
          </a:p>
        </p:txBody>
      </p:sp>
      <p:sp>
        <p:nvSpPr>
          <p:cNvPr id="779" name="Google Shape;779;p59"/>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0"/>
          <p:cNvSpPr txBox="1"/>
          <p:nvPr/>
        </p:nvSpPr>
        <p:spPr>
          <a:xfrm>
            <a:off x="381000" y="1447800"/>
            <a:ext cx="8382000" cy="44735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“Introduction” section states the research problem in general terms and discusses what the research entails, why it should be done, how it would be done, how it would help, and what questions it would answer.  Some formats include the “Related Work” section in the introduction. Under those circumstances, the introduction would also state whose work has been influential in this area in the past. Whose research we are extending, where did they left off and why is it necessary to extend the work. Also a mention sometimes made of work that is tangential to ours: work that is not directly related but is either similar and can shed light, or work that looks similar but is not -  in which case a discussion is needed why this work is not related or included.</a:t>
            </a:r>
            <a:endParaRPr/>
          </a:p>
        </p:txBody>
      </p:sp>
      <p:sp>
        <p:nvSpPr>
          <p:cNvPr id="785" name="Google Shape;785;p60"/>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1"/>
          <p:cNvSpPr txBox="1"/>
          <p:nvPr/>
        </p:nvSpPr>
        <p:spPr>
          <a:xfrm>
            <a:off x="457200" y="1600200"/>
            <a:ext cx="80772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“Method” section contains the discussion of the approach taken to answer the research question discussed. It usually contains five sections: </a:t>
            </a:r>
            <a:endParaRPr/>
          </a:p>
        </p:txBody>
      </p:sp>
      <p:sp>
        <p:nvSpPr>
          <p:cNvPr id="791" name="Google Shape;791;p61"/>
          <p:cNvSpPr txBox="1"/>
          <p:nvPr/>
        </p:nvSpPr>
        <p:spPr>
          <a:xfrm>
            <a:off x="2133600" y="2819400"/>
            <a:ext cx="5715000" cy="264795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Hypothesis (eses)</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Measures</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Subjects</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Apparatus/set-up or environment</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Procedures</a:t>
            </a:r>
            <a:endParaRPr/>
          </a:p>
        </p:txBody>
      </p:sp>
      <p:sp>
        <p:nvSpPr>
          <p:cNvPr id="792" name="Google Shape;792;p61"/>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2"/>
          <p:cNvSpPr txBox="1"/>
          <p:nvPr/>
        </p:nvSpPr>
        <p:spPr>
          <a:xfrm>
            <a:off x="304800" y="1447800"/>
            <a:ext cx="8382000" cy="46561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“Results” section is to tell the reader what was found in the study. A statistical description of the result is usually needed as well as appropriate statistical tests. Here we must report all our findings in a concise manner (usually statistically). If any inferences are made in this section (intermediate inferences) then such inferences must also be reported clearly. Usually tables and figures are used in this section to illustrate the results in a concise manner.</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“Discussion” section is where the researcher interprets and evaluates the results. The interpretation should logically follow from the presentation of the results. Otherwise the results section would need further adjustment.</a:t>
            </a:r>
            <a:endParaRPr/>
          </a:p>
        </p:txBody>
      </p:sp>
      <p:sp>
        <p:nvSpPr>
          <p:cNvPr id="798" name="Google Shape;798;p62"/>
          <p:cNvSpPr txBox="1"/>
          <p:nvPr/>
        </p:nvSpPr>
        <p:spPr>
          <a:xfrm>
            <a:off x="0" y="252412"/>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3"/>
          <p:cNvSpPr txBox="1"/>
          <p:nvPr/>
        </p:nvSpPr>
        <p:spPr>
          <a:xfrm>
            <a:off x="304800" y="1371600"/>
            <a:ext cx="8305800" cy="4838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“conclusion” section briefly restates the findings and relates them to the previous work. It also discusses any open questions or future research that might follow this work.</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“References” section provides the reader with all the information needed to seek out and obtain all original sources  used in the research. If the researcher has not sought out and obtained the paper himself (may be he or she was given a copy by an advisor or colleague), this is the time to seek out and ensure availability of all references.</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Make a physical print out of all on-line references that are likely to be more transient than your paper and keep them in order to supply copies upon request.</a:t>
            </a:r>
            <a:endParaRPr/>
          </a:p>
        </p:txBody>
      </p:sp>
      <p:sp>
        <p:nvSpPr>
          <p:cNvPr id="804" name="Google Shape;804;p63"/>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4"/>
          <p:cNvSpPr txBox="1"/>
          <p:nvPr/>
        </p:nvSpPr>
        <p:spPr>
          <a:xfrm>
            <a:off x="381000" y="1447800"/>
            <a:ext cx="5410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Research writing style:</a:t>
            </a:r>
            <a:endParaRPr/>
          </a:p>
        </p:txBody>
      </p:sp>
      <p:sp>
        <p:nvSpPr>
          <p:cNvPr id="810" name="Google Shape;810;p64"/>
          <p:cNvSpPr txBox="1"/>
          <p:nvPr/>
        </p:nvSpPr>
        <p:spPr>
          <a:xfrm>
            <a:off x="457200" y="2209800"/>
            <a:ext cx="8229600" cy="210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Good writing is important. All the rules of clear writing provided in lecture 5 still apply. In addition, there are some stylistic conventions that are usually followed in research writing. Some of these are as follows:</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1" name="Google Shape;811;p64"/>
          <p:cNvSpPr txBox="1"/>
          <p:nvPr/>
        </p:nvSpPr>
        <p:spPr>
          <a:xfrm>
            <a:off x="990600" y="4419600"/>
            <a:ext cx="77724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 Traditionally the research report is written in the past tense and primarily in the third person (e.g. “the investigator assigned each program to a….”). </a:t>
            </a:r>
            <a:endParaRPr/>
          </a:p>
        </p:txBody>
      </p:sp>
      <p:sp>
        <p:nvSpPr>
          <p:cNvPr id="812" name="Google Shape;812;p64"/>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65"/>
          <p:cNvSpPr txBox="1"/>
          <p:nvPr/>
        </p:nvSpPr>
        <p:spPr>
          <a:xfrm>
            <a:off x="685800" y="3733800"/>
            <a:ext cx="8077200" cy="23622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8" name="Google Shape;818;p65"/>
          <p:cNvSpPr txBox="1"/>
          <p:nvPr/>
        </p:nvSpPr>
        <p:spPr>
          <a:xfrm>
            <a:off x="228600" y="1219200"/>
            <a:ext cx="8610600" cy="24653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Times New Roman"/>
              <a:buAutoNum type="arabicPeriod" startAt="2"/>
            </a:pPr>
            <a:r>
              <a:rPr b="0" i="0" lang="en-US" sz="2400" u="none">
                <a:solidFill>
                  <a:schemeClr val="dk1"/>
                </a:solidFill>
                <a:latin typeface="Times New Roman"/>
                <a:ea typeface="Times New Roman"/>
                <a:cs typeface="Times New Roman"/>
                <a:sym typeface="Times New Roman"/>
              </a:rPr>
              <a:t>Ensure the paper has page numbers starting with the title page as page 1. Page numbering must be in Indo-Arabic numbering system and follow through to the appendices and figures pages. No Roman numerals unless specifically required.</a:t>
            </a:r>
            <a:endParaRPr/>
          </a:p>
          <a:p>
            <a:pPr indent="-457200" lvl="0" marL="457200" marR="0" rtl="0" algn="just">
              <a:lnSpc>
                <a:spcPct val="100000"/>
              </a:lnSpc>
              <a:spcBef>
                <a:spcPts val="1200"/>
              </a:spcBef>
              <a:spcAft>
                <a:spcPts val="0"/>
              </a:spcAft>
              <a:buClr>
                <a:schemeClr val="dk1"/>
              </a:buClr>
              <a:buSzPts val="2400"/>
              <a:buFont typeface="Times New Roman"/>
              <a:buAutoNum type="arabicPeriod" startAt="2"/>
            </a:pPr>
            <a:r>
              <a:rPr b="0" i="0" lang="en-US" sz="2400" u="none">
                <a:solidFill>
                  <a:schemeClr val="dk1"/>
                </a:solidFill>
                <a:latin typeface="Times New Roman"/>
                <a:ea typeface="Times New Roman"/>
                <a:cs typeface="Times New Roman"/>
                <a:sym typeface="Times New Roman"/>
              </a:rPr>
              <a:t>The title of the article should be concise and devoid of unnecessary verbiage. For example contrast:</a:t>
            </a:r>
            <a:endParaRPr/>
          </a:p>
        </p:txBody>
      </p:sp>
      <p:sp>
        <p:nvSpPr>
          <p:cNvPr id="819" name="Google Shape;819;p65"/>
          <p:cNvSpPr txBox="1"/>
          <p:nvPr/>
        </p:nvSpPr>
        <p:spPr>
          <a:xfrm>
            <a:off x="762000" y="3657600"/>
            <a:ext cx="7772400" cy="22828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report on empirical findings contrasting software program defect content as a function of program size measured in a conventional program size measurement scheme”.  and</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“Impact of program size on defect content”, and</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“Does size matter?”  (which is going too far)</a:t>
            </a:r>
            <a:endParaRPr/>
          </a:p>
        </p:txBody>
      </p:sp>
      <p:sp>
        <p:nvSpPr>
          <p:cNvPr id="820" name="Google Shape;820;p65"/>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66"/>
          <p:cNvSpPr txBox="1"/>
          <p:nvPr/>
        </p:nvSpPr>
        <p:spPr>
          <a:xfrm>
            <a:off x="533400" y="1371600"/>
            <a:ext cx="8305800" cy="502126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The running head should be even more concise (5-7 words max).</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It is customary not to cite references in the abstract.</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Descriptive statistics should precede inferential ones in the “Results” section.</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Be your own fair but reasonable critique. If the paper has some weaknesses, discuss them openly and suggest ways how future studies might improve on the conditions.</a:t>
            </a:r>
            <a:endParaRPr/>
          </a:p>
          <a:p>
            <a:pPr indent="-457200" lvl="0" marL="457200" marR="0" rtl="0" algn="l">
              <a:lnSpc>
                <a:spcPct val="100000"/>
              </a:lnSpc>
              <a:spcBef>
                <a:spcPts val="1200"/>
              </a:spcBef>
              <a:spcAft>
                <a:spcPts val="0"/>
              </a:spcAft>
              <a:buClr>
                <a:schemeClr val="dk1"/>
              </a:buClr>
              <a:buSzPts val="2400"/>
              <a:buFont typeface="Times New Roman"/>
              <a:buAutoNum type="arabicPeriod" startAt="4"/>
            </a:pPr>
            <a:r>
              <a:rPr b="0" i="0" lang="en-US" sz="2400" u="none">
                <a:solidFill>
                  <a:schemeClr val="dk1"/>
                </a:solidFill>
                <a:latin typeface="Times New Roman"/>
                <a:ea typeface="Times New Roman"/>
                <a:cs typeface="Times New Roman"/>
                <a:sym typeface="Times New Roman"/>
              </a:rPr>
              <a:t>Refer to your own previous work in the third person (e.g. “….Younessi and Grant (1995) suggest that….”</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6" name="Google Shape;826;p66"/>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67"/>
          <p:cNvSpPr txBox="1"/>
          <p:nvPr/>
        </p:nvSpPr>
        <p:spPr>
          <a:xfrm>
            <a:off x="381000" y="1600200"/>
            <a:ext cx="8382000" cy="82232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startAt="9"/>
            </a:pPr>
            <a:r>
              <a:rPr b="0" i="0" lang="en-US" sz="2400" u="none">
                <a:solidFill>
                  <a:schemeClr val="dk1"/>
                </a:solidFill>
                <a:latin typeface="Times New Roman"/>
                <a:ea typeface="Times New Roman"/>
                <a:cs typeface="Times New Roman"/>
                <a:sym typeface="Times New Roman"/>
              </a:rPr>
              <a:t>Use the correct verb to describe the nature of the work cited. For example:</a:t>
            </a:r>
            <a:endParaRPr/>
          </a:p>
        </p:txBody>
      </p:sp>
      <p:sp>
        <p:nvSpPr>
          <p:cNvPr id="832" name="Google Shape;832;p67"/>
          <p:cNvSpPr txBox="1"/>
          <p:nvPr/>
        </p:nvSpPr>
        <p:spPr>
          <a:xfrm>
            <a:off x="914400" y="2590800"/>
            <a:ext cx="7391400" cy="3013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“Hardy and Ramanujan (1932) proved that…….”.  Here Hardy and Ramanujan have mathematically proven a fact to which you are referring.</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“Hoare (1967) demonstrated that…..”. Here Hoare has shown logically that a fact follows from another but is short of proving it.</a:t>
            </a:r>
            <a:endParaRPr/>
          </a:p>
        </p:txBody>
      </p:sp>
      <p:sp>
        <p:nvSpPr>
          <p:cNvPr id="833" name="Google Shape;833;p67"/>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68"/>
          <p:cNvSpPr txBox="1"/>
          <p:nvPr/>
        </p:nvSpPr>
        <p:spPr>
          <a:xfrm>
            <a:off x="685800" y="1371600"/>
            <a:ext cx="7696200" cy="52038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“Elmer (1991) theorized (or showed)  that…”. Here Elmer has put forth a theory which has been substantiated and validated probably empirically.</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“Lavalle (1988)  suggested (or proposed) that…”. Here Lavalle is suggesting a fact or relationship with some support but short of empirical validation.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“Smith (1983) argued that …….”. Here Smith is mounting an argument with some substantiation (may be a case study or an observation).</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Grant (1996) asserted that…..”. Here Grant is mounting an argument without or with inadequate justification.</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9" name="Google Shape;839;p68"/>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69"/>
          <p:cNvSpPr txBox="1"/>
          <p:nvPr/>
        </p:nvSpPr>
        <p:spPr>
          <a:xfrm>
            <a:off x="228600" y="1371600"/>
            <a:ext cx="6477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Author/publisher rights and responsibilities:</a:t>
            </a:r>
            <a:endParaRPr/>
          </a:p>
        </p:txBody>
      </p:sp>
      <p:sp>
        <p:nvSpPr>
          <p:cNvPr id="845" name="Google Shape;845;p69"/>
          <p:cNvSpPr txBox="1"/>
          <p:nvPr/>
        </p:nvSpPr>
        <p:spPr>
          <a:xfrm>
            <a:off x="304800" y="2057400"/>
            <a:ext cx="8534400" cy="13922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publication is also an agreement between the author/authors and a publishing organization. This creates a set of mutual rights and responsibilities between the two parties. </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6" name="Google Shape;846;p69"/>
          <p:cNvSpPr txBox="1"/>
          <p:nvPr/>
        </p:nvSpPr>
        <p:spPr>
          <a:xfrm>
            <a:off x="533400" y="3581400"/>
            <a:ext cx="8153400" cy="17351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Authors’ Responsibilities:</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main responsibility of the author is to produce a work that is publishable, original and not published before (except when journals ask specifically to re-print a previously published work).</a:t>
            </a:r>
            <a:endParaRPr/>
          </a:p>
        </p:txBody>
      </p:sp>
      <p:sp>
        <p:nvSpPr>
          <p:cNvPr id="847" name="Google Shape;847;p69"/>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70"/>
          <p:cNvSpPr txBox="1"/>
          <p:nvPr/>
        </p:nvSpPr>
        <p:spPr>
          <a:xfrm>
            <a:off x="381000" y="1676400"/>
            <a:ext cx="8382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3" name="Google Shape;853;p70"/>
          <p:cNvSpPr txBox="1"/>
          <p:nvPr/>
        </p:nvSpPr>
        <p:spPr>
          <a:xfrm>
            <a:off x="533400" y="1600200"/>
            <a:ext cx="8153400" cy="3925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Authors’ rights:</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principle right of the author is the right of appeal if they disagree with the decision of a referee or reviewer. Each publication has a review and appeals policy published as part of their “authors’ information” package. The ultimate decision is usually with the Editor-in-Chief.</a:t>
            </a:r>
            <a:endParaRPr/>
          </a:p>
          <a:p>
            <a:pPr indent="0"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author usually has the right to give access to papers published to readers via his or her personal web-pages. </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4" name="Google Shape;854;p70"/>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1"/>
          <p:cNvSpPr txBox="1"/>
          <p:nvPr/>
        </p:nvSpPr>
        <p:spPr>
          <a:xfrm>
            <a:off x="457200" y="1524000"/>
            <a:ext cx="8305800" cy="1004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Publishers’ responsibilities:</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It is the responsibility of the publisher to:</a:t>
            </a:r>
            <a:endParaRPr/>
          </a:p>
        </p:txBody>
      </p:sp>
      <p:sp>
        <p:nvSpPr>
          <p:cNvPr id="860" name="Google Shape;860;p71"/>
          <p:cNvSpPr txBox="1"/>
          <p:nvPr/>
        </p:nvSpPr>
        <p:spPr>
          <a:xfrm>
            <a:off x="1828800" y="3048000"/>
            <a:ext cx="6781800" cy="2465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Adequately distribute the material to be published</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Handle all the copyright permission requests and legal issues of breach of copyright.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Distribute paper copy reprints upon request. </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1" name="Google Shape;861;p71"/>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2"/>
          <p:cNvSpPr txBox="1"/>
          <p:nvPr/>
        </p:nvSpPr>
        <p:spPr>
          <a:xfrm>
            <a:off x="533400" y="1524000"/>
            <a:ext cx="5715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Publisher’s rights:</a:t>
            </a:r>
            <a:endParaRPr/>
          </a:p>
        </p:txBody>
      </p:sp>
      <p:sp>
        <p:nvSpPr>
          <p:cNvPr id="867" name="Google Shape;867;p72"/>
          <p:cNvSpPr txBox="1"/>
          <p:nvPr/>
        </p:nvSpPr>
        <p:spPr>
          <a:xfrm>
            <a:off x="1066800" y="2286000"/>
            <a:ext cx="7467600" cy="155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publisher usually has the copyright to the material</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To select, appoint or change review and editorial panels.</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8" name="Google Shape;868;p72"/>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73"/>
          <p:cNvSpPr txBox="1"/>
          <p:nvPr/>
        </p:nvSpPr>
        <p:spPr>
          <a:xfrm>
            <a:off x="457200" y="1447800"/>
            <a:ext cx="5715000" cy="4572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Evaluating a research article:</a:t>
            </a:r>
            <a:endParaRPr/>
          </a:p>
        </p:txBody>
      </p:sp>
      <p:sp>
        <p:nvSpPr>
          <p:cNvPr id="874" name="Google Shape;874;p73"/>
          <p:cNvSpPr txBox="1"/>
          <p:nvPr/>
        </p:nvSpPr>
        <p:spPr>
          <a:xfrm>
            <a:off x="609600" y="2057400"/>
            <a:ext cx="7924800" cy="3925887"/>
          </a:xfrm>
          <a:prstGeom prst="rect">
            <a:avLst/>
          </a:prstGeom>
          <a:noFill/>
          <a:ln>
            <a:noFill/>
          </a:ln>
        </p:spPr>
        <p:txBody>
          <a:bodyPr anchorCtr="0" anchor="t" bIns="45700" lIns="91425" spcFirstLastPara="1" rIns="91425" wrap="square" tIns="45700">
            <a:spAutoFit/>
          </a:bodyPr>
          <a:lstStyle/>
          <a:p>
            <a:pPr indent="4762"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research article is usually evaluated by a panel of experts before it is accepted for publication. This process is called “The Peer Review Process”.</a:t>
            </a:r>
            <a:endParaRPr/>
          </a:p>
          <a:p>
            <a:pPr indent="4762" lvl="0" marL="0" marR="0" rtl="0" algn="just">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process entails the scrutiny of the paper by a number (usually 3 or larger) of eminent authorities or experts in the field. They would study the paper independently (and blind to each other and often to the name of the author) and independently write a report on the suitability of a paper proposed for publication. In doing so, they look for and view the paper from the perspectives – at least -  of:</a:t>
            </a:r>
            <a:endParaRPr/>
          </a:p>
        </p:txBody>
      </p:sp>
      <p:sp>
        <p:nvSpPr>
          <p:cNvPr id="875" name="Google Shape;875;p73"/>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74"/>
          <p:cNvSpPr txBox="1"/>
          <p:nvPr/>
        </p:nvSpPr>
        <p:spPr>
          <a:xfrm>
            <a:off x="1295400" y="1447800"/>
            <a:ext cx="4800600" cy="374332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Technical robustness </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Clarity</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Style/language/presentation</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Interest and relevance</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Appropriateness for venue</a:t>
            </a:r>
            <a:endParaRPr/>
          </a:p>
          <a:p>
            <a:pPr indent="-457200" lvl="0" marL="45720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1" name="Google Shape;881;p74"/>
          <p:cNvSpPr txBox="1"/>
          <p:nvPr/>
        </p:nvSpPr>
        <p:spPr>
          <a:xfrm>
            <a:off x="457200" y="4419600"/>
            <a:ext cx="8077200" cy="15525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reviewers usually rate the paper from each of these perspectives and even at times with respect to many attributes of each perspective. Most publications also ask the reviewer to provide an overall “acceptance” rating for each paper.</a:t>
            </a:r>
            <a:endParaRPr/>
          </a:p>
        </p:txBody>
      </p:sp>
      <p:sp>
        <p:nvSpPr>
          <p:cNvPr id="882" name="Google Shape;882;p74"/>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75"/>
          <p:cNvSpPr txBox="1"/>
          <p:nvPr/>
        </p:nvSpPr>
        <p:spPr>
          <a:xfrm>
            <a:off x="304800" y="1600200"/>
            <a:ext cx="5638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These ratings are usually:</a:t>
            </a:r>
            <a:endParaRPr/>
          </a:p>
        </p:txBody>
      </p:sp>
      <p:sp>
        <p:nvSpPr>
          <p:cNvPr id="888" name="Google Shape;888;p75"/>
          <p:cNvSpPr txBox="1"/>
          <p:nvPr/>
        </p:nvSpPr>
        <p:spPr>
          <a:xfrm>
            <a:off x="1066800" y="2286000"/>
            <a:ext cx="7543800" cy="33782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Accept without any modifications</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Accept with minor stylistic modifications to the satisfaction of the editor</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Accept with minor structural or technical modifications as advised</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Accept after modifications sought have been reviewed</a:t>
            </a:r>
            <a:endParaRPr/>
          </a:p>
          <a:p>
            <a:pPr indent="-457200" lvl="0" marL="457200" marR="0" rtl="0" algn="l">
              <a:lnSpc>
                <a:spcPct val="100000"/>
              </a:lnSpc>
              <a:spcBef>
                <a:spcPts val="1200"/>
              </a:spcBef>
              <a:spcAft>
                <a:spcPts val="0"/>
              </a:spcAft>
              <a:buClr>
                <a:schemeClr val="dk1"/>
              </a:buClr>
              <a:buSzPts val="2400"/>
              <a:buFont typeface="Times New Roman"/>
              <a:buAutoNum type="arabicPeriod"/>
            </a:pPr>
            <a:r>
              <a:rPr b="0" i="0" lang="en-US" sz="2400" u="none">
                <a:solidFill>
                  <a:schemeClr val="dk1"/>
                </a:solidFill>
                <a:latin typeface="Times New Roman"/>
                <a:ea typeface="Times New Roman"/>
                <a:cs typeface="Times New Roman"/>
                <a:sym typeface="Times New Roman"/>
              </a:rPr>
              <a:t>Reject out-right</a:t>
            </a:r>
            <a:endParaRPr/>
          </a:p>
        </p:txBody>
      </p:sp>
      <p:sp>
        <p:nvSpPr>
          <p:cNvPr id="889" name="Google Shape;889;p75"/>
          <p:cNvSpPr txBox="1"/>
          <p:nvPr/>
        </p:nvSpPr>
        <p:spPr>
          <a:xfrm>
            <a:off x="0" y="236537"/>
            <a:ext cx="9140825" cy="8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Publications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1999-05-25T09:56:38Z</dcterms:created>
  <dc:creator>Prof. A. Taleb-Bendiab</dc:creator>
</cp:coreProperties>
</file>