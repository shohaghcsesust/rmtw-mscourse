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9144000"/>
  <p:notesSz cx="6858000" cy="9144000"/>
  <p:embeddedFontLst>
    <p:embeddedFont>
      <p:font typeface="Tahoma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32" roundtripDataSignature="AMtx7mh8U7p63BidWqPwEeB6tFNt5cT8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Tahoma-bold.fntdata"/><Relationship Id="rId30" Type="http://schemas.openxmlformats.org/officeDocument/2006/relationships/font" Target="fonts/Tahoma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1" type="body"/>
          </p:nvPr>
        </p:nvSpPr>
        <p:spPr>
          <a:xfrm>
            <a:off x="1524000" y="2057400"/>
            <a:ext cx="6934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⮚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⮚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16" name="Google Shape;16;p25"/>
          <p:cNvSpPr txBox="1"/>
          <p:nvPr>
            <p:ph idx="10" type="dt"/>
          </p:nvPr>
        </p:nvSpPr>
        <p:spPr>
          <a:xfrm>
            <a:off x="3048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70104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body"/>
          </p:nvPr>
        </p:nvSpPr>
        <p:spPr>
          <a:xfrm>
            <a:off x="1524000" y="2057400"/>
            <a:ext cx="33909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⮚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⮚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2" type="body"/>
          </p:nvPr>
        </p:nvSpPr>
        <p:spPr>
          <a:xfrm>
            <a:off x="5067300" y="2057400"/>
            <a:ext cx="33909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⮚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⮚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0" type="dt"/>
          </p:nvPr>
        </p:nvSpPr>
        <p:spPr>
          <a:xfrm>
            <a:off x="3048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2" type="sldNum"/>
          </p:nvPr>
        </p:nvSpPr>
        <p:spPr>
          <a:xfrm>
            <a:off x="70104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7"/>
          <p:cNvSpPr txBox="1"/>
          <p:nvPr>
            <p:ph type="title"/>
          </p:nvPr>
        </p:nvSpPr>
        <p:spPr>
          <a:xfrm rot="5400000">
            <a:off x="5562600" y="2209800"/>
            <a:ext cx="52578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" type="body"/>
          </p:nvPr>
        </p:nvSpPr>
        <p:spPr>
          <a:xfrm rot="5400000">
            <a:off x="1676400" y="381000"/>
            <a:ext cx="5257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⮚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⮚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0" type="dt"/>
          </p:nvPr>
        </p:nvSpPr>
        <p:spPr>
          <a:xfrm>
            <a:off x="3048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70104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" type="body"/>
          </p:nvPr>
        </p:nvSpPr>
        <p:spPr>
          <a:xfrm rot="5400000">
            <a:off x="3124200" y="457200"/>
            <a:ext cx="3733800" cy="6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⮚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⮚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0" type="dt"/>
          </p:nvPr>
        </p:nvSpPr>
        <p:spPr>
          <a:xfrm>
            <a:off x="3048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2" type="sldNum"/>
          </p:nvPr>
        </p:nvSpPr>
        <p:spPr>
          <a:xfrm>
            <a:off x="70104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Comic Sans M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Comic Sans M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Comic Sans M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Comic Sans M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Comic Sans M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Comic Sans MS"/>
              <a:buNone/>
              <a:defRPr sz="900"/>
            </a:lvl9pPr>
          </a:lstStyle>
          <a:p/>
        </p:txBody>
      </p:sp>
      <p:sp>
        <p:nvSpPr>
          <p:cNvPr id="42" name="Google Shape;42;p29"/>
          <p:cNvSpPr txBox="1"/>
          <p:nvPr>
            <p:ph idx="10" type="dt"/>
          </p:nvPr>
        </p:nvSpPr>
        <p:spPr>
          <a:xfrm>
            <a:off x="3048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2" type="sldNum"/>
          </p:nvPr>
        </p:nvSpPr>
        <p:spPr>
          <a:xfrm>
            <a:off x="70104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⮚"/>
              <a:defRPr sz="3200"/>
            </a:lvl1pPr>
            <a:lvl2pPr indent="-361950" lvl="1" marL="914400" algn="l">
              <a:spcBef>
                <a:spcPts val="560"/>
              </a:spcBef>
              <a:spcAft>
                <a:spcPts val="0"/>
              </a:spcAft>
              <a:buSzPts val="2100"/>
              <a:buChar char="⮚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⮚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Font typeface="Comic Sans MS"/>
              <a:buChar char="•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Font typeface="Comic Sans MS"/>
              <a:buChar char="–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Font typeface="Comic Sans MS"/>
              <a:buChar char="–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Font typeface="Comic Sans MS"/>
              <a:buChar char="–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Font typeface="Comic Sans MS"/>
              <a:buChar char="–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Font typeface="Comic Sans MS"/>
              <a:buChar char="–"/>
              <a:defRPr sz="2000"/>
            </a:lvl9pPr>
          </a:lstStyle>
          <a:p/>
        </p:txBody>
      </p:sp>
      <p:sp>
        <p:nvSpPr>
          <p:cNvPr id="48" name="Google Shape;48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Comic Sans M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Comic Sans M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Comic Sans M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Comic Sans M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Comic Sans M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Comic Sans MS"/>
              <a:buNone/>
              <a:defRPr sz="900"/>
            </a:lvl9pPr>
          </a:lstStyle>
          <a:p/>
        </p:txBody>
      </p:sp>
      <p:sp>
        <p:nvSpPr>
          <p:cNvPr id="49" name="Google Shape;49;p30"/>
          <p:cNvSpPr txBox="1"/>
          <p:nvPr>
            <p:ph idx="10" type="dt"/>
          </p:nvPr>
        </p:nvSpPr>
        <p:spPr>
          <a:xfrm>
            <a:off x="3048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50" name="Google Shape;50;p30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2" type="sldNum"/>
          </p:nvPr>
        </p:nvSpPr>
        <p:spPr>
          <a:xfrm>
            <a:off x="70104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 txBox="1"/>
          <p:nvPr>
            <p:ph idx="10" type="dt"/>
          </p:nvPr>
        </p:nvSpPr>
        <p:spPr>
          <a:xfrm>
            <a:off x="3048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54" name="Google Shape;54;p31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12" type="sldNum"/>
          </p:nvPr>
        </p:nvSpPr>
        <p:spPr>
          <a:xfrm>
            <a:off x="70104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2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3048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70104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None/>
              <a:defRPr b="1" sz="1600"/>
            </a:lvl9pPr>
          </a:lstStyle>
          <a:p/>
        </p:txBody>
      </p:sp>
      <p:sp>
        <p:nvSpPr>
          <p:cNvPr id="64" name="Google Shape;64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⮚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⮚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⮚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Char char="–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Char char="–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Char char="–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Char char="–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Char char="–"/>
              <a:defRPr sz="1600"/>
            </a:lvl9pPr>
          </a:lstStyle>
          <a:p/>
        </p:txBody>
      </p:sp>
      <p:sp>
        <p:nvSpPr>
          <p:cNvPr id="65" name="Google Shape;65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None/>
              <a:defRPr b="1" sz="1600"/>
            </a:lvl9pPr>
          </a:lstStyle>
          <a:p/>
        </p:txBody>
      </p:sp>
      <p:sp>
        <p:nvSpPr>
          <p:cNvPr id="66" name="Google Shape;66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⮚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⮚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⮚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Char char="–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Char char="–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Char char="–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Char char="–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Comic Sans MS"/>
              <a:buChar char="–"/>
              <a:defRPr sz="1600"/>
            </a:lvl9pPr>
          </a:lstStyle>
          <a:p/>
        </p:txBody>
      </p:sp>
      <p:sp>
        <p:nvSpPr>
          <p:cNvPr id="67" name="Google Shape;67;p33"/>
          <p:cNvSpPr txBox="1"/>
          <p:nvPr>
            <p:ph idx="10" type="dt"/>
          </p:nvPr>
        </p:nvSpPr>
        <p:spPr>
          <a:xfrm>
            <a:off x="3048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68" name="Google Shape;68;p33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69" name="Google Shape;69;p33"/>
          <p:cNvSpPr txBox="1"/>
          <p:nvPr>
            <p:ph idx="12" type="sldNum"/>
          </p:nvPr>
        </p:nvSpPr>
        <p:spPr>
          <a:xfrm>
            <a:off x="70104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4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" type="body"/>
          </p:nvPr>
        </p:nvSpPr>
        <p:spPr>
          <a:xfrm>
            <a:off x="1524000" y="2057400"/>
            <a:ext cx="33909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⮚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⮚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⮚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Comic Sans MS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Comic Sans MS"/>
              <a:buChar char="–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Comic Sans MS"/>
              <a:buChar char="–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Comic Sans MS"/>
              <a:buChar char="–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Comic Sans MS"/>
              <a:buChar char="–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Comic Sans MS"/>
              <a:buChar char="–"/>
              <a:defRPr sz="1800"/>
            </a:lvl9pPr>
          </a:lstStyle>
          <a:p/>
        </p:txBody>
      </p:sp>
      <p:sp>
        <p:nvSpPr>
          <p:cNvPr id="73" name="Google Shape;73;p34"/>
          <p:cNvSpPr txBox="1"/>
          <p:nvPr>
            <p:ph idx="2" type="body"/>
          </p:nvPr>
        </p:nvSpPr>
        <p:spPr>
          <a:xfrm>
            <a:off x="5067300" y="2057400"/>
            <a:ext cx="33909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⮚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⮚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⮚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Comic Sans MS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Comic Sans MS"/>
              <a:buChar char="–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Comic Sans MS"/>
              <a:buChar char="–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Comic Sans MS"/>
              <a:buChar char="–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Comic Sans MS"/>
              <a:buChar char="–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Comic Sans MS"/>
              <a:buChar char="–"/>
              <a:defRPr sz="1800"/>
            </a:lvl9pPr>
          </a:lstStyle>
          <a:p/>
        </p:txBody>
      </p:sp>
      <p:sp>
        <p:nvSpPr>
          <p:cNvPr id="74" name="Google Shape;74;p34"/>
          <p:cNvSpPr txBox="1"/>
          <p:nvPr>
            <p:ph idx="10" type="dt"/>
          </p:nvPr>
        </p:nvSpPr>
        <p:spPr>
          <a:xfrm>
            <a:off x="3048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2" type="sldNum"/>
          </p:nvPr>
        </p:nvSpPr>
        <p:spPr>
          <a:xfrm>
            <a:off x="70104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Font typeface="Comic Sans MS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Font typeface="Comic Sans MS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Font typeface="Comic Sans MS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Font typeface="Comic Sans MS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Font typeface="Comic Sans MS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Font typeface="Comic Sans MS"/>
              <a:buNone/>
              <a:defRPr sz="1400"/>
            </a:lvl9pPr>
          </a:lstStyle>
          <a:p/>
        </p:txBody>
      </p:sp>
      <p:sp>
        <p:nvSpPr>
          <p:cNvPr id="80" name="Google Shape;80;p35"/>
          <p:cNvSpPr txBox="1"/>
          <p:nvPr>
            <p:ph idx="10" type="dt"/>
          </p:nvPr>
        </p:nvSpPr>
        <p:spPr>
          <a:xfrm>
            <a:off x="3048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2" type="sldNum"/>
          </p:nvPr>
        </p:nvSpPr>
        <p:spPr>
          <a:xfrm>
            <a:off x="70104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7"/>
          <p:cNvSpPr txBox="1"/>
          <p:nvPr>
            <p:ph type="ctrTitle"/>
          </p:nvPr>
        </p:nvSpPr>
        <p:spPr>
          <a:xfrm>
            <a:off x="1828800" y="427038"/>
            <a:ext cx="7313613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>
                <a:solidFill>
                  <a:srgbClr val="85011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7"/>
          <p:cNvSpPr txBox="1"/>
          <p:nvPr>
            <p:ph idx="1" type="subTitle"/>
          </p:nvPr>
        </p:nvSpPr>
        <p:spPr>
          <a:xfrm>
            <a:off x="4191000" y="1752600"/>
            <a:ext cx="4572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350"/>
              <a:buChar char="⮚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⮚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94" name="Google Shape;94;p37"/>
          <p:cNvSpPr txBox="1"/>
          <p:nvPr>
            <p:ph idx="10" type="dt"/>
          </p:nvPr>
        </p:nvSpPr>
        <p:spPr>
          <a:xfrm>
            <a:off x="304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95" name="Google Shape;95;p37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96" name="Google Shape;96;p37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767676"/>
            </a:gs>
            <a:gs pos="50000">
              <a:schemeClr val="lt1"/>
            </a:gs>
            <a:gs pos="100000">
              <a:srgbClr val="767676"/>
            </a:gs>
          </a:gsLst>
          <a:lin ang="27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24"/>
          <p:cNvCxnSpPr/>
          <p:nvPr/>
        </p:nvCxnSpPr>
        <p:spPr>
          <a:xfrm>
            <a:off x="0" y="1524000"/>
            <a:ext cx="9147175" cy="0"/>
          </a:xfrm>
          <a:prstGeom prst="straightConnector1">
            <a:avLst/>
          </a:prstGeom>
          <a:noFill/>
          <a:ln cap="sq" cmpd="sng" w="12700">
            <a:solidFill>
              <a:schemeClr val="l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" name="Google Shape;7;p24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" type="body"/>
          </p:nvPr>
        </p:nvSpPr>
        <p:spPr>
          <a:xfrm>
            <a:off x="1524000" y="2057400"/>
            <a:ext cx="6934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⮚"/>
              <a:defRPr b="1" i="0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5242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950"/>
              <a:buFont typeface="Noto Sans Symbols"/>
              <a:buChar char="⮚"/>
              <a:defRPr b="0" i="0" sz="2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56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•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0" type="dt"/>
          </p:nvPr>
        </p:nvSpPr>
        <p:spPr>
          <a:xfrm>
            <a:off x="3048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2" type="sldNum"/>
          </p:nvPr>
        </p:nvSpPr>
        <p:spPr>
          <a:xfrm>
            <a:off x="70104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2" name="Google Shape;12;p24"/>
          <p:cNvSpPr/>
          <p:nvPr/>
        </p:nvSpPr>
        <p:spPr>
          <a:xfrm>
            <a:off x="0" y="0"/>
            <a:ext cx="1828800" cy="6858000"/>
          </a:xfrm>
          <a:prstGeom prst="lightningBolt">
            <a:avLst/>
          </a:prstGeom>
          <a:gradFill>
            <a:gsLst>
              <a:gs pos="0">
                <a:srgbClr val="FFFFFF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767676"/>
            </a:gs>
            <a:gs pos="50000">
              <a:schemeClr val="lt1"/>
            </a:gs>
            <a:gs pos="100000">
              <a:srgbClr val="767676"/>
            </a:gs>
          </a:gsLst>
          <a:lin ang="27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36"/>
          <p:cNvCxnSpPr/>
          <p:nvPr/>
        </p:nvCxnSpPr>
        <p:spPr>
          <a:xfrm>
            <a:off x="0" y="1524000"/>
            <a:ext cx="9147175" cy="0"/>
          </a:xfrm>
          <a:prstGeom prst="straightConnector1">
            <a:avLst/>
          </a:prstGeom>
          <a:noFill/>
          <a:ln cap="sq" cmpd="sng" w="12700">
            <a:solidFill>
              <a:schemeClr val="l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5" name="Google Shape;85;p36"/>
          <p:cNvSpPr/>
          <p:nvPr/>
        </p:nvSpPr>
        <p:spPr>
          <a:xfrm>
            <a:off x="0" y="0"/>
            <a:ext cx="1828800" cy="6858000"/>
          </a:xfrm>
          <a:prstGeom prst="lightningBolt">
            <a:avLst/>
          </a:prstGeom>
          <a:gradFill>
            <a:gsLst>
              <a:gs pos="0">
                <a:srgbClr val="FFFFFF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6" name="Google Shape;86;p36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87" name="Google Shape;87;p36"/>
          <p:cNvSpPr txBox="1"/>
          <p:nvPr>
            <p:ph idx="1" type="body"/>
          </p:nvPr>
        </p:nvSpPr>
        <p:spPr>
          <a:xfrm>
            <a:off x="1524000" y="2057400"/>
            <a:ext cx="6934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⮚"/>
              <a:defRPr b="1" i="0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5242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950"/>
              <a:buFont typeface="Noto Sans Symbols"/>
              <a:buChar char="⮚"/>
              <a:defRPr b="0" i="0" sz="2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56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•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88" name="Google Shape;88;p36"/>
          <p:cNvSpPr txBox="1"/>
          <p:nvPr>
            <p:ph idx="10" type="dt"/>
          </p:nvPr>
        </p:nvSpPr>
        <p:spPr>
          <a:xfrm>
            <a:off x="304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89" name="Google Shape;89;p36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90" name="Google Shape;90;p36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  <a:defRPr b="0" i="0" sz="1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type="title"/>
          </p:nvPr>
        </p:nvSpPr>
        <p:spPr>
          <a:xfrm>
            <a:off x="1258887" y="765175"/>
            <a:ext cx="7740650" cy="1366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900"/>
              <a:buFont typeface="Impact"/>
              <a:buNone/>
            </a:pPr>
            <a:r>
              <a:rPr b="0" i="0" lang="en-US" sz="2900" u="none">
                <a:solidFill>
                  <a:srgbClr val="0000CC"/>
                </a:solidFill>
                <a:latin typeface="Impact"/>
                <a:ea typeface="Impact"/>
                <a:cs typeface="Impact"/>
                <a:sym typeface="Impact"/>
              </a:rPr>
              <a:t>Strategies for Thesis Preparation and Submission</a:t>
            </a:r>
            <a:r>
              <a:rPr b="0" i="0" lang="en-US" sz="4800" u="none">
                <a:solidFill>
                  <a:srgbClr val="850117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b="0" i="0" lang="en-US" sz="2600" u="none">
                <a:solidFill>
                  <a:srgbClr val="0C0002"/>
                </a:solidFill>
                <a:latin typeface="Impact"/>
                <a:ea typeface="Impact"/>
                <a:cs typeface="Impact"/>
                <a:sym typeface="Impact"/>
              </a:rPr>
              <a:t>in</a:t>
            </a:r>
            <a:r>
              <a:rPr b="0" i="0" lang="en-US" sz="4800" u="none">
                <a:solidFill>
                  <a:srgbClr val="0C0002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b="0" i="0" lang="en-US" sz="2600" u="none">
                <a:solidFill>
                  <a:srgbClr val="0C0002"/>
                </a:solidFill>
                <a:latin typeface="Impact"/>
                <a:ea typeface="Impact"/>
                <a:cs typeface="Impact"/>
                <a:sym typeface="Impact"/>
              </a:rPr>
              <a:t>Engineering and Informatics</a:t>
            </a:r>
            <a:endParaRPr/>
          </a:p>
        </p:txBody>
      </p:sp>
      <p:pic>
        <p:nvPicPr>
          <p:cNvPr descr="j0290266[1]" id="102" name="Google Shape;10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3575" y="2420937"/>
            <a:ext cx="2786062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 txBox="1"/>
          <p:nvPr/>
        </p:nvSpPr>
        <p:spPr>
          <a:xfrm>
            <a:off x="3059112" y="5876925"/>
            <a:ext cx="55737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None/>
            </a:pPr>
            <a:r>
              <a:rPr b="1" i="0" lang="en-US" sz="200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Prof. Alamgir Hossain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Comic Sans MS"/>
              <a:buNone/>
            </a:pPr>
            <a:r>
              <a:rPr b="1" i="0" lang="en-US" sz="160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Director of Anglia Ruskin IT Research Institute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First Step</a:t>
            </a:r>
            <a:endParaRPr/>
          </a:p>
        </p:txBody>
      </p:sp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1619250" y="1700212"/>
            <a:ext cx="7416800" cy="4537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66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Have you got </a:t>
            </a:r>
            <a:r>
              <a:rPr b="0" i="0" lang="en-US" sz="24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green signal</a:t>
            </a:r>
            <a:r>
              <a:rPr b="0" i="0" lang="en-US" sz="2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 from Supervisor? Time length – 3 months (minimum).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Divide the thesis into a number of distinct chapters</a:t>
            </a:r>
            <a:endParaRPr/>
          </a:p>
          <a:p>
            <a:pPr indent="-2667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Each chapter (could be self-contained) normally divided into sections for clarity </a:t>
            </a:r>
            <a:endParaRPr/>
          </a:p>
        </p:txBody>
      </p:sp>
      <p:pic>
        <p:nvPicPr>
          <p:cNvPr descr="Click To Download" id="110" name="Google Shape;110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2500" y="306863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Table of Contents</a:t>
            </a: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1403350" y="1628775"/>
            <a:ext cx="7489825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Title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Abstract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Acknowledgement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Table of Contents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List of Figures &amp; Tables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Published Contribution </a:t>
            </a:r>
            <a:r>
              <a:rPr b="0" i="0" lang="en-US" sz="1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(Abstract of the paper)</a:t>
            </a:r>
            <a:r>
              <a:rPr b="0" i="0" lang="en-US" sz="1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  <a:p>
            <a:pPr indent="-279400" lvl="0" marL="34290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Chapter 1. Introduction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Chapter 2: Literature Review (</a:t>
            </a:r>
            <a:r>
              <a:rPr b="0" i="0" lang="en-US" sz="1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1/2 chapter</a:t>
            </a: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Chapter 3: Theory/Methodology/Algorithms (</a:t>
            </a:r>
            <a:r>
              <a:rPr b="0" i="0" lang="en-US" sz="1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1/2 chapter</a:t>
            </a: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Chapter 4: Simulation/Experiment (</a:t>
            </a:r>
            <a:r>
              <a:rPr b="0" i="0" lang="en-US" sz="1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1/2 chapter</a:t>
            </a: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Chapter 5: Results &amp; Discussion (</a:t>
            </a:r>
            <a:r>
              <a:rPr b="0" i="0" lang="en-US" sz="1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1/2 chapter</a:t>
            </a: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Chapter 6: Conclusions &amp; Future Research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750"/>
              <a:buNone/>
            </a:pPr>
            <a:r>
              <a:t/>
            </a:r>
            <a:endParaRPr b="0" i="0" sz="10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References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Appendices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j0234700[1]"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0650" y="0"/>
            <a:ext cx="1403350" cy="155733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2411412" y="6461125"/>
            <a:ext cx="65262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-228600" lvl="0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None/>
            </a:pPr>
            <a:r>
              <a:rPr b="0" i="1" lang="en-US" sz="2000" u="none">
                <a:solidFill>
                  <a:srgbClr val="FF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Note: complete 2 to 6 then 1 &amp; others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Title</a:t>
            </a:r>
            <a:endParaRPr/>
          </a:p>
        </p:txBody>
      </p:sp>
      <p:sp>
        <p:nvSpPr>
          <p:cNvPr id="124" name="Google Shape;124;p4"/>
          <p:cNvSpPr txBox="1"/>
          <p:nvPr>
            <p:ph idx="1" type="body"/>
          </p:nvPr>
        </p:nvSpPr>
        <p:spPr>
          <a:xfrm>
            <a:off x="1524000" y="2057400"/>
            <a:ext cx="6934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Put the keywords together and try to make a meaningful sentence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Should reflect the Thesis contents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	* Your Turn (Try it now – 3 minutes)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Abstract</a:t>
            </a:r>
            <a:endParaRPr/>
          </a:p>
        </p:txBody>
      </p:sp>
      <p:sp>
        <p:nvSpPr>
          <p:cNvPr id="130" name="Google Shape;130;p5"/>
          <p:cNvSpPr txBox="1"/>
          <p:nvPr>
            <p:ph idx="1" type="body"/>
          </p:nvPr>
        </p:nvSpPr>
        <p:spPr>
          <a:xfrm>
            <a:off x="1476375" y="2057400"/>
            <a:ext cx="6551612" cy="374808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Describe BRIEFLY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⮚"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Purpose and nature of the project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⮚"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Experiments carried out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⮚"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Important results obtained and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⮚"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Contribution made (new/original)  </a:t>
            </a:r>
            <a:endParaRPr/>
          </a:p>
          <a:p>
            <a:pPr indent="-228600" lvl="1" marL="74295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</a:pPr>
            <a:r>
              <a:t/>
            </a:r>
            <a:endParaRPr b="0" i="0" sz="12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Normally 300 words (maximum) in length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j0196328[1]" id="131" name="Google Shape;131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0650" y="115887"/>
            <a:ext cx="1238250" cy="139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Acknowledgement</a:t>
            </a:r>
            <a:endParaRPr/>
          </a:p>
        </p:txBody>
      </p:sp>
      <p:sp>
        <p:nvSpPr>
          <p:cNvPr id="137" name="Google Shape;137;p6"/>
          <p:cNvSpPr txBox="1"/>
          <p:nvPr>
            <p:ph idx="1" type="body"/>
          </p:nvPr>
        </p:nvSpPr>
        <p:spPr>
          <a:xfrm>
            <a:off x="1547812" y="2060575"/>
            <a:ext cx="7596187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Acknowledge the support from supervisor(s), family, friends etc.</a:t>
            </a:r>
            <a:r>
              <a:rPr b="1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endParaRPr/>
          </a:p>
          <a:p>
            <a:pPr indent="-2667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None/>
            </a:pPr>
            <a:r>
              <a:t/>
            </a:r>
            <a:endParaRPr b="1" i="0" sz="1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One page maximum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Table of Contents</a:t>
            </a:r>
            <a:endParaRPr/>
          </a:p>
        </p:txBody>
      </p:sp>
      <p:sp>
        <p:nvSpPr>
          <p:cNvPr id="143" name="Google Shape;143;p7"/>
          <p:cNvSpPr txBox="1"/>
          <p:nvPr>
            <p:ph idx="1" type="body"/>
          </p:nvPr>
        </p:nvSpPr>
        <p:spPr>
          <a:xfrm>
            <a:off x="1524000" y="2057400"/>
            <a:ext cx="6934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One                      </a:t>
            </a:r>
            <a:r>
              <a:rPr b="1" i="0" lang="en-US" sz="1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Page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950"/>
              <a:buFont typeface="Noto Sans Symbols"/>
              <a:buAutoNum type="arabicPeriod"/>
            </a:pP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Introduction                                    </a:t>
            </a:r>
            <a:r>
              <a:rPr b="0" i="0" lang="en-US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/>
          </a:p>
          <a:p>
            <a:pPr indent="-457200" lvl="2" marL="1371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1.1 Background                                      </a:t>
            </a:r>
            <a:r>
              <a:rPr b="0" i="0" lang="en-US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/>
          </a:p>
          <a:p>
            <a:pPr indent="-457200" lvl="2" marL="1371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1.2 Aims &amp; Objectives                           </a:t>
            </a:r>
            <a:r>
              <a:rPr b="0" i="0" lang="en-US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/>
          </a:p>
          <a:p>
            <a:pPr indent="-457200" lvl="2" marL="1371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1.3 Guidance &amp; Control                          </a:t>
            </a:r>
            <a:r>
              <a:rPr b="0" i="0" lang="en-US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/>
          </a:p>
          <a:p>
            <a:pPr indent="-381000" lvl="3" marL="1752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mic Sans MS"/>
              <a:buNone/>
            </a:pP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1.3.2 Guidance                                            </a:t>
            </a:r>
            <a:r>
              <a:rPr b="0" i="0" lang="en-US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endParaRPr/>
          </a:p>
          <a:p>
            <a:pPr indent="-381000" lvl="4" marL="2209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mic Sans MS"/>
              <a:buNone/>
            </a:pPr>
            <a:r>
              <a:rPr b="0" i="0" lang="en-US" sz="20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1.3.2.1 Classification</a:t>
            </a:r>
            <a:endParaRPr/>
          </a:p>
          <a:p>
            <a:pPr indent="-457200" lvl="2" marL="1371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1.4 Control                                            </a:t>
            </a:r>
            <a:r>
              <a:rPr b="0" i="0" lang="en-US" sz="1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14</a:t>
            </a:r>
            <a:endParaRPr/>
          </a:p>
        </p:txBody>
      </p:sp>
      <p:cxnSp>
        <p:nvCxnSpPr>
          <p:cNvPr id="144" name="Google Shape;144;p7"/>
          <p:cNvCxnSpPr/>
          <p:nvPr/>
        </p:nvCxnSpPr>
        <p:spPr>
          <a:xfrm>
            <a:off x="6084887" y="4797425"/>
            <a:ext cx="358775" cy="360362"/>
          </a:xfrm>
          <a:prstGeom prst="straightConnector1">
            <a:avLst/>
          </a:prstGeom>
          <a:noFill/>
          <a:ln cap="flat" cmpd="sng" w="635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5" name="Google Shape;145;p7"/>
          <p:cNvCxnSpPr/>
          <p:nvPr/>
        </p:nvCxnSpPr>
        <p:spPr>
          <a:xfrm flipH="1">
            <a:off x="6084887" y="4797425"/>
            <a:ext cx="358775" cy="360362"/>
          </a:xfrm>
          <a:prstGeom prst="straightConnector1">
            <a:avLst/>
          </a:prstGeom>
          <a:noFill/>
          <a:ln cap="flat" cmpd="sng" w="635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List of Figures and Tables</a:t>
            </a:r>
            <a:endParaRPr/>
          </a:p>
        </p:txBody>
      </p:sp>
      <p:sp>
        <p:nvSpPr>
          <p:cNvPr id="151" name="Google Shape;151;p8"/>
          <p:cNvSpPr txBox="1"/>
          <p:nvPr>
            <p:ph idx="1" type="body"/>
          </p:nvPr>
        </p:nvSpPr>
        <p:spPr>
          <a:xfrm>
            <a:off x="1524000" y="1844675"/>
            <a:ext cx="7440612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List of Figures: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Figure 3.1: Guided object ..	          			25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Figure 3.2: Missile classification .. 			29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Figure 3.3: Skyguard missile .. 	           		36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i="0" sz="20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609600" lvl="0" marL="609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1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List of Tables:</a:t>
            </a:r>
            <a:endParaRPr b="1" i="0" sz="28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95300" lvl="1" marL="952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Table 1: An example of two parent chromosomes ..	63 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Table 2: Reproducing of chromosome using RCGA .. 	63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Table 3: Error convergence and execution time .. 	84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Chapter 1: Introduction</a:t>
            </a:r>
            <a:endParaRPr/>
          </a:p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1692275" y="1844675"/>
            <a:ext cx="7200900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Background –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⮚"/>
            </a:pPr>
            <a:r>
              <a:rPr b="0" i="0" lang="en-US" sz="2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Importance / justification (area)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⮚"/>
            </a:pPr>
            <a:r>
              <a:rPr b="0" i="0" lang="en-US" sz="2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Present the problem being studied and its context (may need references)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⮚"/>
            </a:pPr>
            <a:r>
              <a:rPr b="0" i="0" lang="en-US" sz="2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Motivation </a:t>
            </a:r>
            <a:endParaRPr/>
          </a:p>
          <a:p>
            <a:pPr indent="-228600" lvl="1" marL="74295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</a:pPr>
            <a:r>
              <a:t/>
            </a:r>
            <a:endParaRPr b="0" i="0" sz="12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Aims &amp; Objectives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Deliveries </a:t>
            </a:r>
            <a:r>
              <a:rPr b="0" i="0" lang="en-US" sz="2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(?)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Outline of the Thesis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Chapter 2: Literature Review</a:t>
            </a:r>
            <a:endParaRPr/>
          </a:p>
        </p:txBody>
      </p:sp>
      <p:sp>
        <p:nvSpPr>
          <p:cNvPr id="163" name="Google Shape;163;p10"/>
          <p:cNvSpPr txBox="1"/>
          <p:nvPr>
            <p:ph idx="1" type="body"/>
          </p:nvPr>
        </p:nvSpPr>
        <p:spPr>
          <a:xfrm>
            <a:off x="1524000" y="1844675"/>
            <a:ext cx="7296150" cy="4537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Explore broader area then divide into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⮚"/>
            </a:pPr>
            <a:r>
              <a:rPr b="0" i="0" lang="en-US" sz="2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Sub area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⮚"/>
            </a:pPr>
            <a:r>
              <a:rPr b="0" i="0" lang="en-US" sz="2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Sub area 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⮚"/>
            </a:pPr>
            <a:r>
              <a:rPr b="0" i="0" lang="en-US" sz="2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Sub area 3 –</a:t>
            </a:r>
            <a:endParaRPr/>
          </a:p>
          <a:p>
            <a:pPr indent="-219075" lvl="1" marL="7429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Noto Sans Symbols"/>
              <a:buNone/>
            </a:pPr>
            <a:r>
              <a:t/>
            </a:r>
            <a:endParaRPr b="0" i="0" sz="14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Interpret and draw conclusions about the current state of knowledge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Note</a:t>
            </a: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: explore (with critical view) existing work and justify your aims &amp; objectives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1524000" y="333375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mpact"/>
              <a:buNone/>
            </a:pPr>
            <a:r>
              <a:rPr b="0" i="0" lang="en-US" sz="36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Chapter 3: Theory/Methodologies/Algorithms</a:t>
            </a:r>
            <a:endParaRPr/>
          </a:p>
        </p:txBody>
      </p:sp>
      <p:sp>
        <p:nvSpPr>
          <p:cNvPr id="169" name="Google Shape;169;p11"/>
          <p:cNvSpPr txBox="1"/>
          <p:nvPr>
            <p:ph idx="1" type="body"/>
          </p:nvPr>
        </p:nvSpPr>
        <p:spPr>
          <a:xfrm>
            <a:off x="1524000" y="1844675"/>
            <a:ext cx="7440612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Noto Sans Symbols"/>
              <a:buChar char="⮚"/>
            </a:pPr>
            <a:r>
              <a:rPr b="0" i="0" lang="en-US" sz="26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What have you used/developed?</a:t>
            </a:r>
            <a:endParaRPr/>
          </a:p>
          <a:p>
            <a:pPr indent="-2540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Noto Sans Symbols"/>
              <a:buChar char="⮚"/>
            </a:pPr>
            <a:r>
              <a:rPr b="0" i="0" lang="en-US" sz="26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Have you modified any existing theory/methodology/algorithms? If yes, how?</a:t>
            </a:r>
            <a:endParaRPr/>
          </a:p>
          <a:p>
            <a:pPr indent="-2540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Noto Sans Symbols"/>
              <a:buChar char="⮚"/>
            </a:pPr>
            <a:r>
              <a:rPr b="0" i="0" lang="en-US" sz="26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Critical comparative analysis (if appropriate).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Note</a:t>
            </a: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0" lang="en-US" sz="2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for existing work (available in public domain) give appropriate references rather providing details</a:t>
            </a:r>
            <a:r>
              <a:rPr b="1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Chapter 4: Simulation/Experiment</a:t>
            </a:r>
            <a:endParaRPr/>
          </a:p>
        </p:txBody>
      </p:sp>
      <p:sp>
        <p:nvSpPr>
          <p:cNvPr id="175" name="Google Shape;175;p12"/>
          <p:cNvSpPr txBox="1"/>
          <p:nvPr>
            <p:ph idx="1" type="body"/>
          </p:nvPr>
        </p:nvSpPr>
        <p:spPr>
          <a:xfrm>
            <a:off x="1476375" y="1773237"/>
            <a:ext cx="7296150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What have you used?</a:t>
            </a:r>
            <a:r>
              <a:rPr b="1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650"/>
              <a:buFont typeface="Noto Sans Symbols"/>
              <a:buChar char="⮚"/>
            </a:pP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Theory/methodology/algorithms (refer previous chapter). Why?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650"/>
              <a:buFont typeface="Noto Sans Symbols"/>
              <a:buChar char="⮚"/>
            </a:pP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Software tools (provide features/scopes). Why?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650"/>
              <a:buFont typeface="Noto Sans Symbols"/>
              <a:buChar char="⮚"/>
            </a:pP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Resources (provide details). Why?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b="0" i="0" sz="12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How did you implement it</a:t>
            </a:r>
            <a:r>
              <a:rPr b="1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650"/>
              <a:buFont typeface="Noto Sans Symbols"/>
              <a:buChar char="⮚"/>
            </a:pP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Implementation details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650"/>
              <a:buFont typeface="Noto Sans Symbols"/>
              <a:buChar char="⮚"/>
            </a:pP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Parameters used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650"/>
              <a:buFont typeface="Noto Sans Symbols"/>
              <a:buChar char="⮚"/>
            </a:pP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Constraints in implementation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650"/>
              <a:buFont typeface="Noto Sans Symbols"/>
              <a:buChar char="⮚"/>
            </a:pP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Critical analysis (comparative features).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0" i="0" sz="22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type="title"/>
          </p:nvPr>
        </p:nvSpPr>
        <p:spPr>
          <a:xfrm>
            <a:off x="1524000" y="533400"/>
            <a:ext cx="708025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Results &amp; Discussion</a:t>
            </a:r>
            <a:endParaRPr/>
          </a:p>
        </p:txBody>
      </p:sp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1619250" y="2060575"/>
            <a:ext cx="72961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i="0" lang="en-US" sz="36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Often the most difficult chapter(s) of a thesis to write well ! 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Chapter 5: Results &amp; discussion</a:t>
            </a:r>
            <a:endParaRPr/>
          </a:p>
        </p:txBody>
      </p:sp>
      <p:sp>
        <p:nvSpPr>
          <p:cNvPr id="187" name="Google Shape;187;p14"/>
          <p:cNvSpPr txBox="1"/>
          <p:nvPr>
            <p:ph idx="1" type="body"/>
          </p:nvPr>
        </p:nvSpPr>
        <p:spPr>
          <a:xfrm>
            <a:off x="1524000" y="1916112"/>
            <a:ext cx="7620000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500"/>
              <a:buFont typeface="Noto Sans Symbols"/>
              <a:buChar char="⮚"/>
            </a:pPr>
            <a:r>
              <a:rPr b="0" i="0" lang="en-US" sz="25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Present results in meaningful form (not raw data) – Figures, Tables, Charts (as evidence)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hlink"/>
              </a:buClr>
              <a:buSzPts val="2500"/>
              <a:buFont typeface="Noto Sans Symbols"/>
              <a:buChar char="⮚"/>
            </a:pPr>
            <a:r>
              <a:rPr b="0" i="0" lang="en-US" sz="25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Could be separated based on areas (refer to previous chapters) and sub areas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hlink"/>
              </a:buClr>
              <a:buSzPts val="2500"/>
              <a:buFont typeface="Noto Sans Symbols"/>
              <a:buChar char="⮚"/>
            </a:pPr>
            <a:r>
              <a:rPr b="0" i="0" lang="en-US" sz="25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Provide illustration, possible theoretical or practical significance and critical analysis (opinion to justify) for figures/tables/charts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hlink"/>
              </a:buClr>
              <a:buSzPts val="2500"/>
              <a:buFont typeface="Noto Sans Symbols"/>
              <a:buChar char="⮚"/>
            </a:pPr>
            <a:r>
              <a:rPr b="0" i="0" lang="en-US" sz="25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Provide comparative performance (each other/with existing work).</a:t>
            </a:r>
            <a:endParaRPr/>
          </a:p>
          <a:p>
            <a:pPr indent="-18415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hlink"/>
              </a:buClr>
              <a:buSzPts val="2500"/>
              <a:buFont typeface="Noto Sans Symbols"/>
              <a:buNone/>
            </a:pPr>
            <a:r>
              <a:t/>
            </a:r>
            <a:endParaRPr b="0" i="0" sz="25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84150" lvl="0" marL="342900" rtl="0" algn="l">
              <a:spcBef>
                <a:spcPts val="5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b="0" i="0" sz="25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01450_[1]" id="192" name="Google Shape;1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8487" y="0"/>
            <a:ext cx="2195512" cy="148431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Tables and Figures</a:t>
            </a:r>
            <a:endParaRPr/>
          </a:p>
        </p:txBody>
      </p:sp>
      <p:sp>
        <p:nvSpPr>
          <p:cNvPr id="194" name="Google Shape;194;p15"/>
          <p:cNvSpPr txBox="1"/>
          <p:nvPr>
            <p:ph idx="1" type="body"/>
          </p:nvPr>
        </p:nvSpPr>
        <p:spPr>
          <a:xfrm>
            <a:off x="1524000" y="1844675"/>
            <a:ext cx="7620000" cy="230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Insert number (in sequence) prefixed by the chapter number</a:t>
            </a:r>
            <a:r>
              <a:rPr b="0" i="0" lang="en-US" sz="31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0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(eg Table 5.1, Figure 6.4) </a:t>
            </a:r>
            <a:endParaRPr/>
          </a:p>
          <a:p>
            <a:pPr indent="-266700" lvl="0" marL="34290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Provide caption - a concise description of the material presented</a:t>
            </a:r>
            <a:endParaRPr/>
          </a:p>
        </p:txBody>
      </p:sp>
      <p:sp>
        <p:nvSpPr>
          <p:cNvPr id="195" name="Google Shape;195;p15"/>
          <p:cNvSpPr txBox="1"/>
          <p:nvPr/>
        </p:nvSpPr>
        <p:spPr>
          <a:xfrm>
            <a:off x="1547812" y="4005262"/>
            <a:ext cx="7272337" cy="2592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500"/>
              <a:buFont typeface="Tahoma"/>
              <a:buNone/>
            </a:pPr>
            <a:r>
              <a:rPr b="0" i="0" lang="en-US" sz="25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Also note</a:t>
            </a:r>
            <a:r>
              <a:rPr b="0" i="0" lang="en-US" sz="25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hlink"/>
              </a:buClr>
              <a:buSzPts val="2500"/>
              <a:buFont typeface="Noto Sans Symbols"/>
              <a:buChar char="⮚"/>
            </a:pPr>
            <a:r>
              <a:rPr b="0" i="0" lang="en-US" sz="25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units clearly stated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hlink"/>
              </a:buClr>
              <a:buSzPts val="2500"/>
              <a:buFont typeface="Noto Sans Symbols"/>
              <a:buChar char="⮚"/>
            </a:pPr>
            <a:r>
              <a:rPr b="0" i="0" lang="en-US" sz="25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graphs and histograms drawn with high quality graph-plotting packages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hlink"/>
              </a:buClr>
              <a:buSzPts val="2500"/>
              <a:buFont typeface="Noto Sans Symbols"/>
              <a:buChar char="⮚"/>
            </a:pPr>
            <a:r>
              <a:rPr b="0" i="0" lang="en-US" sz="25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PC-drawn graphs should be checked carefully for anomalies and errors</a:t>
            </a:r>
            <a:endParaRPr/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>
            <p:ph type="title"/>
          </p:nvPr>
        </p:nvSpPr>
        <p:spPr>
          <a:xfrm>
            <a:off x="1187450" y="533400"/>
            <a:ext cx="795655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Chapter 5: Results &amp; discussion </a:t>
            </a:r>
            <a:r>
              <a:rPr b="0" i="0" lang="en-US" sz="2000" u="none">
                <a:solidFill>
                  <a:srgbClr val="0C0002"/>
                </a:solidFill>
                <a:latin typeface="Impact"/>
                <a:ea typeface="Impact"/>
                <a:cs typeface="Impact"/>
                <a:sym typeface="Impact"/>
              </a:rPr>
              <a:t>(Example)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0" y="197167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omic Sans M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202" name="Google Shape;202;p16"/>
          <p:cNvGraphicFramePr/>
          <p:nvPr/>
        </p:nvGraphicFramePr>
        <p:xfrm>
          <a:off x="1692275" y="1700212"/>
          <a:ext cx="6840537" cy="4033837"/>
        </p:xfrm>
        <a:graphic>
          <a:graphicData uri="http://schemas.openxmlformats.org/presentationml/2006/ole">
            <mc:AlternateContent>
              <mc:Choice Requires="v">
                <p:oleObj r:id="rId4" imgH="4033837" imgW="6840537" progId="MSGraph.Chart.8" spid="_x0000_s1">
                  <p:embed/>
                </p:oleObj>
              </mc:Choice>
              <mc:Fallback>
                <p:oleObj r:id="rId5" imgH="4033837" imgW="6840537" progId="MSGraph.Chart.8">
                  <p:embed/>
                  <p:pic>
                    <p:nvPicPr>
                      <p:cNvPr id="202" name="Google Shape;202;p1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92275" y="1700212"/>
                        <a:ext cx="6840537" cy="403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" name="Google Shape;203;p16"/>
          <p:cNvSpPr txBox="1"/>
          <p:nvPr/>
        </p:nvSpPr>
        <p:spPr>
          <a:xfrm>
            <a:off x="2339975" y="6092825"/>
            <a:ext cx="6156325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Comic Sans MS"/>
              <a:buNone/>
            </a:pPr>
            <a:r>
              <a:rPr b="0" i="0" lang="en-US" sz="1200" u="none">
                <a:solidFill>
                  <a:srgbClr val="0C0002"/>
                </a:solidFill>
                <a:latin typeface="Comic Sans MS"/>
                <a:ea typeface="Comic Sans MS"/>
                <a:cs typeface="Comic Sans MS"/>
                <a:sym typeface="Comic Sans MS"/>
              </a:rPr>
              <a:t>Figure 5.10: Execution time of the algorithms relative to the real-time requirement.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2933700" y="5514975"/>
            <a:ext cx="2851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-228600" lvl="0" marL="2057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C0002"/>
                </a:solidFill>
                <a:latin typeface="Arial"/>
                <a:ea typeface="Arial"/>
                <a:cs typeface="Arial"/>
                <a:sym typeface="Arial"/>
              </a:rPr>
              <a:t>Algorithms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Impact"/>
              <a:buNone/>
            </a:pPr>
            <a:r>
              <a:rPr b="0" i="0" lang="en-US" sz="34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Chapter 6: Conclusions &amp; Future Research</a:t>
            </a:r>
            <a:endParaRPr/>
          </a:p>
        </p:txBody>
      </p:sp>
      <p:sp>
        <p:nvSpPr>
          <p:cNvPr id="210" name="Google Shape;210;p17"/>
          <p:cNvSpPr txBox="1"/>
          <p:nvPr>
            <p:ph idx="1" type="body"/>
          </p:nvPr>
        </p:nvSpPr>
        <p:spPr>
          <a:xfrm>
            <a:off x="1476375" y="1700212"/>
            <a:ext cx="74882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Noto Sans Symbols"/>
              <a:buChar char="⮚"/>
            </a:pPr>
            <a:r>
              <a:rPr b="0" i="0" lang="en-US" sz="26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Discuss the previous chapters in the wider context of existing knowledge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Noto Sans Symbols"/>
              <a:buChar char="⮚"/>
            </a:pPr>
            <a:r>
              <a:rPr b="0" i="0" lang="en-US" sz="26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Provide your critical view on achievement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Noto Sans Symbols"/>
              <a:buChar char="⮚"/>
            </a:pPr>
            <a:r>
              <a:rPr b="0" i="0" lang="en-US" sz="26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List the main contributions clearly</a:t>
            </a:r>
            <a:endParaRPr/>
          </a:p>
          <a:p>
            <a:pPr indent="-2540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Noto Sans Symbols"/>
              <a:buChar char="⮚"/>
            </a:pPr>
            <a:r>
              <a:rPr b="0" i="0" lang="en-US" sz="26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Focus possible future research</a:t>
            </a: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650"/>
              <a:buFont typeface="Noto Sans Symbols"/>
              <a:buChar char="⮚"/>
            </a:pP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What is stimulated from your current research? What would do, if you have opportunity for further research? What are the possible research benefits it will bring?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650"/>
              <a:buFont typeface="Noto Sans Symbols"/>
              <a:buChar char="⮚"/>
            </a:pP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Provide a list (if appropriate).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References </a:t>
            </a:r>
            <a:r>
              <a:rPr b="0" i="0" lang="en-US" sz="2800" u="none">
                <a:solidFill>
                  <a:srgbClr val="0C0002"/>
                </a:solidFill>
                <a:latin typeface="Impact"/>
                <a:ea typeface="Impact"/>
                <a:cs typeface="Impact"/>
                <a:sym typeface="Impact"/>
              </a:rPr>
              <a:t>(Example)</a:t>
            </a:r>
            <a:endParaRPr/>
          </a:p>
        </p:txBody>
      </p:sp>
      <p:sp>
        <p:nvSpPr>
          <p:cNvPr id="216" name="Google Shape;216;p18"/>
          <p:cNvSpPr txBox="1"/>
          <p:nvPr>
            <p:ph idx="1" type="body"/>
          </p:nvPr>
        </p:nvSpPr>
        <p:spPr>
          <a:xfrm>
            <a:off x="1619250" y="1773237"/>
            <a:ext cx="7273925" cy="46799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Citation in Text</a:t>
            </a:r>
            <a:r>
              <a:rPr b="0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	The guidance and control laws used in earlier classical missiles are mainly based on classical control design techniques (</a:t>
            </a:r>
            <a:r>
              <a:rPr b="0" i="0" lang="en-US" sz="1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Lin &amp; SU 2000</a:t>
            </a:r>
            <a:r>
              <a:rPr b="0" i="0" lang="en-US" sz="1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). In the 1950s, these control laws were developed and have evolved into fairly standard design procedures (</a:t>
            </a:r>
            <a:r>
              <a:rPr b="0" i="0" lang="en-US" sz="1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Locke 1955</a:t>
            </a:r>
            <a:r>
              <a:rPr b="0" i="0" lang="en-US" sz="1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). In 1981 Pastrick et al. (</a:t>
            </a:r>
            <a:r>
              <a:rPr b="0" i="0" lang="en-US" sz="1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Pastrick et al. 1981</a:t>
            </a:r>
            <a:r>
              <a:rPr b="0" i="0" lang="en-US" sz="1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) performed a survey of short-range terminal guidance laws developed up to 1979.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References: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0" lang="en-US" sz="1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1800" u="none">
                <a:solidFill>
                  <a:srgbClr val="0C0002"/>
                </a:solidFill>
                <a:latin typeface="Tahoma"/>
                <a:ea typeface="Tahoma"/>
                <a:cs typeface="Tahoma"/>
                <a:sym typeface="Tahoma"/>
              </a:rPr>
              <a:t>Lin, C.F. and SU, H.W. (2000). "Intelligent Control Theory in Guidance and Control System Design an Overview", Proc Natl Sci Counc Repub China Part A Phys Scieng, Vol. 24(1), pp. 15-30.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rgbClr val="0C0002"/>
                </a:solidFill>
                <a:latin typeface="Tahoma"/>
                <a:ea typeface="Tahoma"/>
                <a:cs typeface="Tahoma"/>
                <a:sym typeface="Tahoma"/>
              </a:rPr>
              <a:t>Locke, A.S., (1955). Principles of Guided Missile Design: Guidance, New Jersey,USA,  D. Van Nostrand Company, Princeton.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rgbClr val="0C0002"/>
                </a:solidFill>
                <a:latin typeface="Tahoma"/>
                <a:ea typeface="Tahoma"/>
                <a:cs typeface="Tahoma"/>
                <a:sym typeface="Tahoma"/>
              </a:rPr>
              <a:t>Pastrick, H.L., Seltzer, S.M. and Warren, M.E. (1981). "Guidance Laws for Short-Range Tactical Missiles", Journal of Guidance and Control, Vol. 4(2), pp. 98-108.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 u="none">
              <a:solidFill>
                <a:srgbClr val="0C000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 spd="med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Acknowledging Others’ Work</a:t>
            </a:r>
            <a:endParaRPr/>
          </a:p>
        </p:txBody>
      </p:sp>
      <p:sp>
        <p:nvSpPr>
          <p:cNvPr id="222" name="Google Shape;222;p19"/>
          <p:cNvSpPr txBox="1"/>
          <p:nvPr>
            <p:ph idx="1" type="body"/>
          </p:nvPr>
        </p:nvSpPr>
        <p:spPr>
          <a:xfrm>
            <a:off x="1524000" y="2057400"/>
            <a:ext cx="4776787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500"/>
              <a:buFont typeface="Noto Sans Symbols"/>
              <a:buChar char="⮚"/>
            </a:pPr>
            <a:r>
              <a:rPr b="0" i="0" lang="en-US" sz="25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Thesis MUST be your own work </a:t>
            </a:r>
            <a:r>
              <a:rPr b="0" i="0" lang="en-US" sz="25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(Use Turn-It-In)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hlink"/>
              </a:buClr>
              <a:buSzPts val="2500"/>
              <a:buFont typeface="Noto Sans Symbols"/>
              <a:buChar char="⮚"/>
            </a:pPr>
            <a:r>
              <a:rPr b="0" i="0" lang="en-US" sz="25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Where data is shared in co-operative projects, the source and extent of your own contribution should be indicated</a:t>
            </a:r>
            <a:endParaRPr/>
          </a:p>
          <a:p>
            <a:pPr indent="-184150" lvl="0" marL="342900" rtl="0" algn="l">
              <a:spcBef>
                <a:spcPts val="5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b="0" i="0" sz="25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AG00456_[1]" id="223" name="Google Shape;2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2133600"/>
            <a:ext cx="2590800" cy="1808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Acknowledging Past Work</a:t>
            </a:r>
            <a:endParaRPr/>
          </a:p>
        </p:txBody>
      </p:sp>
      <p:sp>
        <p:nvSpPr>
          <p:cNvPr id="229" name="Google Shape;229;p20"/>
          <p:cNvSpPr txBox="1"/>
          <p:nvPr>
            <p:ph idx="1" type="body"/>
          </p:nvPr>
        </p:nvSpPr>
        <p:spPr>
          <a:xfrm>
            <a:off x="1619250" y="1916112"/>
            <a:ext cx="7369175" cy="46799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Past work provides the foundations on which we build new knowledge 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Careful review of published work is therefore an important component of any good thesis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However, reproducing thoughts, views or results of other people without appropriate acknowledgement of the source is termed </a:t>
            </a:r>
            <a:r>
              <a:rPr b="0" i="0" lang="en-US" sz="2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'plagiarism' and constitutes a serious academic offence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Appendices </a:t>
            </a:r>
            <a:endParaRPr/>
          </a:p>
        </p:txBody>
      </p:sp>
      <p:sp>
        <p:nvSpPr>
          <p:cNvPr id="235" name="Google Shape;235;p21"/>
          <p:cNvSpPr txBox="1"/>
          <p:nvPr>
            <p:ph idx="1" type="body"/>
          </p:nvPr>
        </p:nvSpPr>
        <p:spPr>
          <a:xfrm>
            <a:off x="1524000" y="1916112"/>
            <a:ext cx="7620000" cy="4537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Noto Sans Symbols"/>
              <a:buChar char="⮚"/>
            </a:pPr>
            <a:r>
              <a:rPr b="0" i="0" lang="en-US" sz="26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‘Raw' data, if needed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Noto Sans Symbols"/>
              <a:buChar char="⮚"/>
            </a:pPr>
            <a:r>
              <a:rPr b="0" i="0" lang="en-US" sz="26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Statistical analyses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950"/>
              <a:buFont typeface="Noto Sans Symbols"/>
              <a:buChar char="⮚"/>
            </a:pPr>
            <a:r>
              <a:rPr b="0" i="0" lang="en-US" sz="26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although details of the type of statistical analyses performed should be given in Methodology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Noto Sans Symbols"/>
              <a:buChar char="⮚"/>
            </a:pPr>
            <a:r>
              <a:rPr b="0" i="0" lang="en-US" sz="26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Standard errors or standard deviations included in Figures and Tables where appropriate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Noto Sans Symbols"/>
              <a:buChar char="⮚"/>
            </a:pPr>
            <a:r>
              <a:rPr b="0" i="0" lang="en-US" sz="26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Detail Mathematical derivation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Noto Sans Symbols"/>
              <a:buChar char="⮚"/>
            </a:pPr>
            <a:r>
              <a:rPr b="0" i="0" lang="en-US" sz="26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Details of resources (hardware/software)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Noto Sans Symbols"/>
              <a:buChar char="⮚"/>
            </a:pPr>
            <a:r>
              <a:rPr b="0" i="0" lang="en-US" sz="26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Source code (CD/DVD) </a:t>
            </a:r>
            <a:endParaRPr/>
          </a:p>
        </p:txBody>
      </p:sp>
      <p:pic>
        <p:nvPicPr>
          <p:cNvPr descr="PE02671_[1]" id="236" name="Google Shape;2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0625" y="0"/>
            <a:ext cx="1603375" cy="136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 txBox="1"/>
          <p:nvPr>
            <p:ph type="title"/>
          </p:nvPr>
        </p:nvSpPr>
        <p:spPr>
          <a:xfrm>
            <a:off x="1524000" y="5334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Tips</a:t>
            </a:r>
            <a:endParaRPr/>
          </a:p>
        </p:txBody>
      </p:sp>
      <p:sp>
        <p:nvSpPr>
          <p:cNvPr id="242" name="Google Shape;242;p22"/>
          <p:cNvSpPr txBox="1"/>
          <p:nvPr>
            <p:ph idx="1" type="body"/>
          </p:nvPr>
        </p:nvSpPr>
        <p:spPr>
          <a:xfrm>
            <a:off x="1763712" y="1700212"/>
            <a:ext cx="7129462" cy="14430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⮚"/>
            </a:pP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Your School/Dept web pages may offer guidelines for writing your PhD/MPhil thesis</a:t>
            </a:r>
            <a:r>
              <a:rPr b="0" i="0" lang="en-US" sz="27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2025"/>
              <a:buNone/>
            </a:pPr>
            <a:r>
              <a:t/>
            </a:r>
            <a:endParaRPr b="0" i="0" sz="27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j0174031[1]" id="243" name="Google Shape;2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3213100"/>
            <a:ext cx="2663825" cy="259238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3887787" y="2565400"/>
            <a:ext cx="5256212" cy="3816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⮚"/>
            </a:pP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Look at recent theses in the Library </a:t>
            </a:r>
            <a:endParaRPr/>
          </a:p>
          <a:p>
            <a:pPr indent="-266700" lvl="0" marL="342900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⮚"/>
            </a:pP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Take advice from supervisor</a:t>
            </a:r>
            <a:endParaRPr/>
          </a:p>
          <a:p>
            <a:pPr indent="-266700" lvl="0" marL="342900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⮚"/>
            </a:pP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Normally written in the Past tense and should be as concise as possible</a:t>
            </a:r>
            <a:endParaRPr/>
          </a:p>
          <a:p>
            <a:pPr indent="-266700" lvl="0" marL="3429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⮚"/>
            </a:pP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Need for careful checking of spelling, grammar and punctuation, page number and references </a:t>
            </a:r>
            <a:b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2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⮚"/>
            </a:pP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Length: MPhil ~100-150 pages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⮚"/>
            </a:pP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Length: PhD ~ 150-300 pages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⮚"/>
            </a:pPr>
            <a:r>
              <a:rPr b="0" i="0" lang="en-US" sz="22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Remember</a:t>
            </a:r>
            <a:r>
              <a:rPr b="0" i="0" lang="en-US" sz="22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 - You are responsible </a:t>
            </a:r>
            <a:endParaRPr/>
          </a:p>
          <a:p>
            <a:pPr indent="-203200" lvl="0" marL="3429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3200" lvl="0" marL="3429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Comic Sans MS"/>
              <a:buNone/>
            </a:pPr>
            <a:r>
              <a:t/>
            </a:r>
            <a:endParaRPr b="0" i="0" sz="2200" u="none">
              <a:solidFill>
                <a:srgbClr val="0000C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ick To Download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3212" y="2349500"/>
            <a:ext cx="2519362" cy="251936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>
            <p:ph type="title"/>
          </p:nvPr>
        </p:nvSpPr>
        <p:spPr>
          <a:xfrm>
            <a:off x="1619250" y="1484312"/>
            <a:ext cx="3240087" cy="1152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b="0" i="0" lang="en-US" sz="400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Good luck!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4787900" y="5229225"/>
            <a:ext cx="2736850" cy="93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Questions?</a:t>
            </a:r>
            <a:endParaRPr/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mine - VW">
  <a:themeElements>
    <a:clrScheme name="">
      <a:dk1>
        <a:srgbClr val="009999"/>
      </a:dk1>
      <a:lt1>
        <a:srgbClr val="FFFFFF"/>
      </a:lt1>
      <a:dk2>
        <a:srgbClr val="990033"/>
      </a:dk2>
      <a:lt2>
        <a:srgbClr val="010000"/>
      </a:lt2>
      <a:accent1>
        <a:srgbClr val="CCECFF"/>
      </a:accent1>
      <a:accent2>
        <a:srgbClr val="90003A"/>
      </a:accent2>
      <a:accent3>
        <a:srgbClr val="FFFFFF"/>
      </a:accent3>
      <a:accent4>
        <a:srgbClr val="008282"/>
      </a:accent4>
      <a:accent5>
        <a:srgbClr val="E2F4FF"/>
      </a:accent5>
      <a:accent6>
        <a:srgbClr val="820034"/>
      </a:accent6>
      <a:hlink>
        <a:srgbClr val="990033"/>
      </a:hlink>
      <a:folHlink>
        <a:srgbClr val="9900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mine - VW">
  <a:themeElements>
    <a:clrScheme name="">
      <a:dk1>
        <a:srgbClr val="009999"/>
      </a:dk1>
      <a:lt1>
        <a:srgbClr val="FFFFFF"/>
      </a:lt1>
      <a:dk2>
        <a:srgbClr val="990033"/>
      </a:dk2>
      <a:lt2>
        <a:srgbClr val="010000"/>
      </a:lt2>
      <a:accent1>
        <a:srgbClr val="CCECFF"/>
      </a:accent1>
      <a:accent2>
        <a:srgbClr val="90003A"/>
      </a:accent2>
      <a:accent3>
        <a:srgbClr val="FFFFFF"/>
      </a:accent3>
      <a:accent4>
        <a:srgbClr val="008282"/>
      </a:accent4>
      <a:accent5>
        <a:srgbClr val="E2F4FF"/>
      </a:accent5>
      <a:accent6>
        <a:srgbClr val="820034"/>
      </a:accent6>
      <a:hlink>
        <a:srgbClr val="990033"/>
      </a:hlink>
      <a:folHlink>
        <a:srgbClr val="9900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2004-03-03T23:09:12Z</dcterms:created>
  <dc:creator>Hobbs</dc:creator>
</cp:coreProperties>
</file>