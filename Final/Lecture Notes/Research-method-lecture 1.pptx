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256" r:id="rId2"/>
    <p:sldId id="27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9144000" cy="6858000" type="screen4x3"/>
  <p:notesSz cx="6986588" cy="9272588"/>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0">
          <p15:clr>
            <a:srgbClr val="A4A3A4"/>
          </p15:clr>
        </p15:guide>
        <p15:guide id="2" pos="22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33"/>
    <a:srgbClr val="CEF81A"/>
    <a:srgbClr val="FFFF00"/>
    <a:srgbClr val="CC0000"/>
    <a:srgbClr val="00FF99"/>
    <a:srgbClr val="0099FF"/>
    <a:srgbClr val="C9AE6B"/>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62" autoAdjust="0"/>
    <p:restoredTop sz="93252"/>
  </p:normalViewPr>
  <p:slideViewPr>
    <p:cSldViewPr>
      <p:cViewPr varScale="1">
        <p:scale>
          <a:sx n="72" d="100"/>
          <a:sy n="72" d="100"/>
        </p:scale>
        <p:origin x="1736"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77" d="100"/>
          <a:sy n="77" d="100"/>
        </p:scale>
        <p:origin x="-2100" y="-84"/>
      </p:cViewPr>
      <p:guideLst>
        <p:guide orient="horz" pos="2920"/>
        <p:guide pos="220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27363" cy="463550"/>
          </a:xfrm>
          <a:prstGeom prst="rect">
            <a:avLst/>
          </a:prstGeom>
          <a:noFill/>
          <a:ln w="9525">
            <a:noFill/>
            <a:miter lim="800000"/>
            <a:headEnd/>
            <a:tailEnd/>
          </a:ln>
          <a:effectLst/>
        </p:spPr>
        <p:txBody>
          <a:bodyPr vert="horz" wrap="square" lIns="92903" tIns="46452" rIns="92903" bIns="46452" numCol="1" anchor="t" anchorCtr="0" compatLnSpc="1">
            <a:prstTxWarp prst="textNoShape">
              <a:avLst/>
            </a:prstTxWarp>
          </a:bodyPr>
          <a:lstStyle>
            <a:lvl1pPr defTabSz="928688">
              <a:defRPr sz="1200"/>
            </a:lvl1pPr>
          </a:lstStyle>
          <a:p>
            <a:endParaRPr lang="en-US"/>
          </a:p>
        </p:txBody>
      </p:sp>
      <p:sp>
        <p:nvSpPr>
          <p:cNvPr id="23555" name="Rectangle 3"/>
          <p:cNvSpPr>
            <a:spLocks noGrp="1" noChangeArrowheads="1"/>
          </p:cNvSpPr>
          <p:nvPr>
            <p:ph type="dt" sz="quarter" idx="1"/>
          </p:nvPr>
        </p:nvSpPr>
        <p:spPr bwMode="auto">
          <a:xfrm>
            <a:off x="3957638" y="0"/>
            <a:ext cx="3027362" cy="463550"/>
          </a:xfrm>
          <a:prstGeom prst="rect">
            <a:avLst/>
          </a:prstGeom>
          <a:noFill/>
          <a:ln w="9525">
            <a:noFill/>
            <a:miter lim="800000"/>
            <a:headEnd/>
            <a:tailEnd/>
          </a:ln>
          <a:effectLst/>
        </p:spPr>
        <p:txBody>
          <a:bodyPr vert="horz" wrap="square" lIns="92903" tIns="46452" rIns="92903" bIns="46452" numCol="1" anchor="t" anchorCtr="0" compatLnSpc="1">
            <a:prstTxWarp prst="textNoShape">
              <a:avLst/>
            </a:prstTxWarp>
          </a:bodyPr>
          <a:lstStyle>
            <a:lvl1pPr algn="r" defTabSz="928688">
              <a:defRPr sz="1200"/>
            </a:lvl1pPr>
          </a:lstStyle>
          <a:p>
            <a:endParaRPr lang="en-US"/>
          </a:p>
        </p:txBody>
      </p:sp>
      <p:sp>
        <p:nvSpPr>
          <p:cNvPr id="23556" name="Rectangle 4"/>
          <p:cNvSpPr>
            <a:spLocks noGrp="1" noChangeArrowheads="1"/>
          </p:cNvSpPr>
          <p:nvPr>
            <p:ph type="ftr" sz="quarter" idx="2"/>
          </p:nvPr>
        </p:nvSpPr>
        <p:spPr bwMode="auto">
          <a:xfrm>
            <a:off x="0" y="8807450"/>
            <a:ext cx="3027363" cy="463550"/>
          </a:xfrm>
          <a:prstGeom prst="rect">
            <a:avLst/>
          </a:prstGeom>
          <a:noFill/>
          <a:ln w="9525">
            <a:noFill/>
            <a:miter lim="800000"/>
            <a:headEnd/>
            <a:tailEnd/>
          </a:ln>
          <a:effectLst/>
        </p:spPr>
        <p:txBody>
          <a:bodyPr vert="horz" wrap="square" lIns="92903" tIns="46452" rIns="92903" bIns="46452" numCol="1" anchor="b" anchorCtr="0" compatLnSpc="1">
            <a:prstTxWarp prst="textNoShape">
              <a:avLst/>
            </a:prstTxWarp>
          </a:bodyPr>
          <a:lstStyle>
            <a:lvl1pPr defTabSz="928688">
              <a:defRPr sz="1200"/>
            </a:lvl1pPr>
          </a:lstStyle>
          <a:p>
            <a:endParaRPr lang="en-US"/>
          </a:p>
        </p:txBody>
      </p:sp>
      <p:sp>
        <p:nvSpPr>
          <p:cNvPr id="23557" name="Rectangle 5"/>
          <p:cNvSpPr>
            <a:spLocks noGrp="1" noChangeArrowheads="1"/>
          </p:cNvSpPr>
          <p:nvPr>
            <p:ph type="sldNum" sz="quarter" idx="3"/>
          </p:nvPr>
        </p:nvSpPr>
        <p:spPr bwMode="auto">
          <a:xfrm>
            <a:off x="3957638" y="8807450"/>
            <a:ext cx="3027362" cy="463550"/>
          </a:xfrm>
          <a:prstGeom prst="rect">
            <a:avLst/>
          </a:prstGeom>
          <a:noFill/>
          <a:ln w="9525">
            <a:noFill/>
            <a:miter lim="800000"/>
            <a:headEnd/>
            <a:tailEnd/>
          </a:ln>
          <a:effectLst/>
        </p:spPr>
        <p:txBody>
          <a:bodyPr vert="horz" wrap="square" lIns="92903" tIns="46452" rIns="92903" bIns="46452" numCol="1" anchor="b" anchorCtr="0" compatLnSpc="1">
            <a:prstTxWarp prst="textNoShape">
              <a:avLst/>
            </a:prstTxWarp>
          </a:bodyPr>
          <a:lstStyle>
            <a:lvl1pPr algn="r" defTabSz="928688">
              <a:defRPr sz="1200"/>
            </a:lvl1pPr>
          </a:lstStyle>
          <a:p>
            <a:fld id="{6CEC5AB6-5FFE-4DCA-A968-D86EB51A791B}" type="slidenum">
              <a:rPr lang="en-US"/>
              <a:pPr/>
              <a:t>‹#›</a:t>
            </a:fld>
            <a:endParaRPr lang="en-US"/>
          </a:p>
        </p:txBody>
      </p:sp>
    </p:spTree>
    <p:extLst>
      <p:ext uri="{BB962C8B-B14F-4D97-AF65-F5344CB8AC3E}">
        <p14:creationId xmlns:p14="http://schemas.microsoft.com/office/powerpoint/2010/main" val="205058325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7363" cy="4635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57638" y="0"/>
            <a:ext cx="3027362" cy="463550"/>
          </a:xfrm>
          <a:prstGeom prst="rect">
            <a:avLst/>
          </a:prstGeom>
        </p:spPr>
        <p:txBody>
          <a:bodyPr vert="horz" lIns="91440" tIns="45720" rIns="91440" bIns="45720" rtlCol="0"/>
          <a:lstStyle>
            <a:lvl1pPr algn="r">
              <a:defRPr sz="1200"/>
            </a:lvl1pPr>
          </a:lstStyle>
          <a:p>
            <a:fld id="{F7A5B9CF-9A49-4621-9703-DD51E51E7080}" type="datetimeFigureOut">
              <a:rPr lang="en-US" smtClean="0"/>
              <a:t>10/24/20</a:t>
            </a:fld>
            <a:endParaRPr lang="en-US"/>
          </a:p>
        </p:txBody>
      </p:sp>
      <p:sp>
        <p:nvSpPr>
          <p:cNvPr id="4" name="Slide Image Placeholder 3"/>
          <p:cNvSpPr>
            <a:spLocks noGrp="1" noRot="1" noChangeAspect="1"/>
          </p:cNvSpPr>
          <p:nvPr>
            <p:ph type="sldImg" idx="2"/>
          </p:nvPr>
        </p:nvSpPr>
        <p:spPr>
          <a:xfrm>
            <a:off x="1176338" y="695325"/>
            <a:ext cx="4635500" cy="3476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98500" y="4403725"/>
            <a:ext cx="5589588" cy="41735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07450"/>
            <a:ext cx="3027363" cy="4635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57638" y="8807450"/>
            <a:ext cx="3027362" cy="463550"/>
          </a:xfrm>
          <a:prstGeom prst="rect">
            <a:avLst/>
          </a:prstGeom>
        </p:spPr>
        <p:txBody>
          <a:bodyPr vert="horz" lIns="91440" tIns="45720" rIns="91440" bIns="45720" rtlCol="0" anchor="b"/>
          <a:lstStyle>
            <a:lvl1pPr algn="r">
              <a:defRPr sz="1200"/>
            </a:lvl1pPr>
          </a:lstStyle>
          <a:p>
            <a:fld id="{86470124-C15C-42E3-85CC-558A3629B7D2}" type="slidenum">
              <a:rPr lang="en-US" smtClean="0"/>
              <a:t>‹#›</a:t>
            </a:fld>
            <a:endParaRPr lang="en-US"/>
          </a:p>
        </p:txBody>
      </p:sp>
    </p:spTree>
    <p:extLst>
      <p:ext uri="{BB962C8B-B14F-4D97-AF65-F5344CB8AC3E}">
        <p14:creationId xmlns:p14="http://schemas.microsoft.com/office/powerpoint/2010/main" val="316355713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7"/>
          <p:cNvSpPr>
            <a:spLocks noChangeArrowheads="1"/>
          </p:cNvSpPr>
          <p:nvPr userDrawn="1"/>
        </p:nvSpPr>
        <p:spPr bwMode="auto">
          <a:xfrm>
            <a:off x="315913" y="6219825"/>
            <a:ext cx="4516557" cy="253916"/>
          </a:xfrm>
          <a:prstGeom prst="rect">
            <a:avLst/>
          </a:prstGeom>
          <a:ln w="12700" cmpd="dbl">
            <a:noFill/>
            <a:miter lim="800000"/>
            <a:headEnd/>
            <a:tailEnd/>
          </a:ln>
          <a:effectLst/>
        </p:spPr>
        <p:txBody>
          <a:bodyPr wrap="none" lIns="47625" tIns="19050" rIns="47625" bIns="19050">
            <a:spAutoFit/>
          </a:bodyPr>
          <a:lstStyle/>
          <a:p>
            <a:pPr eaLnBrk="0" hangingPunct="0"/>
            <a:r>
              <a:rPr lang="en-US" sz="1400" b="1" dirty="0"/>
              <a:t>CSE 6093 Research Methodologies and Technical Writing</a:t>
            </a:r>
          </a:p>
        </p:txBody>
      </p:sp>
      <p:sp useBgFill="1">
        <p:nvSpPr>
          <p:cNvPr id="1032" name="Rectangle 8"/>
          <p:cNvSpPr>
            <a:spLocks noChangeArrowheads="1"/>
          </p:cNvSpPr>
          <p:nvPr userDrawn="1"/>
        </p:nvSpPr>
        <p:spPr bwMode="auto">
          <a:xfrm>
            <a:off x="8048625" y="238125"/>
            <a:ext cx="508000" cy="250825"/>
          </a:xfrm>
          <a:prstGeom prst="rect">
            <a:avLst/>
          </a:prstGeom>
          <a:ln w="12700" cmpd="dbl">
            <a:noFill/>
            <a:miter lim="800000"/>
            <a:headEnd/>
            <a:tailEnd/>
          </a:ln>
          <a:effectLst/>
        </p:spPr>
        <p:txBody>
          <a:bodyPr wrap="none" lIns="47625" tIns="19050" rIns="47625" bIns="19050">
            <a:spAutoFit/>
          </a:bodyPr>
          <a:lstStyle/>
          <a:p>
            <a:pPr eaLnBrk="0" hangingPunct="0"/>
            <a:r>
              <a:rPr lang="en-US" sz="1400" b="1">
                <a:latin typeface="Tms Rmn" charset="0"/>
              </a:rPr>
              <a:t>- </a:t>
            </a:r>
            <a:fld id="{EDC7E57D-AC97-4AEE-B39D-39F3DDBB7C06}" type="slidenum">
              <a:rPr lang="en-US" sz="1400" b="1">
                <a:latin typeface="Tms Rmn" charset="0"/>
              </a:rPr>
              <a:pPr eaLnBrk="0" hangingPunct="0"/>
              <a:t>‹#›</a:t>
            </a:fld>
            <a:r>
              <a:rPr lang="en-US" sz="1400" b="1">
                <a:latin typeface="Tms Rmn" charset="0"/>
              </a:rPr>
              <a:t> -</a:t>
            </a:r>
          </a:p>
        </p:txBody>
      </p:sp>
      <p:sp>
        <p:nvSpPr>
          <p:cNvPr id="1033" name="Rectangle 9"/>
          <p:cNvSpPr>
            <a:spLocks noChangeArrowheads="1"/>
          </p:cNvSpPr>
          <p:nvPr userDrawn="1"/>
        </p:nvSpPr>
        <p:spPr bwMode="auto">
          <a:xfrm>
            <a:off x="85725" y="250825"/>
            <a:ext cx="493713" cy="220663"/>
          </a:xfrm>
          <a:prstGeom prst="rect">
            <a:avLst/>
          </a:prstGeom>
          <a:noFill/>
          <a:ln w="12700" cmpd="dbl">
            <a:noFill/>
            <a:miter lim="800000"/>
            <a:headEnd/>
            <a:tailEnd/>
          </a:ln>
          <a:effectLst/>
        </p:spPr>
        <p:txBody>
          <a:bodyPr wrap="none" lIns="47625" tIns="19050" rIns="47625" bIns="19050">
            <a:spAutoFit/>
          </a:bodyPr>
          <a:lstStyle/>
          <a:p>
            <a:pPr eaLnBrk="0" hangingPunct="0"/>
            <a:r>
              <a:rPr lang="en-US" sz="1200" b="1" dirty="0">
                <a:latin typeface="Helvetica" pitchFamily="34" charset="0"/>
              </a:rPr>
              <a:t>HO  1</a:t>
            </a:r>
          </a:p>
        </p:txBody>
      </p:sp>
      <p:sp>
        <p:nvSpPr>
          <p:cNvPr id="1034" name="Rectangle 10"/>
          <p:cNvSpPr>
            <a:spLocks noChangeArrowheads="1"/>
          </p:cNvSpPr>
          <p:nvPr userDrawn="1"/>
        </p:nvSpPr>
        <p:spPr bwMode="auto">
          <a:xfrm>
            <a:off x="6934200" y="6248400"/>
            <a:ext cx="2133600" cy="223138"/>
          </a:xfrm>
          <a:prstGeom prst="rect">
            <a:avLst/>
          </a:prstGeom>
          <a:noFill/>
          <a:ln w="12700" cmpd="dbl">
            <a:noFill/>
            <a:miter lim="800000"/>
            <a:headEnd/>
            <a:tailEnd/>
          </a:ln>
          <a:effectLst/>
        </p:spPr>
        <p:txBody>
          <a:bodyPr lIns="47625" tIns="19050" rIns="47625" bIns="19050">
            <a:spAutoFit/>
          </a:bodyPr>
          <a:lstStyle/>
          <a:p>
            <a:pPr eaLnBrk="0" hangingPunct="0"/>
            <a:r>
              <a:rPr lang="en-US" sz="1200" b="1" dirty="0">
                <a:latin typeface="Helvetica" pitchFamily="34" charset="0"/>
              </a:rPr>
              <a:t>© Dr. K. A. Mamun 2020</a:t>
            </a:r>
          </a:p>
        </p:txBody>
      </p:sp>
      <p:sp>
        <p:nvSpPr>
          <p:cNvPr id="1035" name="Rectangle 11"/>
          <p:cNvSpPr>
            <a:spLocks noChangeArrowheads="1"/>
          </p:cNvSpPr>
          <p:nvPr userDrawn="1"/>
        </p:nvSpPr>
        <p:spPr bwMode="auto">
          <a:xfrm>
            <a:off x="3730625" y="201613"/>
            <a:ext cx="1535113" cy="403225"/>
          </a:xfrm>
          <a:prstGeom prst="rect">
            <a:avLst/>
          </a:prstGeom>
          <a:noFill/>
          <a:ln w="25400">
            <a:noFill/>
            <a:miter lim="800000"/>
            <a:headEnd/>
            <a:tailEnd/>
          </a:ln>
          <a:effectLst/>
        </p:spPr>
        <p:txBody>
          <a:bodyPr wrap="none" lIns="47625" tIns="19050" rIns="47625" bIns="19050">
            <a:spAutoFit/>
          </a:bodyPr>
          <a:lstStyle/>
          <a:p>
            <a:pPr algn="ctr" eaLnBrk="0" hangingPunct="0"/>
            <a:r>
              <a:rPr lang="en-US" b="1">
                <a:solidFill>
                  <a:schemeClr val="tx2"/>
                </a:solidFill>
                <a:latin typeface="Arial" pitchFamily="34" charset="0"/>
              </a:rPr>
              <a:t>Lecture  1</a:t>
            </a:r>
          </a:p>
        </p:txBody>
      </p:sp>
      <p:sp>
        <p:nvSpPr>
          <p:cNvPr id="1036" name="Line 12"/>
          <p:cNvSpPr>
            <a:spLocks noChangeShapeType="1"/>
          </p:cNvSpPr>
          <p:nvPr userDrawn="1"/>
        </p:nvSpPr>
        <p:spPr bwMode="auto">
          <a:xfrm>
            <a:off x="228600" y="6172200"/>
            <a:ext cx="8477250" cy="0"/>
          </a:xfrm>
          <a:prstGeom prst="line">
            <a:avLst/>
          </a:prstGeom>
          <a:noFill/>
          <a:ln w="12700">
            <a:solidFill>
              <a:schemeClr val="tx1"/>
            </a:solidFill>
            <a:round/>
            <a:headEnd/>
            <a:tailEnd/>
          </a:ln>
          <a:effectLst/>
        </p:spPr>
        <p:txBody>
          <a:bodyPr/>
          <a:lstStyle/>
          <a:p>
            <a:endParaRPr lang="en-US"/>
          </a:p>
        </p:txBody>
      </p:sp>
      <p:sp>
        <p:nvSpPr>
          <p:cNvPr id="1037" name="Rectangle 13"/>
          <p:cNvSpPr>
            <a:spLocks noChangeArrowheads="1"/>
          </p:cNvSpPr>
          <p:nvPr userDrawn="1"/>
        </p:nvSpPr>
        <p:spPr bwMode="auto">
          <a:xfrm>
            <a:off x="1104900" y="685800"/>
            <a:ext cx="6934200" cy="6096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itchFamily="18" charset="0"/>
        </a:defRPr>
      </a:lvl2pPr>
      <a:lvl3pPr algn="ctr" rtl="0" fontAlgn="base">
        <a:spcBef>
          <a:spcPct val="0"/>
        </a:spcBef>
        <a:spcAft>
          <a:spcPct val="0"/>
        </a:spcAft>
        <a:defRPr sz="4400">
          <a:solidFill>
            <a:schemeClr val="tx2"/>
          </a:solidFill>
          <a:latin typeface="Times New Roman" pitchFamily="18" charset="0"/>
        </a:defRPr>
      </a:lvl3pPr>
      <a:lvl4pPr algn="ctr" rtl="0" fontAlgn="base">
        <a:spcBef>
          <a:spcPct val="0"/>
        </a:spcBef>
        <a:spcAft>
          <a:spcPct val="0"/>
        </a:spcAft>
        <a:defRPr sz="4400">
          <a:solidFill>
            <a:schemeClr val="tx2"/>
          </a:solidFill>
          <a:latin typeface="Times New Roman" pitchFamily="18" charset="0"/>
        </a:defRPr>
      </a:lvl4pPr>
      <a:lvl5pPr algn="ctr" rtl="0" fontAlgn="base">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6.png"/><Relationship Id="rId4" Type="http://schemas.openxmlformats.org/officeDocument/2006/relationships/image" Target="../media/image5.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panky.triumf.ca/pub/fractals/images/quartet/reddevil.png" TargetMode="External"/><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Rectangle 6"/>
          <p:cNvSpPr>
            <a:spLocks noChangeArrowheads="1"/>
          </p:cNvSpPr>
          <p:nvPr/>
        </p:nvSpPr>
        <p:spPr bwMode="auto">
          <a:xfrm>
            <a:off x="3143250" y="2176206"/>
            <a:ext cx="6000750" cy="3013363"/>
          </a:xfrm>
          <a:prstGeom prst="rect">
            <a:avLst/>
          </a:prstGeom>
          <a:solidFill>
            <a:schemeClr val="hlink"/>
          </a:solidFill>
          <a:ln w="9525">
            <a:solidFill>
              <a:schemeClr val="tx1"/>
            </a:solidFill>
            <a:miter lim="800000"/>
            <a:headEnd/>
            <a:tailEnd/>
          </a:ln>
          <a:effectLst/>
        </p:spPr>
        <p:txBody>
          <a:bodyPr wrap="none" anchor="ctr"/>
          <a:lstStyle/>
          <a:p>
            <a:endParaRPr lang="en-US"/>
          </a:p>
        </p:txBody>
      </p:sp>
      <p:sp>
        <p:nvSpPr>
          <p:cNvPr id="2050" name="Text Box 2"/>
          <p:cNvSpPr txBox="1">
            <a:spLocks noChangeArrowheads="1"/>
          </p:cNvSpPr>
          <p:nvPr/>
        </p:nvSpPr>
        <p:spPr bwMode="auto">
          <a:xfrm>
            <a:off x="1524000" y="685800"/>
            <a:ext cx="5943600" cy="641350"/>
          </a:xfrm>
          <a:prstGeom prst="rect">
            <a:avLst/>
          </a:prstGeom>
          <a:noFill/>
          <a:ln w="9525">
            <a:noFill/>
            <a:miter lim="800000"/>
            <a:headEnd/>
            <a:tailEnd/>
          </a:ln>
          <a:effectLst/>
        </p:spPr>
        <p:txBody>
          <a:bodyPr>
            <a:spAutoFit/>
          </a:bodyPr>
          <a:lstStyle/>
          <a:p>
            <a:pPr algn="ctr">
              <a:spcBef>
                <a:spcPct val="50000"/>
              </a:spcBef>
            </a:pPr>
            <a:r>
              <a:rPr lang="en-US" sz="3600" b="1"/>
              <a:t>RESEARCH METHODS</a:t>
            </a:r>
          </a:p>
        </p:txBody>
      </p:sp>
      <p:sp>
        <p:nvSpPr>
          <p:cNvPr id="2051" name="Text Box 3"/>
          <p:cNvSpPr txBox="1">
            <a:spLocks noChangeArrowheads="1"/>
          </p:cNvSpPr>
          <p:nvPr/>
        </p:nvSpPr>
        <p:spPr bwMode="auto">
          <a:xfrm>
            <a:off x="2438400" y="1295400"/>
            <a:ext cx="4114800" cy="457200"/>
          </a:xfrm>
          <a:prstGeom prst="rect">
            <a:avLst/>
          </a:prstGeom>
          <a:noFill/>
          <a:ln w="9525">
            <a:noFill/>
            <a:miter lim="800000"/>
            <a:headEnd/>
            <a:tailEnd/>
          </a:ln>
          <a:effectLst/>
        </p:spPr>
        <p:txBody>
          <a:bodyPr>
            <a:spAutoFit/>
          </a:bodyPr>
          <a:lstStyle/>
          <a:p>
            <a:pPr algn="ctr">
              <a:spcBef>
                <a:spcPct val="50000"/>
              </a:spcBef>
            </a:pPr>
            <a:r>
              <a:rPr lang="en-US"/>
              <a:t>WELCOME</a:t>
            </a:r>
          </a:p>
        </p:txBody>
      </p:sp>
      <p:sp>
        <p:nvSpPr>
          <p:cNvPr id="2055" name="Text Box 7"/>
          <p:cNvSpPr txBox="1">
            <a:spLocks noChangeArrowheads="1"/>
          </p:cNvSpPr>
          <p:nvPr/>
        </p:nvSpPr>
        <p:spPr bwMode="auto">
          <a:xfrm>
            <a:off x="3143250" y="2482558"/>
            <a:ext cx="6000750" cy="2769989"/>
          </a:xfrm>
          <a:prstGeom prst="rect">
            <a:avLst/>
          </a:prstGeom>
          <a:noFill/>
          <a:ln w="9525">
            <a:noFill/>
            <a:miter lim="800000"/>
            <a:headEnd/>
            <a:tailEnd/>
          </a:ln>
          <a:effectLst/>
        </p:spPr>
        <p:txBody>
          <a:bodyPr wrap="square">
            <a:spAutoFit/>
          </a:bodyPr>
          <a:lstStyle/>
          <a:p>
            <a:pPr algn="ctr">
              <a:spcBef>
                <a:spcPct val="50000"/>
              </a:spcBef>
            </a:pPr>
            <a:r>
              <a:rPr lang="en-US" sz="1200" dirty="0">
                <a:solidFill>
                  <a:schemeClr val="tx2"/>
                </a:solidFill>
                <a:latin typeface="Arial" panose="020B0604020202020204" pitchFamily="34" charset="0"/>
                <a:cs typeface="Arial" panose="020B0604020202020204" pitchFamily="34" charset="0"/>
              </a:rPr>
              <a:t>Course Teacher:</a:t>
            </a:r>
          </a:p>
          <a:p>
            <a:pPr algn="ctr">
              <a:lnSpc>
                <a:spcPct val="150000"/>
              </a:lnSpc>
            </a:pPr>
            <a:r>
              <a:rPr lang="en-US" sz="2000" b="1" dirty="0">
                <a:solidFill>
                  <a:schemeClr val="tx2"/>
                </a:solidFill>
                <a:latin typeface="Arial" panose="020B0604020202020204" pitchFamily="34" charset="0"/>
                <a:cs typeface="Arial" panose="020B0604020202020204" pitchFamily="34" charset="0"/>
              </a:rPr>
              <a:t>Prof. </a:t>
            </a:r>
            <a:r>
              <a:rPr lang="en-US" sz="2000" b="1" dirty="0" err="1">
                <a:solidFill>
                  <a:schemeClr val="tx2"/>
                </a:solidFill>
                <a:latin typeface="Arial" panose="020B0604020202020204" pitchFamily="34" charset="0"/>
                <a:cs typeface="Arial" panose="020B0604020202020204" pitchFamily="34" charset="0"/>
              </a:rPr>
              <a:t>Khondaker</a:t>
            </a:r>
            <a:r>
              <a:rPr lang="en-US" sz="2000" b="1" dirty="0">
                <a:solidFill>
                  <a:schemeClr val="tx2"/>
                </a:solidFill>
                <a:latin typeface="Arial" panose="020B0604020202020204" pitchFamily="34" charset="0"/>
                <a:cs typeface="Arial" panose="020B0604020202020204" pitchFamily="34" charset="0"/>
              </a:rPr>
              <a:t> A. Mamun</a:t>
            </a:r>
          </a:p>
          <a:p>
            <a:pPr algn="ctr">
              <a:lnSpc>
                <a:spcPct val="150000"/>
              </a:lnSpc>
            </a:pPr>
            <a:r>
              <a:rPr lang="en-GB" sz="1200" b="1" i="1" dirty="0">
                <a:solidFill>
                  <a:schemeClr val="tx2"/>
                </a:solidFill>
                <a:latin typeface="Arial" panose="020B0604020202020204" pitchFamily="34" charset="0"/>
                <a:cs typeface="Arial" panose="020B0604020202020204" pitchFamily="34" charset="0"/>
              </a:rPr>
              <a:t>PhD. (Biomedical Engineering), University of Southampton, UK</a:t>
            </a:r>
            <a:endParaRPr lang="en-US" sz="1200" b="1" dirty="0">
              <a:solidFill>
                <a:schemeClr val="tx2"/>
              </a:solidFill>
              <a:latin typeface="Arial" panose="020B0604020202020204" pitchFamily="34" charset="0"/>
              <a:cs typeface="Arial" panose="020B0604020202020204" pitchFamily="34" charset="0"/>
            </a:endParaRPr>
          </a:p>
          <a:p>
            <a:pPr algn="ctr">
              <a:lnSpc>
                <a:spcPct val="150000"/>
              </a:lnSpc>
            </a:pPr>
            <a:r>
              <a:rPr lang="en-GB" sz="1200" b="1" i="1" dirty="0">
                <a:solidFill>
                  <a:schemeClr val="tx2"/>
                </a:solidFill>
                <a:latin typeface="Arial" panose="020B0604020202020204" pitchFamily="34" charset="0"/>
                <a:cs typeface="Arial" panose="020B0604020202020204" pitchFamily="34" charset="0"/>
              </a:rPr>
              <a:t>Research Fellow (Biomedical Engineering), University of Toronto, Canada </a:t>
            </a:r>
          </a:p>
          <a:p>
            <a:pPr algn="ctr">
              <a:lnSpc>
                <a:spcPct val="150000"/>
              </a:lnSpc>
            </a:pPr>
            <a:r>
              <a:rPr lang="en-GB" sz="1200" b="1" i="1" dirty="0">
                <a:solidFill>
                  <a:schemeClr val="tx2"/>
                </a:solidFill>
                <a:latin typeface="Arial" panose="020B0604020202020204" pitchFamily="34" charset="0"/>
                <a:cs typeface="Arial" panose="020B0604020202020204" pitchFamily="34" charset="0"/>
              </a:rPr>
              <a:t>Founder, CMED Health, A Preventive Healthcare Initiative </a:t>
            </a:r>
          </a:p>
          <a:p>
            <a:pPr algn="ctr">
              <a:lnSpc>
                <a:spcPct val="150000"/>
              </a:lnSpc>
            </a:pPr>
            <a:r>
              <a:rPr lang="en-GB" sz="1200" b="1" i="1" dirty="0">
                <a:solidFill>
                  <a:schemeClr val="tx2"/>
                </a:solidFill>
                <a:latin typeface="Arial" panose="020B0604020202020204" pitchFamily="34" charset="0"/>
                <a:cs typeface="Arial" panose="020B0604020202020204" pitchFamily="34" charset="0"/>
              </a:rPr>
              <a:t>Founder and Director, Advanced Intelligent Multidisciplinary Systems Lab (AIMS Lab)</a:t>
            </a:r>
            <a:br>
              <a:rPr lang="en-GB" sz="1200" b="1" i="1" dirty="0">
                <a:solidFill>
                  <a:schemeClr val="tx2"/>
                </a:solidFill>
                <a:latin typeface="Arial" panose="020B0604020202020204" pitchFamily="34" charset="0"/>
                <a:cs typeface="Arial" panose="020B0604020202020204" pitchFamily="34" charset="0"/>
              </a:rPr>
            </a:br>
            <a:r>
              <a:rPr lang="en-GB" sz="1200" b="1" i="1" dirty="0">
                <a:solidFill>
                  <a:schemeClr val="tx2"/>
                </a:solidFill>
                <a:latin typeface="Arial" panose="020B0604020202020204" pitchFamily="34" charset="0"/>
                <a:cs typeface="Arial" panose="020B0604020202020204" pitchFamily="34" charset="0"/>
              </a:rPr>
              <a:t>Professor, Dept. of CSE, United International University, Dhaka, Bangladesh</a:t>
            </a:r>
          </a:p>
          <a:p>
            <a:pPr algn="ctr"/>
            <a:r>
              <a:rPr lang="en-US" sz="1200" b="1" dirty="0">
                <a:solidFill>
                  <a:schemeClr val="tx2"/>
                </a:solidFill>
                <a:latin typeface="Arial" panose="020B0604020202020204" pitchFamily="34" charset="0"/>
                <a:cs typeface="Arial" panose="020B0604020202020204" pitchFamily="34" charset="0"/>
              </a:rPr>
              <a:t>Email: </a:t>
            </a:r>
            <a:r>
              <a:rPr lang="en-US" sz="1200" b="1" u="sng" dirty="0">
                <a:solidFill>
                  <a:schemeClr val="tx2"/>
                </a:solidFill>
                <a:latin typeface="Arial" panose="020B0604020202020204" pitchFamily="34" charset="0"/>
                <a:cs typeface="Arial" panose="020B0604020202020204" pitchFamily="34" charset="0"/>
              </a:rPr>
              <a:t>mamun@cse.uiu.ac.bd</a:t>
            </a:r>
            <a:endParaRPr lang="en-US" sz="1200" b="1" dirty="0">
              <a:solidFill>
                <a:schemeClr val="tx2"/>
              </a:solidFill>
              <a:latin typeface="Arial" panose="020B0604020202020204" pitchFamily="34" charset="0"/>
              <a:cs typeface="Arial" panose="020B0604020202020204" pitchFamily="34" charset="0"/>
            </a:endParaRPr>
          </a:p>
          <a:p>
            <a:pPr algn="ctr"/>
            <a:r>
              <a:rPr lang="en-US" sz="1200" b="1" dirty="0">
                <a:solidFill>
                  <a:schemeClr val="tx2"/>
                </a:solidFill>
                <a:latin typeface="Arial" panose="020B0604020202020204" pitchFamily="34" charset="0"/>
                <a:cs typeface="Arial" panose="020B0604020202020204" pitchFamily="34" charset="0"/>
              </a:rPr>
              <a:t>Mobile: 01776534220 </a:t>
            </a:r>
          </a:p>
        </p:txBody>
      </p:sp>
      <p:pic>
        <p:nvPicPr>
          <p:cNvPr id="3" name="Picture 2">
            <a:extLst>
              <a:ext uri="{FF2B5EF4-FFF2-40B4-BE49-F238E27FC236}">
                <a16:creationId xmlns:a16="http://schemas.microsoft.com/office/drawing/2014/main" id="{0E978AFF-A28F-7F46-B621-5C6C2C77C7FD}"/>
              </a:ext>
            </a:extLst>
          </p:cNvPr>
          <p:cNvPicPr>
            <a:picLocks noChangeAspect="1"/>
          </p:cNvPicPr>
          <p:nvPr/>
        </p:nvPicPr>
        <p:blipFill rotWithShape="1">
          <a:blip r:embed="rId2">
            <a:extLst>
              <a:ext uri="{28A0092B-C50C-407E-A947-70E740481C1C}">
                <a14:useLocalDpi xmlns:a14="http://schemas.microsoft.com/office/drawing/2010/main" val="0"/>
              </a:ext>
            </a:extLst>
          </a:blip>
          <a:srcRect b="17542"/>
          <a:stretch/>
        </p:blipFill>
        <p:spPr>
          <a:xfrm>
            <a:off x="209550" y="2176207"/>
            <a:ext cx="2762250" cy="301336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1676400" y="1524000"/>
            <a:ext cx="6019800" cy="457200"/>
          </a:xfrm>
          <a:prstGeom prst="rect">
            <a:avLst/>
          </a:prstGeom>
          <a:noFill/>
          <a:ln w="9525">
            <a:noFill/>
            <a:miter lim="800000"/>
            <a:headEnd/>
            <a:tailEnd/>
          </a:ln>
          <a:effectLst/>
        </p:spPr>
        <p:txBody>
          <a:bodyPr>
            <a:spAutoFit/>
          </a:bodyPr>
          <a:lstStyle/>
          <a:p>
            <a:pPr algn="ctr">
              <a:spcBef>
                <a:spcPct val="50000"/>
              </a:spcBef>
            </a:pPr>
            <a:r>
              <a:rPr lang="en-US" b="1"/>
              <a:t>Special Teaching Assistants:</a:t>
            </a:r>
          </a:p>
        </p:txBody>
      </p:sp>
      <p:sp>
        <p:nvSpPr>
          <p:cNvPr id="22533" name="Text Box 5"/>
          <p:cNvSpPr txBox="1">
            <a:spLocks noChangeArrowheads="1"/>
          </p:cNvSpPr>
          <p:nvPr/>
        </p:nvSpPr>
        <p:spPr bwMode="auto">
          <a:xfrm>
            <a:off x="762000" y="4343400"/>
            <a:ext cx="3581400" cy="457200"/>
          </a:xfrm>
          <a:prstGeom prst="rect">
            <a:avLst/>
          </a:prstGeom>
          <a:noFill/>
          <a:ln w="9525">
            <a:noFill/>
            <a:miter lim="800000"/>
            <a:headEnd/>
            <a:tailEnd/>
          </a:ln>
          <a:effectLst/>
        </p:spPr>
        <p:txBody>
          <a:bodyPr>
            <a:spAutoFit/>
          </a:bodyPr>
          <a:lstStyle/>
          <a:p>
            <a:pPr>
              <a:spcBef>
                <a:spcPct val="50000"/>
              </a:spcBef>
            </a:pPr>
            <a:r>
              <a:rPr lang="en-US" dirty="0"/>
              <a:t>Mr. …………..</a:t>
            </a:r>
          </a:p>
        </p:txBody>
      </p:sp>
      <p:sp>
        <p:nvSpPr>
          <p:cNvPr id="22534" name="Text Box 6"/>
          <p:cNvSpPr txBox="1">
            <a:spLocks noChangeArrowheads="1"/>
          </p:cNvSpPr>
          <p:nvPr/>
        </p:nvSpPr>
        <p:spPr bwMode="auto">
          <a:xfrm>
            <a:off x="4724400" y="4267200"/>
            <a:ext cx="3581400" cy="457200"/>
          </a:xfrm>
          <a:prstGeom prst="rect">
            <a:avLst/>
          </a:prstGeom>
          <a:noFill/>
          <a:ln w="9525">
            <a:noFill/>
            <a:miter lim="800000"/>
            <a:headEnd/>
            <a:tailEnd/>
          </a:ln>
          <a:effectLst/>
        </p:spPr>
        <p:txBody>
          <a:bodyPr>
            <a:spAutoFit/>
          </a:bodyPr>
          <a:lstStyle/>
          <a:p>
            <a:pPr>
              <a:spcBef>
                <a:spcPct val="50000"/>
              </a:spcBef>
            </a:pPr>
            <a:r>
              <a:rPr lang="en-US" dirty="0"/>
              <a:t>Miss. …………..</a:t>
            </a:r>
          </a:p>
        </p:txBody>
      </p:sp>
      <p:pic>
        <p:nvPicPr>
          <p:cNvPr id="22535" name="Picture 7" descr="thm_bsmall"/>
          <p:cNvPicPr>
            <a:picLocks noChangeAspect="1" noChangeArrowheads="1"/>
          </p:cNvPicPr>
          <p:nvPr/>
        </p:nvPicPr>
        <p:blipFill>
          <a:blip r:embed="rId2"/>
          <a:srcRect/>
          <a:stretch>
            <a:fillRect/>
          </a:stretch>
        </p:blipFill>
        <p:spPr bwMode="auto">
          <a:xfrm>
            <a:off x="5181600" y="2657475"/>
            <a:ext cx="1997075" cy="1416050"/>
          </a:xfrm>
          <a:prstGeom prst="rect">
            <a:avLst/>
          </a:prstGeom>
          <a:noFill/>
        </p:spPr>
      </p:pic>
      <p:pic>
        <p:nvPicPr>
          <p:cNvPr id="22536" name="Picture 8" descr="pinky"/>
          <p:cNvPicPr>
            <a:picLocks noChangeAspect="1" noChangeArrowheads="1"/>
          </p:cNvPicPr>
          <p:nvPr/>
        </p:nvPicPr>
        <p:blipFill>
          <a:blip r:embed="rId3"/>
          <a:srcRect/>
          <a:stretch>
            <a:fillRect/>
          </a:stretch>
        </p:blipFill>
        <p:spPr bwMode="auto">
          <a:xfrm>
            <a:off x="1219200" y="2362200"/>
            <a:ext cx="1874838" cy="1828800"/>
          </a:xfrm>
          <a:prstGeom prst="rect">
            <a:avLst/>
          </a:prstGeom>
          <a:noFill/>
        </p:spPr>
      </p:pic>
      <p:sp>
        <p:nvSpPr>
          <p:cNvPr id="22537" name="Text Box 9"/>
          <p:cNvSpPr txBox="1">
            <a:spLocks noChangeArrowheads="1"/>
          </p:cNvSpPr>
          <p:nvPr/>
        </p:nvSpPr>
        <p:spPr bwMode="auto">
          <a:xfrm>
            <a:off x="2590800" y="5410200"/>
            <a:ext cx="3429000" cy="523220"/>
          </a:xfrm>
          <a:prstGeom prst="rect">
            <a:avLst/>
          </a:prstGeom>
          <a:noFill/>
          <a:ln w="9525">
            <a:noFill/>
            <a:miter lim="800000"/>
            <a:headEnd/>
            <a:tailEnd/>
          </a:ln>
          <a:effectLst/>
        </p:spPr>
        <p:txBody>
          <a:bodyPr wrap="square">
            <a:spAutoFit/>
          </a:bodyPr>
          <a:lstStyle/>
          <a:p>
            <a:pPr>
              <a:spcBef>
                <a:spcPct val="50000"/>
              </a:spcBef>
            </a:pPr>
            <a:r>
              <a:rPr lang="en-US" sz="2000" b="1" dirty="0"/>
              <a:t>Reward</a:t>
            </a:r>
            <a:r>
              <a:rPr lang="en-US" sz="2800" b="1" dirty="0"/>
              <a:t>: </a:t>
            </a:r>
            <a:r>
              <a:rPr lang="en-US" sz="2800" b="1" i="1" dirty="0">
                <a:solidFill>
                  <a:srgbClr val="C00000"/>
                </a:solidFill>
              </a:rPr>
              <a:t>Thank you</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1524000" y="685800"/>
            <a:ext cx="6400800" cy="641350"/>
          </a:xfrm>
          <a:prstGeom prst="rect">
            <a:avLst/>
          </a:prstGeom>
          <a:noFill/>
          <a:ln w="9525">
            <a:noFill/>
            <a:miter lim="800000"/>
            <a:headEnd/>
            <a:tailEnd/>
          </a:ln>
          <a:effectLst/>
        </p:spPr>
        <p:txBody>
          <a:bodyPr>
            <a:spAutoFit/>
          </a:bodyPr>
          <a:lstStyle/>
          <a:p>
            <a:pPr algn="ctr">
              <a:spcBef>
                <a:spcPct val="50000"/>
              </a:spcBef>
            </a:pPr>
            <a:r>
              <a:rPr lang="en-US" sz="3600" b="1"/>
              <a:t>COURSE OBJECTIVES</a:t>
            </a:r>
          </a:p>
        </p:txBody>
      </p:sp>
      <p:sp>
        <p:nvSpPr>
          <p:cNvPr id="3075" name="Text Box 3"/>
          <p:cNvSpPr txBox="1">
            <a:spLocks noChangeArrowheads="1"/>
          </p:cNvSpPr>
          <p:nvPr/>
        </p:nvSpPr>
        <p:spPr bwMode="auto">
          <a:xfrm>
            <a:off x="762000" y="1600200"/>
            <a:ext cx="7772400" cy="3013075"/>
          </a:xfrm>
          <a:prstGeom prst="rect">
            <a:avLst/>
          </a:prstGeom>
          <a:noFill/>
          <a:ln w="9525">
            <a:noFill/>
            <a:miter lim="800000"/>
            <a:headEnd/>
            <a:tailEnd/>
          </a:ln>
          <a:effectLst/>
        </p:spPr>
        <p:txBody>
          <a:bodyPr>
            <a:spAutoFit/>
          </a:bodyPr>
          <a:lstStyle/>
          <a:p>
            <a:pPr algn="just">
              <a:spcBef>
                <a:spcPct val="50000"/>
              </a:spcBef>
            </a:pPr>
            <a:r>
              <a:rPr lang="en-US" dirty="0"/>
              <a:t>This course reviews the major considerations and tasks involved in conducting research particularly as they pertain to the area of computer science.</a:t>
            </a:r>
          </a:p>
          <a:p>
            <a:pPr algn="just">
              <a:spcBef>
                <a:spcPct val="50000"/>
              </a:spcBef>
            </a:pPr>
            <a:endParaRPr lang="en-US" dirty="0"/>
          </a:p>
          <a:p>
            <a:pPr algn="just">
              <a:spcBef>
                <a:spcPct val="50000"/>
              </a:spcBef>
            </a:pPr>
            <a:r>
              <a:rPr lang="en-US" dirty="0"/>
              <a:t>We shall introduce the essential aspects of proposing, designing, supporting, conducting and reporting on research projects.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381000" y="1676400"/>
            <a:ext cx="4876800" cy="1917700"/>
          </a:xfrm>
          <a:prstGeom prst="rect">
            <a:avLst/>
          </a:prstGeom>
          <a:noFill/>
          <a:ln w="9525">
            <a:noFill/>
            <a:miter lim="800000"/>
            <a:headEnd/>
            <a:tailEnd/>
          </a:ln>
          <a:effectLst/>
        </p:spPr>
        <p:txBody>
          <a:bodyPr>
            <a:spAutoFit/>
          </a:bodyPr>
          <a:lstStyle/>
          <a:p>
            <a:r>
              <a:rPr lang="en-US"/>
              <a:t>Whitley, B.E. Jr.; </a:t>
            </a:r>
          </a:p>
          <a:p>
            <a:r>
              <a:rPr lang="en-US"/>
              <a:t>Principles of Research in Behavioral Science; </a:t>
            </a:r>
          </a:p>
          <a:p>
            <a:r>
              <a:rPr lang="en-US"/>
              <a:t>2nd edition; McGraw-Hill   </a:t>
            </a:r>
          </a:p>
          <a:p>
            <a:r>
              <a:rPr lang="en-US"/>
              <a:t>ISBN  0-7674-2175-2</a:t>
            </a:r>
          </a:p>
        </p:txBody>
      </p:sp>
      <p:sp>
        <p:nvSpPr>
          <p:cNvPr id="4099" name="Text Box 3"/>
          <p:cNvSpPr txBox="1">
            <a:spLocks noChangeArrowheads="1"/>
          </p:cNvSpPr>
          <p:nvPr/>
        </p:nvSpPr>
        <p:spPr bwMode="auto">
          <a:xfrm>
            <a:off x="2971800" y="685800"/>
            <a:ext cx="3276600" cy="641350"/>
          </a:xfrm>
          <a:prstGeom prst="rect">
            <a:avLst/>
          </a:prstGeom>
          <a:noFill/>
          <a:ln w="9525">
            <a:noFill/>
            <a:miter lim="800000"/>
            <a:headEnd/>
            <a:tailEnd/>
          </a:ln>
          <a:effectLst/>
        </p:spPr>
        <p:txBody>
          <a:bodyPr>
            <a:spAutoFit/>
          </a:bodyPr>
          <a:lstStyle/>
          <a:p>
            <a:pPr algn="ctr">
              <a:spcBef>
                <a:spcPct val="50000"/>
              </a:spcBef>
            </a:pPr>
            <a:r>
              <a:rPr lang="en-US" sz="3600" b="1" dirty="0"/>
              <a:t>[TEXTBOOK]</a:t>
            </a:r>
          </a:p>
        </p:txBody>
      </p:sp>
      <p:pic>
        <p:nvPicPr>
          <p:cNvPr id="4104" name="Picture 8"/>
          <p:cNvPicPr>
            <a:picLocks noChangeAspect="1" noChangeArrowheads="1"/>
          </p:cNvPicPr>
          <p:nvPr/>
        </p:nvPicPr>
        <p:blipFill>
          <a:blip r:embed="rId2"/>
          <a:srcRect/>
          <a:stretch>
            <a:fillRect/>
          </a:stretch>
        </p:blipFill>
        <p:spPr bwMode="auto">
          <a:xfrm>
            <a:off x="5486400" y="1828800"/>
            <a:ext cx="2743200" cy="3429000"/>
          </a:xfrm>
          <a:prstGeom prst="rect">
            <a:avLst/>
          </a:prstGeom>
          <a:noFill/>
          <a:ln w="9525">
            <a:noFill/>
            <a:miter lim="800000"/>
            <a:headEnd/>
            <a:tailEnd/>
          </a:ln>
          <a:effectLst/>
        </p:spPr>
      </p:pic>
      <p:sp>
        <p:nvSpPr>
          <p:cNvPr id="5" name="TextBox 4"/>
          <p:cNvSpPr txBox="1"/>
          <p:nvPr/>
        </p:nvSpPr>
        <p:spPr>
          <a:xfrm>
            <a:off x="762000" y="5235714"/>
            <a:ext cx="7086600" cy="707886"/>
          </a:xfrm>
          <a:prstGeom prst="rect">
            <a:avLst/>
          </a:prstGeom>
          <a:noFill/>
        </p:spPr>
        <p:txBody>
          <a:bodyPr wrap="square" rtlCol="0">
            <a:spAutoFit/>
          </a:bodyPr>
          <a:lstStyle/>
          <a:p>
            <a:r>
              <a:rPr lang="en-US" sz="2000" b="1" dirty="0">
                <a:solidFill>
                  <a:srgbClr val="C00000"/>
                </a:solidFill>
              </a:rPr>
              <a:t>Will supply papers, documents and presentations</a:t>
            </a:r>
          </a:p>
          <a:p>
            <a:r>
              <a:rPr lang="en-US" sz="2000" b="1" dirty="0"/>
              <a:t>[TEXTBOOK] Optional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1143000" y="685800"/>
            <a:ext cx="7010400" cy="641350"/>
          </a:xfrm>
          <a:prstGeom prst="rect">
            <a:avLst/>
          </a:prstGeom>
          <a:noFill/>
          <a:ln w="9525">
            <a:noFill/>
            <a:miter lim="800000"/>
            <a:headEnd/>
            <a:tailEnd/>
          </a:ln>
          <a:effectLst/>
        </p:spPr>
        <p:txBody>
          <a:bodyPr>
            <a:spAutoFit/>
          </a:bodyPr>
          <a:lstStyle/>
          <a:p>
            <a:pPr algn="ctr">
              <a:spcBef>
                <a:spcPct val="50000"/>
              </a:spcBef>
            </a:pPr>
            <a:r>
              <a:rPr lang="en-US" sz="3600" b="1"/>
              <a:t>COMPUTING REQUIREMENTS</a:t>
            </a:r>
          </a:p>
        </p:txBody>
      </p:sp>
      <p:sp>
        <p:nvSpPr>
          <p:cNvPr id="5123" name="Text Box 3"/>
          <p:cNvSpPr txBox="1">
            <a:spLocks noChangeArrowheads="1"/>
          </p:cNvSpPr>
          <p:nvPr/>
        </p:nvSpPr>
        <p:spPr bwMode="auto">
          <a:xfrm>
            <a:off x="990600" y="1752600"/>
            <a:ext cx="7391400" cy="4108450"/>
          </a:xfrm>
          <a:prstGeom prst="rect">
            <a:avLst/>
          </a:prstGeom>
          <a:noFill/>
          <a:ln w="9525">
            <a:noFill/>
            <a:miter lim="800000"/>
            <a:headEnd/>
            <a:tailEnd/>
          </a:ln>
          <a:effectLst/>
        </p:spPr>
        <p:txBody>
          <a:bodyPr>
            <a:spAutoFit/>
          </a:bodyPr>
          <a:lstStyle/>
          <a:p>
            <a:pPr algn="just">
              <a:spcBef>
                <a:spcPct val="50000"/>
              </a:spcBef>
            </a:pPr>
            <a:r>
              <a:rPr lang="en-US"/>
              <a:t>It is ESSENTIAL that the students have access to email and the World Wide Web for the successful participation in this course.</a:t>
            </a:r>
          </a:p>
          <a:p>
            <a:pPr algn="just">
              <a:spcBef>
                <a:spcPct val="50000"/>
              </a:spcBef>
            </a:pPr>
            <a:r>
              <a:rPr lang="en-US"/>
              <a:t>Access to a spreadsheet facility (e.g. Microsoft Excel) is also required.</a:t>
            </a:r>
          </a:p>
          <a:p>
            <a:pPr algn="just">
              <a:spcBef>
                <a:spcPct val="50000"/>
              </a:spcBef>
            </a:pPr>
            <a:r>
              <a:rPr lang="en-US"/>
              <a:t>Some course materials and assignments would be distributed as Microsoft Word documents. Soft copies of lecture notes would be in Microsoft PowerPoint. Students should at least have the capability to open and view these files.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0" name="Object 0">
            <a:hlinkClick r:id="" action="ppaction://ole?verb=0"/>
          </p:cNvPr>
          <p:cNvGraphicFramePr>
            <a:graphicFrameLocks noChangeAspect="1"/>
          </p:cNvGraphicFramePr>
          <p:nvPr>
            <p:extLst>
              <p:ext uri="{D42A27DB-BD31-4B8C-83A1-F6EECF244321}">
                <p14:modId xmlns:p14="http://schemas.microsoft.com/office/powerpoint/2010/main" val="2513320849"/>
              </p:ext>
            </p:extLst>
          </p:nvPr>
        </p:nvGraphicFramePr>
        <p:xfrm>
          <a:off x="6724650" y="4610100"/>
          <a:ext cx="571500" cy="685800"/>
        </p:xfrm>
        <a:graphic>
          <a:graphicData uri="http://schemas.openxmlformats.org/presentationml/2006/ole">
            <mc:AlternateContent xmlns:mc="http://schemas.openxmlformats.org/markup-compatibility/2006">
              <mc:Choice xmlns:v="urn:schemas-microsoft-com:vml" Requires="v">
                <p:oleObj spid="_x0000_s25611" name="Packager Shell Object" showAsIcon="1" r:id="rId3" imgW="572040" imgH="685440" progId="Package">
                  <p:embed/>
                </p:oleObj>
              </mc:Choice>
              <mc:Fallback>
                <p:oleObj name="Packager Shell Object" showAsIcon="1" r:id="rId3" imgW="572040" imgH="685440" progId="Package">
                  <p:embed/>
                  <p:pic>
                    <p:nvPicPr>
                      <p:cNvPr id="0" name="Picture 0"/>
                      <p:cNvPicPr>
                        <a:picLocks noChangeAspect="1" noChangeArrowheads="1"/>
                      </p:cNvPicPr>
                      <p:nvPr/>
                    </p:nvPicPr>
                    <p:blipFill>
                      <a:blip r:embed="rId4"/>
                      <a:srcRect/>
                      <a:stretch>
                        <a:fillRect/>
                      </a:stretch>
                    </p:blipFill>
                    <p:spPr bwMode="auto">
                      <a:xfrm>
                        <a:off x="6724650" y="4610100"/>
                        <a:ext cx="5715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6" name="Text Box 2"/>
          <p:cNvSpPr txBox="1">
            <a:spLocks noChangeArrowheads="1"/>
          </p:cNvSpPr>
          <p:nvPr/>
        </p:nvSpPr>
        <p:spPr bwMode="auto">
          <a:xfrm>
            <a:off x="1143000" y="685800"/>
            <a:ext cx="7010400" cy="641350"/>
          </a:xfrm>
          <a:prstGeom prst="rect">
            <a:avLst/>
          </a:prstGeom>
          <a:noFill/>
          <a:ln w="9525">
            <a:noFill/>
            <a:miter lim="800000"/>
            <a:headEnd/>
            <a:tailEnd/>
          </a:ln>
          <a:effectLst/>
        </p:spPr>
        <p:txBody>
          <a:bodyPr>
            <a:spAutoFit/>
          </a:bodyPr>
          <a:lstStyle/>
          <a:p>
            <a:pPr algn="ctr">
              <a:spcBef>
                <a:spcPct val="50000"/>
              </a:spcBef>
            </a:pPr>
            <a:r>
              <a:rPr lang="en-US" sz="3600" b="1"/>
              <a:t>FORMAT AND GRADING</a:t>
            </a:r>
          </a:p>
        </p:txBody>
      </p:sp>
      <p:sp>
        <p:nvSpPr>
          <p:cNvPr id="6147" name="Text Box 3"/>
          <p:cNvSpPr txBox="1">
            <a:spLocks noChangeArrowheads="1"/>
          </p:cNvSpPr>
          <p:nvPr/>
        </p:nvSpPr>
        <p:spPr bwMode="auto">
          <a:xfrm>
            <a:off x="457200" y="1295400"/>
            <a:ext cx="8229600" cy="4847481"/>
          </a:xfrm>
          <a:prstGeom prst="rect">
            <a:avLst/>
          </a:prstGeom>
          <a:noFill/>
          <a:ln w="9525">
            <a:noFill/>
            <a:miter lim="800000"/>
            <a:headEnd/>
            <a:tailEnd/>
          </a:ln>
          <a:effectLst/>
        </p:spPr>
        <p:txBody>
          <a:bodyPr>
            <a:spAutoFit/>
          </a:bodyPr>
          <a:lstStyle/>
          <a:p>
            <a:pPr>
              <a:spcBef>
                <a:spcPct val="50000"/>
              </a:spcBef>
            </a:pPr>
            <a:r>
              <a:rPr lang="en-US" b="1" dirty="0"/>
              <a:t>Format:</a:t>
            </a:r>
          </a:p>
          <a:p>
            <a:pPr>
              <a:spcBef>
                <a:spcPct val="50000"/>
              </a:spcBef>
            </a:pPr>
            <a:r>
              <a:rPr lang="en-US" dirty="0"/>
              <a:t>There will be 12 classes spanning over 12 weeks</a:t>
            </a:r>
          </a:p>
          <a:p>
            <a:pPr>
              <a:spcBef>
                <a:spcPct val="50000"/>
              </a:spcBef>
            </a:pPr>
            <a:r>
              <a:rPr lang="en-US" dirty="0"/>
              <a:t>Classes may be actual or virtual (e.g. actually meet or material and work being provided with guidance throughout the week). In other words, the lecture component may be zero to three hours in a given week.</a:t>
            </a:r>
          </a:p>
          <a:p>
            <a:pPr>
              <a:spcBef>
                <a:spcPct val="50000"/>
              </a:spcBef>
            </a:pPr>
            <a:r>
              <a:rPr lang="en-US" b="1" dirty="0"/>
              <a:t>Grading:</a:t>
            </a:r>
          </a:p>
          <a:p>
            <a:pPr>
              <a:spcBef>
                <a:spcPct val="50000"/>
              </a:spcBef>
            </a:pPr>
            <a:r>
              <a:rPr lang="en-US" sz="1400" dirty="0">
                <a:latin typeface="Arial" pitchFamily="34" charset="0"/>
                <a:cs typeface="Arial" pitchFamily="34" charset="0"/>
              </a:rPr>
              <a:t>Attendance			5%</a:t>
            </a:r>
          </a:p>
          <a:p>
            <a:pPr>
              <a:spcBef>
                <a:spcPct val="50000"/>
              </a:spcBef>
            </a:pPr>
            <a:r>
              <a:rPr lang="en-US" sz="1400" dirty="0">
                <a:latin typeface="Arial" pitchFamily="34" charset="0"/>
                <a:cs typeface="Arial" pitchFamily="34" charset="0"/>
              </a:rPr>
              <a:t>Class Tests 		20%</a:t>
            </a:r>
          </a:p>
          <a:p>
            <a:pPr>
              <a:spcBef>
                <a:spcPct val="50000"/>
              </a:spcBef>
            </a:pPr>
            <a:r>
              <a:rPr lang="en-US" sz="1400" dirty="0">
                <a:latin typeface="Arial" pitchFamily="34" charset="0"/>
                <a:cs typeface="Arial" pitchFamily="34" charset="0"/>
              </a:rPr>
              <a:t>Assignments		5%</a:t>
            </a:r>
          </a:p>
          <a:p>
            <a:pPr>
              <a:spcBef>
                <a:spcPct val="50000"/>
              </a:spcBef>
            </a:pPr>
            <a:r>
              <a:rPr lang="en-US" sz="1400" dirty="0">
                <a:latin typeface="Arial" pitchFamily="34" charset="0"/>
                <a:cs typeface="Arial" pitchFamily="34" charset="0"/>
              </a:rPr>
              <a:t>Midterm/Presentation/Proposal	30%</a:t>
            </a:r>
          </a:p>
          <a:p>
            <a:pPr>
              <a:spcBef>
                <a:spcPct val="50000"/>
              </a:spcBef>
            </a:pPr>
            <a:r>
              <a:rPr lang="en-US" sz="1400" dirty="0">
                <a:latin typeface="Arial" pitchFamily="34" charset="0"/>
                <a:cs typeface="Arial" pitchFamily="34" charset="0"/>
              </a:rPr>
              <a:t>Final			40%</a:t>
            </a:r>
          </a:p>
        </p:txBody>
      </p:sp>
      <p:pic>
        <p:nvPicPr>
          <p:cNvPr id="6148" name="Picture 4" descr="thinkbrain_thumb"/>
          <p:cNvPicPr>
            <a:picLocks noChangeAspect="1" noChangeArrowheads="1"/>
          </p:cNvPicPr>
          <p:nvPr/>
        </p:nvPicPr>
        <p:blipFill>
          <a:blip r:embed="rId5"/>
          <a:srcRect/>
          <a:stretch>
            <a:fillRect/>
          </a:stretch>
        </p:blipFill>
        <p:spPr bwMode="auto">
          <a:xfrm>
            <a:off x="6553200" y="3629025"/>
            <a:ext cx="1600200" cy="16002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5600"/>
                                        </p:tgtEl>
                                        <p:attrNameLst>
                                          <p:attrName>style.visibility</p:attrName>
                                        </p:attrNameLst>
                                      </p:cBhvr>
                                      <p:to>
                                        <p:strVal val="visible"/>
                                      </p:to>
                                    </p:set>
                                    <p:anim calcmode="lin" valueType="num">
                                      <p:cBhvr additive="base">
                                        <p:cTn id="7" dur="500" fill="hold"/>
                                        <p:tgtEl>
                                          <p:spTgt spid="25600"/>
                                        </p:tgtEl>
                                        <p:attrNameLst>
                                          <p:attrName>ppt_x</p:attrName>
                                        </p:attrNameLst>
                                      </p:cBhvr>
                                      <p:tavLst>
                                        <p:tav tm="0">
                                          <p:val>
                                            <p:strVal val="0-#ppt_w/2"/>
                                          </p:val>
                                        </p:tav>
                                        <p:tav tm="100000">
                                          <p:val>
                                            <p:strVal val="#ppt_x"/>
                                          </p:val>
                                        </p:tav>
                                      </p:tavLst>
                                    </p:anim>
                                    <p:anim calcmode="lin" valueType="num">
                                      <p:cBhvr additive="base">
                                        <p:cTn id="8" dur="500" fill="hold"/>
                                        <p:tgtEl>
                                          <p:spTgt spid="2560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0" presetClass="verb" presetSubtype="0" fill="hold" nodeType="afterEffect">
                                  <p:stCondLst>
                                    <p:cond delay="0"/>
                                  </p:stCondLst>
                                  <p:childTnLst>
                                    <p:cmd type="verb" cmd="0">
                                      <p:cBhvr>
                                        <p:cTn id="11" dur="1" fill="hold"/>
                                        <p:tgtEl>
                                          <p:spTgt spid="2560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83" name="Object 15">
            <a:hlinkClick r:id="" action="ppaction://ole?verb=0"/>
          </p:cNvPr>
          <p:cNvGraphicFramePr>
            <a:graphicFrameLocks noChangeAspect="1"/>
          </p:cNvGraphicFramePr>
          <p:nvPr>
            <p:extLst>
              <p:ext uri="{D42A27DB-BD31-4B8C-83A1-F6EECF244321}">
                <p14:modId xmlns:p14="http://schemas.microsoft.com/office/powerpoint/2010/main" val="310214328"/>
              </p:ext>
            </p:extLst>
          </p:nvPr>
        </p:nvGraphicFramePr>
        <p:xfrm>
          <a:off x="6724650" y="3314700"/>
          <a:ext cx="571500" cy="685800"/>
        </p:xfrm>
        <a:graphic>
          <a:graphicData uri="http://schemas.openxmlformats.org/presentationml/2006/ole">
            <mc:AlternateContent xmlns:mc="http://schemas.openxmlformats.org/markup-compatibility/2006">
              <mc:Choice xmlns:v="urn:schemas-microsoft-com:vml" Requires="v">
                <p:oleObj spid="_x0000_s7194" name="Packager Shell Object" showAsIcon="1" r:id="rId3" imgW="572040" imgH="685440" progId="Package">
                  <p:embed/>
                </p:oleObj>
              </mc:Choice>
              <mc:Fallback>
                <p:oleObj name="Packager Shell Object" showAsIcon="1" r:id="rId3" imgW="572040" imgH="685440" progId="Package">
                  <p:embed/>
                  <p:pic>
                    <p:nvPicPr>
                      <p:cNvPr id="0" name="Picture 15"/>
                      <p:cNvPicPr>
                        <a:picLocks noChangeAspect="1" noChangeArrowheads="1"/>
                      </p:cNvPicPr>
                      <p:nvPr/>
                    </p:nvPicPr>
                    <p:blipFill>
                      <a:blip r:embed="rId4"/>
                      <a:srcRect/>
                      <a:stretch>
                        <a:fillRect/>
                      </a:stretch>
                    </p:blipFill>
                    <p:spPr bwMode="auto">
                      <a:xfrm>
                        <a:off x="6724650" y="3314700"/>
                        <a:ext cx="5715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0" name="Text Box 2"/>
          <p:cNvSpPr txBox="1">
            <a:spLocks noChangeArrowheads="1"/>
          </p:cNvSpPr>
          <p:nvPr/>
        </p:nvSpPr>
        <p:spPr bwMode="auto">
          <a:xfrm>
            <a:off x="1143000" y="685800"/>
            <a:ext cx="7010400" cy="641350"/>
          </a:xfrm>
          <a:prstGeom prst="rect">
            <a:avLst/>
          </a:prstGeom>
          <a:noFill/>
          <a:ln w="9525">
            <a:noFill/>
            <a:miter lim="800000"/>
            <a:headEnd/>
            <a:tailEnd/>
          </a:ln>
          <a:effectLst/>
        </p:spPr>
        <p:txBody>
          <a:bodyPr>
            <a:spAutoFit/>
          </a:bodyPr>
          <a:lstStyle/>
          <a:p>
            <a:pPr algn="ctr">
              <a:spcBef>
                <a:spcPct val="50000"/>
              </a:spcBef>
            </a:pPr>
            <a:r>
              <a:rPr lang="en-US" sz="3600" b="1"/>
              <a:t>ACQUIRING KNOWLEDGE</a:t>
            </a:r>
          </a:p>
        </p:txBody>
      </p:sp>
      <p:sp>
        <p:nvSpPr>
          <p:cNvPr id="7171" name="Text Box 3"/>
          <p:cNvSpPr txBox="1">
            <a:spLocks noChangeArrowheads="1"/>
          </p:cNvSpPr>
          <p:nvPr/>
        </p:nvSpPr>
        <p:spPr bwMode="auto">
          <a:xfrm>
            <a:off x="609600" y="1600200"/>
            <a:ext cx="6324600" cy="579438"/>
          </a:xfrm>
          <a:prstGeom prst="rect">
            <a:avLst/>
          </a:prstGeom>
          <a:noFill/>
          <a:ln w="9525">
            <a:noFill/>
            <a:miter lim="800000"/>
            <a:headEnd/>
            <a:tailEnd/>
          </a:ln>
          <a:effectLst/>
        </p:spPr>
        <p:txBody>
          <a:bodyPr>
            <a:spAutoFit/>
          </a:bodyPr>
          <a:lstStyle/>
          <a:p>
            <a:pPr>
              <a:spcBef>
                <a:spcPct val="50000"/>
              </a:spcBef>
            </a:pPr>
            <a:r>
              <a:rPr lang="en-US" sz="3200"/>
              <a:t>Humankind needs to </a:t>
            </a:r>
            <a:r>
              <a:rPr lang="en-US" sz="3200" b="1"/>
              <a:t>KNOW</a:t>
            </a:r>
            <a:r>
              <a:rPr lang="en-US" sz="3200"/>
              <a:t>:</a:t>
            </a:r>
          </a:p>
        </p:txBody>
      </p:sp>
      <p:sp>
        <p:nvSpPr>
          <p:cNvPr id="7172" name="Text Box 4"/>
          <p:cNvSpPr txBox="1">
            <a:spLocks noChangeArrowheads="1"/>
          </p:cNvSpPr>
          <p:nvPr/>
        </p:nvSpPr>
        <p:spPr bwMode="auto">
          <a:xfrm>
            <a:off x="3352800" y="2438400"/>
            <a:ext cx="914400" cy="457200"/>
          </a:xfrm>
          <a:prstGeom prst="rect">
            <a:avLst/>
          </a:prstGeom>
          <a:noFill/>
          <a:ln w="9525">
            <a:noFill/>
            <a:miter lim="800000"/>
            <a:headEnd/>
            <a:tailEnd/>
          </a:ln>
          <a:effectLst/>
        </p:spPr>
        <p:txBody>
          <a:bodyPr>
            <a:spAutoFit/>
          </a:bodyPr>
          <a:lstStyle/>
          <a:p>
            <a:pPr>
              <a:spcBef>
                <a:spcPct val="50000"/>
              </a:spcBef>
            </a:pPr>
            <a:r>
              <a:rPr lang="en-US">
                <a:solidFill>
                  <a:schemeClr val="accent1"/>
                </a:solidFill>
              </a:rPr>
              <a:t>How?</a:t>
            </a:r>
          </a:p>
        </p:txBody>
      </p:sp>
      <p:sp>
        <p:nvSpPr>
          <p:cNvPr id="7173" name="Text Box 5"/>
          <p:cNvSpPr txBox="1">
            <a:spLocks noChangeArrowheads="1"/>
          </p:cNvSpPr>
          <p:nvPr/>
        </p:nvSpPr>
        <p:spPr bwMode="auto">
          <a:xfrm>
            <a:off x="3124200" y="4191000"/>
            <a:ext cx="914400" cy="457200"/>
          </a:xfrm>
          <a:prstGeom prst="rect">
            <a:avLst/>
          </a:prstGeom>
          <a:noFill/>
          <a:ln w="9525">
            <a:noFill/>
            <a:miter lim="800000"/>
            <a:headEnd/>
            <a:tailEnd/>
          </a:ln>
          <a:effectLst/>
        </p:spPr>
        <p:txBody>
          <a:bodyPr>
            <a:spAutoFit/>
          </a:bodyPr>
          <a:lstStyle/>
          <a:p>
            <a:pPr>
              <a:spcBef>
                <a:spcPct val="50000"/>
              </a:spcBef>
            </a:pPr>
            <a:r>
              <a:rPr lang="en-US"/>
              <a:t>Why?</a:t>
            </a:r>
          </a:p>
        </p:txBody>
      </p:sp>
      <p:sp>
        <p:nvSpPr>
          <p:cNvPr id="7174" name="Text Box 6"/>
          <p:cNvSpPr txBox="1">
            <a:spLocks noChangeArrowheads="1"/>
          </p:cNvSpPr>
          <p:nvPr/>
        </p:nvSpPr>
        <p:spPr bwMode="auto">
          <a:xfrm>
            <a:off x="2743200" y="3276600"/>
            <a:ext cx="1066800" cy="457200"/>
          </a:xfrm>
          <a:prstGeom prst="rect">
            <a:avLst/>
          </a:prstGeom>
          <a:noFill/>
          <a:ln w="9525">
            <a:noFill/>
            <a:miter lim="800000"/>
            <a:headEnd/>
            <a:tailEnd/>
          </a:ln>
          <a:effectLst/>
        </p:spPr>
        <p:txBody>
          <a:bodyPr>
            <a:spAutoFit/>
          </a:bodyPr>
          <a:lstStyle/>
          <a:p>
            <a:pPr>
              <a:spcBef>
                <a:spcPct val="50000"/>
              </a:spcBef>
            </a:pPr>
            <a:r>
              <a:rPr lang="en-US">
                <a:solidFill>
                  <a:srgbClr val="CC9900"/>
                </a:solidFill>
              </a:rPr>
              <a:t>When?</a:t>
            </a:r>
          </a:p>
        </p:txBody>
      </p:sp>
      <p:sp>
        <p:nvSpPr>
          <p:cNvPr id="7175" name="Text Box 7"/>
          <p:cNvSpPr txBox="1">
            <a:spLocks noChangeArrowheads="1"/>
          </p:cNvSpPr>
          <p:nvPr/>
        </p:nvSpPr>
        <p:spPr bwMode="auto">
          <a:xfrm>
            <a:off x="4114800" y="4038600"/>
            <a:ext cx="1143000" cy="457200"/>
          </a:xfrm>
          <a:prstGeom prst="rect">
            <a:avLst/>
          </a:prstGeom>
          <a:noFill/>
          <a:ln w="9525">
            <a:noFill/>
            <a:miter lim="800000"/>
            <a:headEnd/>
            <a:tailEnd/>
          </a:ln>
          <a:effectLst/>
        </p:spPr>
        <p:txBody>
          <a:bodyPr>
            <a:spAutoFit/>
          </a:bodyPr>
          <a:lstStyle/>
          <a:p>
            <a:pPr>
              <a:spcBef>
                <a:spcPct val="50000"/>
              </a:spcBef>
            </a:pPr>
            <a:r>
              <a:rPr lang="en-US">
                <a:solidFill>
                  <a:srgbClr val="A50021"/>
                </a:solidFill>
              </a:rPr>
              <a:t>What?</a:t>
            </a:r>
          </a:p>
        </p:txBody>
      </p:sp>
      <p:sp>
        <p:nvSpPr>
          <p:cNvPr id="7176" name="Text Box 8"/>
          <p:cNvSpPr txBox="1">
            <a:spLocks noChangeArrowheads="1"/>
          </p:cNvSpPr>
          <p:nvPr/>
        </p:nvSpPr>
        <p:spPr bwMode="auto">
          <a:xfrm>
            <a:off x="4572000" y="3276600"/>
            <a:ext cx="1143000" cy="457200"/>
          </a:xfrm>
          <a:prstGeom prst="rect">
            <a:avLst/>
          </a:prstGeom>
          <a:noFill/>
          <a:ln w="9525">
            <a:noFill/>
            <a:miter lim="800000"/>
            <a:headEnd/>
            <a:tailEnd/>
          </a:ln>
          <a:effectLst/>
        </p:spPr>
        <p:txBody>
          <a:bodyPr>
            <a:spAutoFit/>
          </a:bodyPr>
          <a:lstStyle/>
          <a:p>
            <a:pPr>
              <a:spcBef>
                <a:spcPct val="50000"/>
              </a:spcBef>
            </a:pPr>
            <a:r>
              <a:rPr lang="en-US">
                <a:solidFill>
                  <a:srgbClr val="FF3300"/>
                </a:solidFill>
              </a:rPr>
              <a:t>Where?</a:t>
            </a:r>
          </a:p>
        </p:txBody>
      </p:sp>
      <p:sp>
        <p:nvSpPr>
          <p:cNvPr id="7177" name="Text Box 9"/>
          <p:cNvSpPr txBox="1">
            <a:spLocks noChangeArrowheads="1"/>
          </p:cNvSpPr>
          <p:nvPr/>
        </p:nvSpPr>
        <p:spPr bwMode="auto">
          <a:xfrm>
            <a:off x="4876800" y="2209800"/>
            <a:ext cx="1143000" cy="457200"/>
          </a:xfrm>
          <a:prstGeom prst="rect">
            <a:avLst/>
          </a:prstGeom>
          <a:noFill/>
          <a:ln w="9525">
            <a:noFill/>
            <a:miter lim="800000"/>
            <a:headEnd/>
            <a:tailEnd/>
          </a:ln>
          <a:effectLst/>
        </p:spPr>
        <p:txBody>
          <a:bodyPr>
            <a:spAutoFit/>
          </a:bodyPr>
          <a:lstStyle/>
          <a:p>
            <a:pPr>
              <a:spcBef>
                <a:spcPct val="50000"/>
              </a:spcBef>
            </a:pPr>
            <a:r>
              <a:rPr lang="en-US">
                <a:solidFill>
                  <a:schemeClr val="accent2"/>
                </a:solidFill>
              </a:rPr>
              <a:t>Who?</a:t>
            </a:r>
          </a:p>
        </p:txBody>
      </p:sp>
      <p:pic>
        <p:nvPicPr>
          <p:cNvPr id="7180" name="Picture 12" descr="Brainquestion"/>
          <p:cNvPicPr>
            <a:picLocks noChangeAspect="1" noChangeArrowheads="1"/>
          </p:cNvPicPr>
          <p:nvPr/>
        </p:nvPicPr>
        <p:blipFill>
          <a:blip r:embed="rId5"/>
          <a:srcRect/>
          <a:stretch>
            <a:fillRect/>
          </a:stretch>
        </p:blipFill>
        <p:spPr bwMode="auto">
          <a:xfrm>
            <a:off x="304800" y="2438400"/>
            <a:ext cx="2346325" cy="2894013"/>
          </a:xfrm>
          <a:prstGeom prst="rect">
            <a:avLst/>
          </a:prstGeom>
          <a:noFill/>
        </p:spPr>
      </p:pic>
      <p:pic>
        <p:nvPicPr>
          <p:cNvPr id="7181" name="Picture 13" descr="wheel"/>
          <p:cNvPicPr>
            <a:picLocks noChangeAspect="1" noChangeArrowheads="1"/>
          </p:cNvPicPr>
          <p:nvPr/>
        </p:nvPicPr>
        <p:blipFill>
          <a:blip r:embed="rId6"/>
          <a:srcRect/>
          <a:stretch>
            <a:fillRect/>
          </a:stretch>
        </p:blipFill>
        <p:spPr bwMode="auto">
          <a:xfrm>
            <a:off x="5791200" y="2819400"/>
            <a:ext cx="3086100" cy="222885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7183"/>
                                        </p:tgtEl>
                                        <p:attrNameLst>
                                          <p:attrName>style.visibility</p:attrName>
                                        </p:attrNameLst>
                                      </p:cBhvr>
                                      <p:to>
                                        <p:strVal val="visible"/>
                                      </p:to>
                                    </p:set>
                                    <p:anim calcmode="lin" valueType="num">
                                      <p:cBhvr additive="base">
                                        <p:cTn id="7" dur="500" fill="hold"/>
                                        <p:tgtEl>
                                          <p:spTgt spid="7183"/>
                                        </p:tgtEl>
                                        <p:attrNameLst>
                                          <p:attrName>ppt_x</p:attrName>
                                        </p:attrNameLst>
                                      </p:cBhvr>
                                      <p:tavLst>
                                        <p:tav tm="0">
                                          <p:val>
                                            <p:strVal val="0-#ppt_w/2"/>
                                          </p:val>
                                        </p:tav>
                                        <p:tav tm="100000">
                                          <p:val>
                                            <p:strVal val="#ppt_x"/>
                                          </p:val>
                                        </p:tav>
                                      </p:tavLst>
                                    </p:anim>
                                    <p:anim calcmode="lin" valueType="num">
                                      <p:cBhvr additive="base">
                                        <p:cTn id="8" dur="500" fill="hold"/>
                                        <p:tgtEl>
                                          <p:spTgt spid="718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0" presetClass="verb" presetSubtype="0" fill="hold" nodeType="afterEffect">
                                  <p:stCondLst>
                                    <p:cond delay="0"/>
                                  </p:stCondLst>
                                  <p:childTnLst>
                                    <p:cmd type="verb" cmd="0">
                                      <p:cBhvr>
                                        <p:cTn id="11" dur="1" fill="hold"/>
                                        <p:tgtEl>
                                          <p:spTgt spid="718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1143000" y="685800"/>
            <a:ext cx="7010400" cy="641350"/>
          </a:xfrm>
          <a:prstGeom prst="rect">
            <a:avLst/>
          </a:prstGeom>
          <a:noFill/>
          <a:ln w="9525">
            <a:noFill/>
            <a:miter lim="800000"/>
            <a:headEnd/>
            <a:tailEnd/>
          </a:ln>
          <a:effectLst/>
        </p:spPr>
        <p:txBody>
          <a:bodyPr>
            <a:spAutoFit/>
          </a:bodyPr>
          <a:lstStyle/>
          <a:p>
            <a:pPr algn="ctr">
              <a:spcBef>
                <a:spcPct val="50000"/>
              </a:spcBef>
            </a:pPr>
            <a:r>
              <a:rPr lang="en-US" sz="3600" b="1"/>
              <a:t>ACQUIRING KNOWLEDGE</a:t>
            </a:r>
          </a:p>
        </p:txBody>
      </p:sp>
      <p:sp>
        <p:nvSpPr>
          <p:cNvPr id="8195" name="Text Box 3"/>
          <p:cNvSpPr txBox="1">
            <a:spLocks noChangeArrowheads="1"/>
          </p:cNvSpPr>
          <p:nvPr/>
        </p:nvSpPr>
        <p:spPr bwMode="auto">
          <a:xfrm>
            <a:off x="533400" y="1828800"/>
            <a:ext cx="7543800" cy="3195638"/>
          </a:xfrm>
          <a:prstGeom prst="rect">
            <a:avLst/>
          </a:prstGeom>
          <a:noFill/>
          <a:ln w="9525">
            <a:noFill/>
            <a:miter lim="800000"/>
            <a:headEnd/>
            <a:tailEnd/>
          </a:ln>
          <a:effectLst/>
        </p:spPr>
        <p:txBody>
          <a:bodyPr>
            <a:spAutoFit/>
          </a:bodyPr>
          <a:lstStyle/>
          <a:p>
            <a:pPr>
              <a:spcBef>
                <a:spcPct val="50000"/>
              </a:spcBef>
            </a:pPr>
            <a:r>
              <a:rPr lang="en-US" dirty="0">
                <a:solidFill>
                  <a:srgbClr val="A50021"/>
                </a:solidFill>
              </a:rPr>
              <a:t>Tenacity</a:t>
            </a:r>
            <a:r>
              <a:rPr lang="en-US" dirty="0"/>
              <a:t>:	It has always been so</a:t>
            </a:r>
          </a:p>
          <a:p>
            <a:pPr>
              <a:spcBef>
                <a:spcPct val="50000"/>
              </a:spcBef>
            </a:pPr>
            <a:r>
              <a:rPr lang="en-US" dirty="0">
                <a:solidFill>
                  <a:srgbClr val="FF6600"/>
                </a:solidFill>
              </a:rPr>
              <a:t>Intuition</a:t>
            </a:r>
            <a:r>
              <a:rPr lang="en-US" dirty="0"/>
              <a:t>:	I feel it is so</a:t>
            </a:r>
          </a:p>
          <a:p>
            <a:pPr>
              <a:spcBef>
                <a:spcPct val="50000"/>
              </a:spcBef>
            </a:pPr>
            <a:r>
              <a:rPr lang="en-US" dirty="0">
                <a:solidFill>
                  <a:srgbClr val="C1BC51"/>
                </a:solidFill>
              </a:rPr>
              <a:t>Authority</a:t>
            </a:r>
            <a:r>
              <a:rPr lang="en-US" dirty="0"/>
              <a:t>:	They say it is so</a:t>
            </a:r>
          </a:p>
          <a:p>
            <a:pPr>
              <a:spcBef>
                <a:spcPct val="50000"/>
              </a:spcBef>
            </a:pPr>
            <a:r>
              <a:rPr lang="en-US" dirty="0">
                <a:solidFill>
                  <a:srgbClr val="66FF33"/>
                </a:solidFill>
              </a:rPr>
              <a:t>Rationalism</a:t>
            </a:r>
            <a:r>
              <a:rPr lang="en-US" dirty="0"/>
              <a:t>:	It makes sense for it to be so</a:t>
            </a:r>
          </a:p>
          <a:p>
            <a:pPr>
              <a:spcBef>
                <a:spcPct val="50000"/>
              </a:spcBef>
            </a:pPr>
            <a:r>
              <a:rPr lang="en-US" dirty="0">
                <a:solidFill>
                  <a:srgbClr val="009900"/>
                </a:solidFill>
              </a:rPr>
              <a:t>Empiricism</a:t>
            </a:r>
            <a:r>
              <a:rPr lang="en-US" dirty="0"/>
              <a:t>:	Data suggests it to be so</a:t>
            </a:r>
          </a:p>
          <a:p>
            <a:pPr>
              <a:spcBef>
                <a:spcPct val="50000"/>
              </a:spcBef>
            </a:pPr>
            <a:r>
              <a:rPr lang="en-US" dirty="0">
                <a:solidFill>
                  <a:schemeClr val="accent2"/>
                </a:solidFill>
              </a:rPr>
              <a:t>Science</a:t>
            </a:r>
            <a:r>
              <a:rPr lang="en-US" dirty="0"/>
              <a:t>:	It can be demonstrated to be so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1143000" y="685800"/>
            <a:ext cx="7010400" cy="641350"/>
          </a:xfrm>
          <a:prstGeom prst="rect">
            <a:avLst/>
          </a:prstGeom>
          <a:noFill/>
          <a:ln w="9525">
            <a:noFill/>
            <a:miter lim="800000"/>
            <a:headEnd/>
            <a:tailEnd/>
          </a:ln>
          <a:effectLst/>
        </p:spPr>
        <p:txBody>
          <a:bodyPr>
            <a:spAutoFit/>
          </a:bodyPr>
          <a:lstStyle/>
          <a:p>
            <a:pPr algn="ctr">
              <a:spcBef>
                <a:spcPct val="50000"/>
              </a:spcBef>
            </a:pPr>
            <a:r>
              <a:rPr lang="en-US" sz="3600" b="1"/>
              <a:t>SCIENCE</a:t>
            </a:r>
          </a:p>
        </p:txBody>
      </p:sp>
      <p:sp>
        <p:nvSpPr>
          <p:cNvPr id="9219" name="Text Box 3"/>
          <p:cNvSpPr txBox="1">
            <a:spLocks noChangeArrowheads="1"/>
          </p:cNvSpPr>
          <p:nvPr/>
        </p:nvSpPr>
        <p:spPr bwMode="auto">
          <a:xfrm>
            <a:off x="457200" y="1676400"/>
            <a:ext cx="7848600" cy="3683000"/>
          </a:xfrm>
          <a:prstGeom prst="rect">
            <a:avLst/>
          </a:prstGeom>
          <a:noFill/>
          <a:ln w="9525">
            <a:noFill/>
            <a:miter lim="800000"/>
            <a:headEnd/>
            <a:tailEnd/>
          </a:ln>
          <a:effectLst/>
        </p:spPr>
        <p:txBody>
          <a:bodyPr>
            <a:spAutoFit/>
          </a:bodyPr>
          <a:lstStyle/>
          <a:p>
            <a:pPr algn="ctr">
              <a:spcBef>
                <a:spcPct val="50000"/>
              </a:spcBef>
            </a:pPr>
            <a:r>
              <a:rPr lang="en-US" dirty="0"/>
              <a:t>Science is a way of thinking, a system of belief; it is a kind of </a:t>
            </a:r>
            <a:r>
              <a:rPr lang="en-US" sz="3200" dirty="0">
                <a:solidFill>
                  <a:srgbClr val="A50021"/>
                </a:solidFill>
              </a:rPr>
              <a:t>RELIGION</a:t>
            </a:r>
            <a:r>
              <a:rPr lang="en-US" dirty="0"/>
              <a:t>.</a:t>
            </a:r>
          </a:p>
          <a:p>
            <a:pPr algn="just">
              <a:spcBef>
                <a:spcPct val="50000"/>
              </a:spcBef>
            </a:pPr>
            <a:r>
              <a:rPr lang="en-US" dirty="0"/>
              <a:t>Science is a process of inquiry that brings together elements of both rationalism and empiricism. It employs rational logic and checks each premise, and each logical step with empirical observation.</a:t>
            </a:r>
          </a:p>
          <a:p>
            <a:pPr algn="just">
              <a:spcBef>
                <a:spcPct val="50000"/>
              </a:spcBef>
            </a:pPr>
            <a:endParaRPr lang="en-US" dirty="0"/>
          </a:p>
          <a:p>
            <a:pPr algn="ctr">
              <a:spcBef>
                <a:spcPct val="50000"/>
              </a:spcBef>
            </a:pPr>
            <a:r>
              <a:rPr lang="en-US" dirty="0">
                <a:solidFill>
                  <a:schemeClr val="accent2"/>
                </a:solidFill>
              </a:rPr>
              <a:t>Science is the inter-play of logic with observation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1143000" y="685800"/>
            <a:ext cx="7010400" cy="641350"/>
          </a:xfrm>
          <a:prstGeom prst="rect">
            <a:avLst/>
          </a:prstGeom>
          <a:noFill/>
          <a:ln w="9525">
            <a:noFill/>
            <a:miter lim="800000"/>
            <a:headEnd/>
            <a:tailEnd/>
          </a:ln>
          <a:effectLst/>
        </p:spPr>
        <p:txBody>
          <a:bodyPr>
            <a:spAutoFit/>
          </a:bodyPr>
          <a:lstStyle/>
          <a:p>
            <a:pPr algn="ctr">
              <a:spcBef>
                <a:spcPct val="50000"/>
              </a:spcBef>
            </a:pPr>
            <a:r>
              <a:rPr lang="en-US" sz="3600" b="1"/>
              <a:t>BASIC TENETS OF SCIENCE</a:t>
            </a:r>
          </a:p>
        </p:txBody>
      </p:sp>
      <p:sp>
        <p:nvSpPr>
          <p:cNvPr id="10243" name="Text Box 3"/>
          <p:cNvSpPr txBox="1">
            <a:spLocks noChangeArrowheads="1"/>
          </p:cNvSpPr>
          <p:nvPr/>
        </p:nvSpPr>
        <p:spPr bwMode="auto">
          <a:xfrm>
            <a:off x="609600" y="1371600"/>
            <a:ext cx="7772400" cy="3013075"/>
          </a:xfrm>
          <a:prstGeom prst="rect">
            <a:avLst/>
          </a:prstGeom>
          <a:noFill/>
          <a:ln w="9525">
            <a:noFill/>
            <a:miter lim="800000"/>
            <a:headEnd/>
            <a:tailEnd/>
          </a:ln>
          <a:effectLst/>
        </p:spPr>
        <p:txBody>
          <a:bodyPr>
            <a:spAutoFit/>
          </a:bodyPr>
          <a:lstStyle/>
          <a:p>
            <a:pPr marL="457200" indent="-457200">
              <a:spcBef>
                <a:spcPct val="50000"/>
              </a:spcBef>
            </a:pPr>
            <a:r>
              <a:rPr lang="en-US"/>
              <a:t>A scientist believes that:</a:t>
            </a:r>
          </a:p>
          <a:p>
            <a:pPr marL="457200" indent="-457200">
              <a:spcBef>
                <a:spcPct val="50000"/>
              </a:spcBef>
              <a:buFontTx/>
              <a:buAutoNum type="arabicPeriod"/>
            </a:pPr>
            <a:r>
              <a:rPr lang="en-US"/>
              <a:t>A true, physical and external universe exists</a:t>
            </a:r>
          </a:p>
          <a:p>
            <a:pPr marL="457200" indent="-457200">
              <a:spcBef>
                <a:spcPct val="50000"/>
              </a:spcBef>
            </a:pPr>
            <a:endParaRPr lang="en-US"/>
          </a:p>
          <a:p>
            <a:pPr marL="457200" indent="-457200">
              <a:spcBef>
                <a:spcPct val="50000"/>
              </a:spcBef>
            </a:pPr>
            <a:endParaRPr lang="en-US"/>
          </a:p>
          <a:p>
            <a:pPr marL="457200" indent="-457200">
              <a:spcBef>
                <a:spcPct val="50000"/>
              </a:spcBef>
            </a:pPr>
            <a:r>
              <a:rPr lang="en-US"/>
              <a:t>2.	While there may be randomness and thus unpredictability in the universe, it is primarily an orderly system. </a:t>
            </a:r>
          </a:p>
        </p:txBody>
      </p:sp>
      <p:pic>
        <p:nvPicPr>
          <p:cNvPr id="10247" name="Picture 7" descr="jwm31"/>
          <p:cNvPicPr>
            <a:picLocks noChangeAspect="1" noChangeArrowheads="1"/>
          </p:cNvPicPr>
          <p:nvPr/>
        </p:nvPicPr>
        <p:blipFill>
          <a:blip r:embed="rId2"/>
          <a:srcRect/>
          <a:stretch>
            <a:fillRect/>
          </a:stretch>
        </p:blipFill>
        <p:spPr bwMode="auto">
          <a:xfrm>
            <a:off x="3048000" y="2438400"/>
            <a:ext cx="2530475" cy="1143000"/>
          </a:xfrm>
          <a:prstGeom prst="rect">
            <a:avLst/>
          </a:prstGeom>
          <a:noFill/>
        </p:spPr>
      </p:pic>
      <p:pic>
        <p:nvPicPr>
          <p:cNvPr id="10249" name="Picture 9" descr="Nice Image:">
            <a:hlinkClick r:id="rId3"/>
          </p:cNvPr>
          <p:cNvPicPr>
            <a:picLocks noChangeAspect="1" noChangeArrowheads="1"/>
          </p:cNvPicPr>
          <p:nvPr/>
        </p:nvPicPr>
        <p:blipFill>
          <a:blip r:embed="rId4"/>
          <a:srcRect/>
          <a:stretch>
            <a:fillRect/>
          </a:stretch>
        </p:blipFill>
        <p:spPr bwMode="auto">
          <a:xfrm>
            <a:off x="2667000" y="4419600"/>
            <a:ext cx="3352800" cy="1660525"/>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609600" y="1447800"/>
            <a:ext cx="8153400" cy="3013075"/>
          </a:xfrm>
          <a:prstGeom prst="rect">
            <a:avLst/>
          </a:prstGeom>
          <a:noFill/>
          <a:ln w="9525">
            <a:noFill/>
            <a:miter lim="800000"/>
            <a:headEnd/>
            <a:tailEnd/>
          </a:ln>
          <a:effectLst/>
        </p:spPr>
        <p:txBody>
          <a:bodyPr>
            <a:spAutoFit/>
          </a:bodyPr>
          <a:lstStyle/>
          <a:p>
            <a:pPr marL="457200" indent="-457200">
              <a:spcBef>
                <a:spcPct val="50000"/>
              </a:spcBef>
              <a:buFontTx/>
              <a:buAutoNum type="arabicPeriod" startAt="3"/>
            </a:pPr>
            <a:r>
              <a:rPr lang="en-US"/>
              <a:t>The principles of this orderly universe can be discovered</a:t>
            </a:r>
          </a:p>
          <a:p>
            <a:pPr marL="457200" indent="-457200">
              <a:spcBef>
                <a:spcPct val="50000"/>
              </a:spcBef>
            </a:pPr>
            <a:endParaRPr lang="en-US"/>
          </a:p>
          <a:p>
            <a:pPr marL="457200" indent="-457200">
              <a:spcBef>
                <a:spcPct val="50000"/>
              </a:spcBef>
            </a:pPr>
            <a:endParaRPr lang="en-US"/>
          </a:p>
          <a:p>
            <a:pPr marL="457200" indent="-457200">
              <a:spcBef>
                <a:spcPct val="50000"/>
              </a:spcBef>
            </a:pPr>
            <a:endParaRPr lang="en-US"/>
          </a:p>
          <a:p>
            <a:pPr marL="457200" indent="-457200">
              <a:spcBef>
                <a:spcPct val="50000"/>
              </a:spcBef>
            </a:pPr>
            <a:r>
              <a:rPr lang="en-US"/>
              <a:t>4.	Our knowledge of the universe is always incomplete. New knowledge can, should, and does alter current ideas.</a:t>
            </a:r>
          </a:p>
        </p:txBody>
      </p:sp>
      <p:sp>
        <p:nvSpPr>
          <p:cNvPr id="11267" name="Text Box 3"/>
          <p:cNvSpPr txBox="1">
            <a:spLocks noChangeArrowheads="1"/>
          </p:cNvSpPr>
          <p:nvPr/>
        </p:nvSpPr>
        <p:spPr bwMode="auto">
          <a:xfrm>
            <a:off x="1600200" y="2133600"/>
            <a:ext cx="3429000" cy="457200"/>
          </a:xfrm>
          <a:prstGeom prst="rect">
            <a:avLst/>
          </a:prstGeom>
          <a:noFill/>
          <a:ln w="9525">
            <a:noFill/>
            <a:miter lim="800000"/>
            <a:headEnd/>
            <a:tailEnd/>
          </a:ln>
          <a:effectLst/>
        </p:spPr>
        <p:txBody>
          <a:bodyPr>
            <a:spAutoFit/>
          </a:bodyPr>
          <a:lstStyle/>
          <a:p>
            <a:pPr>
              <a:spcBef>
                <a:spcPct val="50000"/>
              </a:spcBef>
            </a:pPr>
            <a:r>
              <a:rPr lang="en-US" i="1"/>
              <a:t>E=Mc</a:t>
            </a:r>
            <a:r>
              <a:rPr lang="en-US" i="1" baseline="30000"/>
              <a:t>2</a:t>
            </a:r>
          </a:p>
        </p:txBody>
      </p:sp>
      <p:sp>
        <p:nvSpPr>
          <p:cNvPr id="11268" name="Text Box 4"/>
          <p:cNvSpPr txBox="1">
            <a:spLocks noChangeArrowheads="1"/>
          </p:cNvSpPr>
          <p:nvPr/>
        </p:nvSpPr>
        <p:spPr bwMode="auto">
          <a:xfrm>
            <a:off x="3429000" y="2514600"/>
            <a:ext cx="1524000" cy="457200"/>
          </a:xfrm>
          <a:prstGeom prst="rect">
            <a:avLst/>
          </a:prstGeom>
          <a:noFill/>
          <a:ln w="9525">
            <a:noFill/>
            <a:miter lim="800000"/>
            <a:headEnd/>
            <a:tailEnd/>
          </a:ln>
          <a:effectLst/>
        </p:spPr>
        <p:txBody>
          <a:bodyPr>
            <a:spAutoFit/>
          </a:bodyPr>
          <a:lstStyle/>
          <a:p>
            <a:pPr>
              <a:spcBef>
                <a:spcPct val="50000"/>
              </a:spcBef>
            </a:pPr>
            <a:r>
              <a:rPr lang="en-US" i="1"/>
              <a:t>F=ma</a:t>
            </a:r>
          </a:p>
        </p:txBody>
      </p:sp>
      <p:sp>
        <p:nvSpPr>
          <p:cNvPr id="11269" name="Text Box 5"/>
          <p:cNvSpPr txBox="1">
            <a:spLocks noChangeArrowheads="1"/>
          </p:cNvSpPr>
          <p:nvPr/>
        </p:nvSpPr>
        <p:spPr bwMode="auto">
          <a:xfrm>
            <a:off x="6172200" y="2286000"/>
            <a:ext cx="1676400" cy="1552575"/>
          </a:xfrm>
          <a:prstGeom prst="rect">
            <a:avLst/>
          </a:prstGeom>
          <a:noFill/>
          <a:ln w="9525">
            <a:noFill/>
            <a:miter lim="800000"/>
            <a:headEnd/>
            <a:tailEnd/>
          </a:ln>
          <a:effectLst/>
        </p:spPr>
        <p:txBody>
          <a:bodyPr>
            <a:spAutoFit/>
          </a:bodyPr>
          <a:lstStyle/>
          <a:p>
            <a:pPr>
              <a:spcBef>
                <a:spcPct val="50000"/>
              </a:spcBef>
            </a:pPr>
            <a:r>
              <a:rPr lang="en-US">
                <a:latin typeface="Symbol" pitchFamily="18" charset="2"/>
              </a:rPr>
              <a:t>l=</a:t>
            </a:r>
            <a:r>
              <a:rPr lang="en-US" i="1"/>
              <a:t>h/mv</a:t>
            </a:r>
          </a:p>
          <a:p>
            <a:pPr>
              <a:spcBef>
                <a:spcPct val="50000"/>
              </a:spcBef>
            </a:pPr>
            <a:r>
              <a:rPr lang="en-US" b="1">
                <a:latin typeface="Arial" pitchFamily="34" charset="0"/>
              </a:rPr>
              <a:t> </a:t>
            </a:r>
          </a:p>
          <a:p>
            <a:pPr>
              <a:spcBef>
                <a:spcPct val="50000"/>
              </a:spcBef>
            </a:pPr>
            <a:endParaRPr lang="en-US"/>
          </a:p>
        </p:txBody>
      </p:sp>
      <p:sp>
        <p:nvSpPr>
          <p:cNvPr id="11270" name="Text Box 6"/>
          <p:cNvSpPr txBox="1">
            <a:spLocks noChangeArrowheads="1"/>
          </p:cNvSpPr>
          <p:nvPr/>
        </p:nvSpPr>
        <p:spPr bwMode="auto">
          <a:xfrm>
            <a:off x="1828800" y="3124200"/>
            <a:ext cx="2286000" cy="457200"/>
          </a:xfrm>
          <a:prstGeom prst="rect">
            <a:avLst/>
          </a:prstGeom>
          <a:noFill/>
          <a:ln w="9525">
            <a:noFill/>
            <a:miter lim="800000"/>
            <a:headEnd/>
            <a:tailEnd/>
          </a:ln>
          <a:effectLst/>
        </p:spPr>
        <p:txBody>
          <a:bodyPr>
            <a:spAutoFit/>
          </a:bodyPr>
          <a:lstStyle/>
          <a:p>
            <a:pPr>
              <a:spcBef>
                <a:spcPct val="50000"/>
              </a:spcBef>
            </a:pPr>
            <a:r>
              <a:rPr lang="en-US">
                <a:latin typeface="Symbol" pitchFamily="18" charset="2"/>
              </a:rPr>
              <a:t>D</a:t>
            </a:r>
            <a:r>
              <a:rPr lang="en-US" i="1"/>
              <a:t>x</a:t>
            </a:r>
            <a:r>
              <a:rPr lang="en-US">
                <a:latin typeface="Symbol" pitchFamily="18" charset="2"/>
              </a:rPr>
              <a:t>D</a:t>
            </a:r>
            <a:r>
              <a:rPr lang="en-US" i="1"/>
              <a:t>p</a:t>
            </a:r>
            <a:r>
              <a:rPr lang="en-US">
                <a:latin typeface="Symbol" pitchFamily="18" charset="2"/>
              </a:rPr>
              <a:t>&gt;</a:t>
            </a:r>
            <a:r>
              <a:rPr lang="en-US" i="1"/>
              <a:t>h</a:t>
            </a:r>
            <a:r>
              <a:rPr lang="en-US">
                <a:latin typeface="Symbol" pitchFamily="18" charset="2"/>
              </a:rPr>
              <a:t>/</a:t>
            </a:r>
            <a:r>
              <a:rPr lang="en-US" sz="1800">
                <a:latin typeface="Symbol" pitchFamily="18" charset="2"/>
              </a:rPr>
              <a:t>2</a:t>
            </a:r>
            <a:r>
              <a:rPr lang="en-US">
                <a:latin typeface="Symbol" pitchFamily="18" charset="2"/>
              </a:rPr>
              <a:t>p</a:t>
            </a:r>
          </a:p>
        </p:txBody>
      </p:sp>
      <p:pic>
        <p:nvPicPr>
          <p:cNvPr id="11272" name="Picture 8" descr="einstein"/>
          <p:cNvPicPr>
            <a:picLocks noChangeAspect="1" noChangeArrowheads="1"/>
          </p:cNvPicPr>
          <p:nvPr/>
        </p:nvPicPr>
        <p:blipFill>
          <a:blip r:embed="rId2"/>
          <a:srcRect/>
          <a:stretch>
            <a:fillRect/>
          </a:stretch>
        </p:blipFill>
        <p:spPr bwMode="auto">
          <a:xfrm>
            <a:off x="4419600" y="4724400"/>
            <a:ext cx="1096963" cy="1143000"/>
          </a:xfrm>
          <a:prstGeom prst="rect">
            <a:avLst/>
          </a:prstGeom>
          <a:noFill/>
        </p:spPr>
      </p:pic>
      <p:sp>
        <p:nvSpPr>
          <p:cNvPr id="11275" name="Rectangle 11"/>
          <p:cNvSpPr>
            <a:spLocks noChangeArrowheads="1"/>
          </p:cNvSpPr>
          <p:nvPr/>
        </p:nvSpPr>
        <p:spPr bwMode="auto">
          <a:xfrm>
            <a:off x="2603500" y="1292225"/>
            <a:ext cx="9144000" cy="0"/>
          </a:xfrm>
          <a:prstGeom prst="rect">
            <a:avLst/>
          </a:prstGeom>
          <a:noFill/>
          <a:ln w="9525">
            <a:noFill/>
            <a:miter lim="800000"/>
            <a:headEnd/>
            <a:tailEnd/>
          </a:ln>
          <a:effectLst/>
        </p:spPr>
        <p:txBody>
          <a:bodyPr>
            <a:spAutoFit/>
          </a:bodyPr>
          <a:lstStyle/>
          <a:p>
            <a:endParaRPr lang="en-US"/>
          </a:p>
        </p:txBody>
      </p:sp>
      <p:pic>
        <p:nvPicPr>
          <p:cNvPr id="11277" name="Picture 13" descr="Newton_17"/>
          <p:cNvPicPr>
            <a:picLocks noChangeAspect="1" noChangeArrowheads="1"/>
          </p:cNvPicPr>
          <p:nvPr/>
        </p:nvPicPr>
        <p:blipFill>
          <a:blip r:embed="rId3"/>
          <a:srcRect/>
          <a:stretch>
            <a:fillRect/>
          </a:stretch>
        </p:blipFill>
        <p:spPr bwMode="auto">
          <a:xfrm rot="10800000" flipV="1">
            <a:off x="1676400" y="4648200"/>
            <a:ext cx="1150938" cy="1336675"/>
          </a:xfrm>
          <a:prstGeom prst="rect">
            <a:avLst/>
          </a:prstGeom>
          <a:noFill/>
        </p:spPr>
      </p:pic>
      <p:sp>
        <p:nvSpPr>
          <p:cNvPr id="11278" name="Text Box 14"/>
          <p:cNvSpPr txBox="1">
            <a:spLocks noChangeArrowheads="1"/>
          </p:cNvSpPr>
          <p:nvPr/>
        </p:nvSpPr>
        <p:spPr bwMode="auto">
          <a:xfrm>
            <a:off x="7086600" y="4648200"/>
            <a:ext cx="1066800" cy="1006475"/>
          </a:xfrm>
          <a:prstGeom prst="rect">
            <a:avLst/>
          </a:prstGeom>
          <a:noFill/>
          <a:ln w="9525">
            <a:noFill/>
            <a:miter lim="800000"/>
            <a:headEnd/>
            <a:tailEnd/>
          </a:ln>
          <a:effectLst/>
        </p:spPr>
        <p:txBody>
          <a:bodyPr>
            <a:spAutoFit/>
          </a:bodyPr>
          <a:lstStyle/>
          <a:p>
            <a:pPr>
              <a:spcBef>
                <a:spcPct val="50000"/>
              </a:spcBef>
            </a:pPr>
            <a:r>
              <a:rPr lang="en-US" sz="6000">
                <a:solidFill>
                  <a:srgbClr val="FF6600"/>
                </a:solidFill>
              </a:rPr>
              <a:t>?</a:t>
            </a:r>
          </a:p>
        </p:txBody>
      </p:sp>
      <p:sp>
        <p:nvSpPr>
          <p:cNvPr id="11279" name="Line 15"/>
          <p:cNvSpPr>
            <a:spLocks noChangeShapeType="1"/>
          </p:cNvSpPr>
          <p:nvPr/>
        </p:nvSpPr>
        <p:spPr bwMode="auto">
          <a:xfrm>
            <a:off x="3200400" y="5334000"/>
            <a:ext cx="685800" cy="0"/>
          </a:xfrm>
          <a:prstGeom prst="line">
            <a:avLst/>
          </a:prstGeom>
          <a:noFill/>
          <a:ln w="38100">
            <a:solidFill>
              <a:schemeClr val="accent2"/>
            </a:solidFill>
            <a:round/>
            <a:headEnd/>
            <a:tailEnd type="triangle" w="med" len="med"/>
          </a:ln>
          <a:effectLst/>
        </p:spPr>
        <p:txBody>
          <a:bodyPr/>
          <a:lstStyle/>
          <a:p>
            <a:endParaRPr lang="en-US"/>
          </a:p>
        </p:txBody>
      </p:sp>
      <p:sp>
        <p:nvSpPr>
          <p:cNvPr id="11280" name="Line 16"/>
          <p:cNvSpPr>
            <a:spLocks noChangeShapeType="1"/>
          </p:cNvSpPr>
          <p:nvPr/>
        </p:nvSpPr>
        <p:spPr bwMode="auto">
          <a:xfrm>
            <a:off x="5943600" y="5334000"/>
            <a:ext cx="685800" cy="0"/>
          </a:xfrm>
          <a:prstGeom prst="line">
            <a:avLst/>
          </a:prstGeom>
          <a:noFill/>
          <a:ln w="38100">
            <a:solidFill>
              <a:schemeClr val="accent2"/>
            </a:solidFill>
            <a:round/>
            <a:headEnd/>
            <a:tailEnd type="triangle" w="med" len="med"/>
          </a:ln>
          <a:effectLst/>
        </p:spPr>
        <p:txBody>
          <a:bodyPr/>
          <a:lstStyle/>
          <a:p>
            <a:endParaRPr lang="en-US"/>
          </a:p>
        </p:txBody>
      </p:sp>
      <p:sp>
        <p:nvSpPr>
          <p:cNvPr id="11281" name="Text Box 17"/>
          <p:cNvSpPr txBox="1">
            <a:spLocks noChangeArrowheads="1"/>
          </p:cNvSpPr>
          <p:nvPr/>
        </p:nvSpPr>
        <p:spPr bwMode="auto">
          <a:xfrm>
            <a:off x="1143000" y="685800"/>
            <a:ext cx="7010400" cy="641350"/>
          </a:xfrm>
          <a:prstGeom prst="rect">
            <a:avLst/>
          </a:prstGeom>
          <a:noFill/>
          <a:ln w="9525">
            <a:noFill/>
            <a:miter lim="800000"/>
            <a:headEnd/>
            <a:tailEnd/>
          </a:ln>
          <a:effectLst/>
        </p:spPr>
        <p:txBody>
          <a:bodyPr>
            <a:spAutoFit/>
          </a:bodyPr>
          <a:lstStyle/>
          <a:p>
            <a:pPr algn="ctr">
              <a:spcBef>
                <a:spcPct val="50000"/>
              </a:spcBef>
            </a:pPr>
            <a:r>
              <a:rPr lang="en-US" sz="3600" b="1"/>
              <a:t>BASIC TENETS OF SCIENCE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1143000" y="685800"/>
            <a:ext cx="7010400" cy="641350"/>
          </a:xfrm>
          <a:prstGeom prst="rect">
            <a:avLst/>
          </a:prstGeom>
          <a:noFill/>
          <a:ln w="9525">
            <a:noFill/>
            <a:miter lim="800000"/>
            <a:headEnd/>
            <a:tailEnd/>
          </a:ln>
          <a:effectLst/>
        </p:spPr>
        <p:txBody>
          <a:bodyPr>
            <a:spAutoFit/>
          </a:bodyPr>
          <a:lstStyle/>
          <a:p>
            <a:pPr algn="ctr">
              <a:spcBef>
                <a:spcPct val="50000"/>
              </a:spcBef>
            </a:pPr>
            <a:r>
              <a:rPr lang="en-US" sz="3600" b="1"/>
              <a:t>RESEARCH</a:t>
            </a:r>
          </a:p>
        </p:txBody>
      </p:sp>
      <p:sp>
        <p:nvSpPr>
          <p:cNvPr id="12292" name="Text Box 4"/>
          <p:cNvSpPr txBox="1">
            <a:spLocks noChangeArrowheads="1"/>
          </p:cNvSpPr>
          <p:nvPr/>
        </p:nvSpPr>
        <p:spPr bwMode="auto">
          <a:xfrm>
            <a:off x="381000" y="1752600"/>
            <a:ext cx="8458200" cy="4340225"/>
          </a:xfrm>
          <a:prstGeom prst="rect">
            <a:avLst/>
          </a:prstGeom>
          <a:noFill/>
          <a:ln w="9525">
            <a:noFill/>
            <a:miter lim="800000"/>
            <a:headEnd/>
            <a:tailEnd/>
          </a:ln>
          <a:effectLst/>
        </p:spPr>
        <p:txBody>
          <a:bodyPr>
            <a:spAutoFit/>
          </a:bodyPr>
          <a:lstStyle/>
          <a:p>
            <a:pPr marL="457200" indent="-457200">
              <a:spcBef>
                <a:spcPct val="50000"/>
              </a:spcBef>
            </a:pPr>
            <a:r>
              <a:rPr lang="en-US"/>
              <a:t>Research is also a process of inquiry. It entails the following steps:</a:t>
            </a:r>
          </a:p>
          <a:p>
            <a:pPr marL="457200" indent="-457200">
              <a:spcBef>
                <a:spcPct val="50000"/>
              </a:spcBef>
              <a:buFontTx/>
              <a:buAutoNum type="arabicPeriod"/>
            </a:pPr>
            <a:r>
              <a:rPr lang="en-US"/>
              <a:t>Posing a question</a:t>
            </a:r>
          </a:p>
          <a:p>
            <a:pPr marL="457200" indent="-457200">
              <a:spcBef>
                <a:spcPct val="50000"/>
              </a:spcBef>
              <a:buFontTx/>
              <a:buAutoNum type="arabicPeriod"/>
            </a:pPr>
            <a:r>
              <a:rPr lang="en-US"/>
              <a:t>Developing a procedure to answer that question</a:t>
            </a:r>
          </a:p>
          <a:p>
            <a:pPr marL="457200" indent="-457200">
              <a:spcBef>
                <a:spcPct val="50000"/>
              </a:spcBef>
              <a:buFontTx/>
              <a:buAutoNum type="arabicPeriod"/>
            </a:pPr>
            <a:r>
              <a:rPr lang="en-US"/>
              <a:t>Following that procedure.</a:t>
            </a:r>
          </a:p>
          <a:p>
            <a:pPr marL="457200" indent="-457200" algn="ctr">
              <a:spcBef>
                <a:spcPct val="50000"/>
              </a:spcBef>
            </a:pPr>
            <a:endParaRPr lang="en-US"/>
          </a:p>
          <a:p>
            <a:pPr marL="457200" indent="-457200" algn="ctr">
              <a:spcBef>
                <a:spcPct val="50000"/>
              </a:spcBef>
            </a:pPr>
            <a:r>
              <a:rPr lang="en-US" sz="3200" b="1">
                <a:solidFill>
                  <a:srgbClr val="FF6600"/>
                </a:solidFill>
              </a:rPr>
              <a:t>However,</a:t>
            </a:r>
          </a:p>
          <a:p>
            <a:pPr marL="457200" indent="-457200" algn="ctr">
              <a:spcBef>
                <a:spcPct val="50000"/>
              </a:spcBef>
            </a:pPr>
            <a:endParaRPr lang="en-US" sz="1400" b="1">
              <a:solidFill>
                <a:srgbClr val="FF6600"/>
              </a:solidFill>
            </a:endParaRPr>
          </a:p>
          <a:p>
            <a:pPr marL="457200" indent="-457200" algn="ctr">
              <a:spcBef>
                <a:spcPct val="50000"/>
              </a:spcBef>
            </a:pPr>
            <a:r>
              <a:rPr lang="en-US" sz="2800" b="1">
                <a:solidFill>
                  <a:schemeClr val="accent2"/>
                </a:solidFill>
              </a:rPr>
              <a:t>Not all research is scientific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1143000" y="685800"/>
            <a:ext cx="7010400" cy="641350"/>
          </a:xfrm>
          <a:prstGeom prst="rect">
            <a:avLst/>
          </a:prstGeom>
          <a:noFill/>
          <a:ln w="9525">
            <a:noFill/>
            <a:miter lim="800000"/>
            <a:headEnd/>
            <a:tailEnd/>
          </a:ln>
          <a:effectLst/>
        </p:spPr>
        <p:txBody>
          <a:bodyPr>
            <a:spAutoFit/>
          </a:bodyPr>
          <a:lstStyle/>
          <a:p>
            <a:pPr algn="ctr">
              <a:spcBef>
                <a:spcPct val="50000"/>
              </a:spcBef>
            </a:pPr>
            <a:r>
              <a:rPr lang="en-US" sz="3600" b="1"/>
              <a:t>SCIENTIFIC RESEARCH</a:t>
            </a:r>
          </a:p>
        </p:txBody>
      </p:sp>
      <p:sp>
        <p:nvSpPr>
          <p:cNvPr id="13315" name="Text Box 3"/>
          <p:cNvSpPr txBox="1">
            <a:spLocks noChangeArrowheads="1"/>
          </p:cNvSpPr>
          <p:nvPr/>
        </p:nvSpPr>
        <p:spPr bwMode="auto">
          <a:xfrm>
            <a:off x="762000" y="1600200"/>
            <a:ext cx="7696200" cy="3743325"/>
          </a:xfrm>
          <a:prstGeom prst="rect">
            <a:avLst/>
          </a:prstGeom>
          <a:noFill/>
          <a:ln w="9525">
            <a:noFill/>
            <a:miter lim="800000"/>
            <a:headEnd/>
            <a:tailEnd/>
          </a:ln>
          <a:effectLst/>
        </p:spPr>
        <p:txBody>
          <a:bodyPr>
            <a:spAutoFit/>
          </a:bodyPr>
          <a:lstStyle/>
          <a:p>
            <a:pPr marL="457200" indent="-457200" algn="just">
              <a:spcBef>
                <a:spcPct val="50000"/>
              </a:spcBef>
            </a:pPr>
            <a:r>
              <a:rPr lang="en-US"/>
              <a:t>Scientific research is the process of inquiry in which we:</a:t>
            </a:r>
          </a:p>
          <a:p>
            <a:pPr marL="457200" indent="-457200" algn="just">
              <a:spcBef>
                <a:spcPct val="50000"/>
              </a:spcBef>
              <a:buFontTx/>
              <a:buAutoNum type="arabicPeriod"/>
            </a:pPr>
            <a:r>
              <a:rPr lang="en-US"/>
              <a:t>Pose a question about the physical world</a:t>
            </a:r>
          </a:p>
          <a:p>
            <a:pPr marL="457200" indent="-457200" algn="just">
              <a:spcBef>
                <a:spcPct val="50000"/>
              </a:spcBef>
              <a:buFontTx/>
              <a:buAutoNum type="arabicPeriod"/>
            </a:pPr>
            <a:r>
              <a:rPr lang="en-US"/>
              <a:t>Develop a set of procedures using the rational process that if followed, would  convincingly answer that question</a:t>
            </a:r>
          </a:p>
          <a:p>
            <a:pPr marL="457200" indent="-457200" algn="just">
              <a:spcBef>
                <a:spcPct val="50000"/>
              </a:spcBef>
              <a:buFontTx/>
              <a:buAutoNum type="arabicPeriod"/>
            </a:pPr>
            <a:r>
              <a:rPr lang="en-US"/>
              <a:t>Plan to make appropriate empirical observations</a:t>
            </a:r>
          </a:p>
          <a:p>
            <a:pPr marL="457200" indent="-457200" algn="just">
              <a:spcBef>
                <a:spcPct val="50000"/>
              </a:spcBef>
              <a:buFontTx/>
              <a:buAutoNum type="arabicPeriod"/>
            </a:pPr>
            <a:r>
              <a:rPr lang="en-US"/>
              <a:t>Rationally interpret the empirical observation to arrive at a conclusion.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1143000" y="685800"/>
            <a:ext cx="7010400" cy="641350"/>
          </a:xfrm>
          <a:prstGeom prst="rect">
            <a:avLst/>
          </a:prstGeom>
          <a:noFill/>
          <a:ln w="9525">
            <a:noFill/>
            <a:miter lim="800000"/>
            <a:headEnd/>
            <a:tailEnd/>
          </a:ln>
          <a:effectLst/>
        </p:spPr>
        <p:txBody>
          <a:bodyPr>
            <a:spAutoFit/>
          </a:bodyPr>
          <a:lstStyle/>
          <a:p>
            <a:pPr algn="ctr">
              <a:spcBef>
                <a:spcPct val="50000"/>
              </a:spcBef>
            </a:pPr>
            <a:r>
              <a:rPr lang="en-US" sz="3600" b="1"/>
              <a:t>TYPES OF RESEARCH</a:t>
            </a:r>
          </a:p>
        </p:txBody>
      </p:sp>
      <p:sp>
        <p:nvSpPr>
          <p:cNvPr id="14339" name="Text Box 3"/>
          <p:cNvSpPr txBox="1">
            <a:spLocks noChangeArrowheads="1"/>
          </p:cNvSpPr>
          <p:nvPr/>
        </p:nvSpPr>
        <p:spPr bwMode="auto">
          <a:xfrm>
            <a:off x="762000" y="1600200"/>
            <a:ext cx="7620000" cy="822325"/>
          </a:xfrm>
          <a:prstGeom prst="rect">
            <a:avLst/>
          </a:prstGeom>
          <a:noFill/>
          <a:ln w="9525">
            <a:noFill/>
            <a:miter lim="800000"/>
            <a:headEnd/>
            <a:tailEnd/>
          </a:ln>
          <a:effectLst/>
        </p:spPr>
        <p:txBody>
          <a:bodyPr>
            <a:spAutoFit/>
          </a:bodyPr>
          <a:lstStyle/>
          <a:p>
            <a:pPr>
              <a:spcBef>
                <a:spcPct val="50000"/>
              </a:spcBef>
            </a:pPr>
            <a:r>
              <a:rPr lang="en-US"/>
              <a:t>There is a continuum that defines various types of research not all of which is scientific research. </a:t>
            </a:r>
          </a:p>
        </p:txBody>
      </p:sp>
      <p:sp>
        <p:nvSpPr>
          <p:cNvPr id="14340" name="Line 4"/>
          <p:cNvSpPr>
            <a:spLocks noChangeShapeType="1"/>
          </p:cNvSpPr>
          <p:nvPr/>
        </p:nvSpPr>
        <p:spPr bwMode="auto">
          <a:xfrm>
            <a:off x="609600" y="4038600"/>
            <a:ext cx="7924800" cy="0"/>
          </a:xfrm>
          <a:prstGeom prst="line">
            <a:avLst/>
          </a:prstGeom>
          <a:noFill/>
          <a:ln w="9525">
            <a:solidFill>
              <a:schemeClr val="tx1"/>
            </a:solidFill>
            <a:round/>
            <a:headEnd/>
            <a:tailEnd/>
          </a:ln>
          <a:effectLst/>
        </p:spPr>
        <p:txBody>
          <a:bodyPr/>
          <a:lstStyle/>
          <a:p>
            <a:endParaRPr lang="en-US"/>
          </a:p>
        </p:txBody>
      </p:sp>
      <p:sp>
        <p:nvSpPr>
          <p:cNvPr id="14341" name="Text Box 5"/>
          <p:cNvSpPr txBox="1">
            <a:spLocks noChangeArrowheads="1"/>
          </p:cNvSpPr>
          <p:nvPr/>
        </p:nvSpPr>
        <p:spPr bwMode="auto">
          <a:xfrm>
            <a:off x="1600200" y="4267200"/>
            <a:ext cx="2438400" cy="641350"/>
          </a:xfrm>
          <a:prstGeom prst="rect">
            <a:avLst/>
          </a:prstGeom>
          <a:noFill/>
          <a:ln w="9525">
            <a:noFill/>
            <a:miter lim="800000"/>
            <a:headEnd/>
            <a:tailEnd/>
          </a:ln>
          <a:effectLst/>
        </p:spPr>
        <p:txBody>
          <a:bodyPr>
            <a:spAutoFit/>
          </a:bodyPr>
          <a:lstStyle/>
          <a:p>
            <a:pPr algn="ctr">
              <a:spcBef>
                <a:spcPct val="50000"/>
              </a:spcBef>
            </a:pPr>
            <a:r>
              <a:rPr lang="en-US" sz="1800" dirty="0">
                <a:solidFill>
                  <a:schemeClr val="accent2"/>
                </a:solidFill>
              </a:rPr>
              <a:t>Pure/Basic/Fundamental Research</a:t>
            </a:r>
          </a:p>
        </p:txBody>
      </p:sp>
      <p:sp>
        <p:nvSpPr>
          <p:cNvPr id="14342" name="Text Box 6"/>
          <p:cNvSpPr txBox="1">
            <a:spLocks noChangeArrowheads="1"/>
          </p:cNvSpPr>
          <p:nvPr/>
        </p:nvSpPr>
        <p:spPr bwMode="auto">
          <a:xfrm>
            <a:off x="2895600" y="3429000"/>
            <a:ext cx="2438400" cy="366713"/>
          </a:xfrm>
          <a:prstGeom prst="rect">
            <a:avLst/>
          </a:prstGeom>
          <a:noFill/>
          <a:ln w="9525">
            <a:noFill/>
            <a:miter lim="800000"/>
            <a:headEnd/>
            <a:tailEnd/>
          </a:ln>
          <a:effectLst/>
        </p:spPr>
        <p:txBody>
          <a:bodyPr>
            <a:spAutoFit/>
          </a:bodyPr>
          <a:lstStyle/>
          <a:p>
            <a:pPr algn="ctr">
              <a:spcBef>
                <a:spcPct val="50000"/>
              </a:spcBef>
            </a:pPr>
            <a:r>
              <a:rPr lang="en-US" sz="1800">
                <a:solidFill>
                  <a:srgbClr val="0099FF"/>
                </a:solidFill>
              </a:rPr>
              <a:t>Applied Research</a:t>
            </a:r>
          </a:p>
        </p:txBody>
      </p:sp>
      <p:sp>
        <p:nvSpPr>
          <p:cNvPr id="14343" name="Text Box 7"/>
          <p:cNvSpPr txBox="1">
            <a:spLocks noChangeArrowheads="1"/>
          </p:cNvSpPr>
          <p:nvPr/>
        </p:nvSpPr>
        <p:spPr bwMode="auto">
          <a:xfrm>
            <a:off x="4419600" y="4343400"/>
            <a:ext cx="2438400" cy="641350"/>
          </a:xfrm>
          <a:prstGeom prst="rect">
            <a:avLst/>
          </a:prstGeom>
          <a:noFill/>
          <a:ln w="9525">
            <a:noFill/>
            <a:miter lim="800000"/>
            <a:headEnd/>
            <a:tailEnd/>
          </a:ln>
          <a:effectLst/>
        </p:spPr>
        <p:txBody>
          <a:bodyPr>
            <a:spAutoFit/>
          </a:bodyPr>
          <a:lstStyle/>
          <a:p>
            <a:pPr algn="ctr">
              <a:spcBef>
                <a:spcPct val="50000"/>
              </a:spcBef>
            </a:pPr>
            <a:r>
              <a:rPr lang="en-US" sz="1800">
                <a:solidFill>
                  <a:srgbClr val="00FF99"/>
                </a:solidFill>
              </a:rPr>
              <a:t>Technological (Engineering) Research</a:t>
            </a:r>
          </a:p>
        </p:txBody>
      </p:sp>
      <p:sp>
        <p:nvSpPr>
          <p:cNvPr id="14344" name="Text Box 8"/>
          <p:cNvSpPr txBox="1">
            <a:spLocks noChangeArrowheads="1"/>
          </p:cNvSpPr>
          <p:nvPr/>
        </p:nvSpPr>
        <p:spPr bwMode="auto">
          <a:xfrm>
            <a:off x="6477000" y="3429000"/>
            <a:ext cx="2438400" cy="641350"/>
          </a:xfrm>
          <a:prstGeom prst="rect">
            <a:avLst/>
          </a:prstGeom>
          <a:noFill/>
          <a:ln w="9525">
            <a:noFill/>
            <a:miter lim="800000"/>
            <a:headEnd/>
            <a:tailEnd/>
          </a:ln>
          <a:effectLst/>
        </p:spPr>
        <p:txBody>
          <a:bodyPr>
            <a:spAutoFit/>
          </a:bodyPr>
          <a:lstStyle/>
          <a:p>
            <a:pPr algn="ctr">
              <a:spcBef>
                <a:spcPct val="50000"/>
              </a:spcBef>
            </a:pPr>
            <a:r>
              <a:rPr lang="en-US" sz="1800">
                <a:solidFill>
                  <a:srgbClr val="CC0000"/>
                </a:solidFill>
              </a:rPr>
              <a:t>Technical (Engineering) Development</a:t>
            </a:r>
          </a:p>
        </p:txBody>
      </p:sp>
      <p:sp>
        <p:nvSpPr>
          <p:cNvPr id="14345" name="Text Box 9"/>
          <p:cNvSpPr txBox="1">
            <a:spLocks noChangeArrowheads="1"/>
          </p:cNvSpPr>
          <p:nvPr/>
        </p:nvSpPr>
        <p:spPr bwMode="auto">
          <a:xfrm>
            <a:off x="0" y="3352800"/>
            <a:ext cx="1981200" cy="1061829"/>
          </a:xfrm>
          <a:prstGeom prst="rect">
            <a:avLst/>
          </a:prstGeom>
          <a:noFill/>
          <a:ln w="9525">
            <a:noFill/>
            <a:miter lim="800000"/>
            <a:headEnd/>
            <a:tailEnd/>
          </a:ln>
          <a:effectLst/>
        </p:spPr>
        <p:txBody>
          <a:bodyPr>
            <a:spAutoFit/>
          </a:bodyPr>
          <a:lstStyle/>
          <a:p>
            <a:pPr algn="ctr">
              <a:spcBef>
                <a:spcPct val="50000"/>
              </a:spcBef>
            </a:pPr>
            <a:r>
              <a:rPr lang="en-US" sz="1800" dirty="0">
                <a:solidFill>
                  <a:srgbClr val="CC0000"/>
                </a:solidFill>
              </a:rPr>
              <a:t>Mixed</a:t>
            </a:r>
          </a:p>
          <a:p>
            <a:pPr algn="ctr">
              <a:spcBef>
                <a:spcPct val="50000"/>
              </a:spcBef>
            </a:pPr>
            <a:r>
              <a:rPr lang="en-US" sz="1200" dirty="0">
                <a:solidFill>
                  <a:srgbClr val="CC0000"/>
                </a:solidFill>
              </a:rPr>
              <a:t>DEDUCTION-INDUCTION</a:t>
            </a:r>
          </a:p>
          <a:p>
            <a:pPr algn="ctr">
              <a:spcBef>
                <a:spcPct val="50000"/>
              </a:spcBef>
            </a:pPr>
            <a:endParaRPr lang="en-US" sz="1800" dirty="0">
              <a:solidFill>
                <a:srgbClr val="CC0000"/>
              </a:solidFill>
            </a:endParaRPr>
          </a:p>
        </p:txBody>
      </p:sp>
      <p:sp>
        <p:nvSpPr>
          <p:cNvPr id="14346" name="Line 10"/>
          <p:cNvSpPr>
            <a:spLocks noChangeShapeType="1"/>
          </p:cNvSpPr>
          <p:nvPr/>
        </p:nvSpPr>
        <p:spPr bwMode="auto">
          <a:xfrm>
            <a:off x="1524000" y="5486400"/>
            <a:ext cx="5791200" cy="0"/>
          </a:xfrm>
          <a:prstGeom prst="line">
            <a:avLst/>
          </a:prstGeom>
          <a:noFill/>
          <a:ln w="9525">
            <a:solidFill>
              <a:schemeClr val="tx1"/>
            </a:solidFill>
            <a:round/>
            <a:headEnd/>
            <a:tailEnd/>
          </a:ln>
          <a:effectLst/>
        </p:spPr>
        <p:txBody>
          <a:bodyPr/>
          <a:lstStyle/>
          <a:p>
            <a:endParaRPr lang="en-US"/>
          </a:p>
        </p:txBody>
      </p:sp>
      <p:sp>
        <p:nvSpPr>
          <p:cNvPr id="14347" name="Line 11"/>
          <p:cNvSpPr>
            <a:spLocks noChangeShapeType="1"/>
          </p:cNvSpPr>
          <p:nvPr/>
        </p:nvSpPr>
        <p:spPr bwMode="auto">
          <a:xfrm flipV="1">
            <a:off x="1524000" y="4953000"/>
            <a:ext cx="0" cy="533400"/>
          </a:xfrm>
          <a:prstGeom prst="line">
            <a:avLst/>
          </a:prstGeom>
          <a:noFill/>
          <a:ln w="9525">
            <a:solidFill>
              <a:schemeClr val="tx1"/>
            </a:solidFill>
            <a:round/>
            <a:headEnd/>
            <a:tailEnd type="triangle" w="med" len="med"/>
          </a:ln>
          <a:effectLst/>
        </p:spPr>
        <p:txBody>
          <a:bodyPr/>
          <a:lstStyle/>
          <a:p>
            <a:endParaRPr lang="en-US"/>
          </a:p>
        </p:txBody>
      </p:sp>
      <p:sp>
        <p:nvSpPr>
          <p:cNvPr id="14348" name="Line 12"/>
          <p:cNvSpPr>
            <a:spLocks noChangeShapeType="1"/>
          </p:cNvSpPr>
          <p:nvPr/>
        </p:nvSpPr>
        <p:spPr bwMode="auto">
          <a:xfrm flipV="1">
            <a:off x="7315200" y="4953000"/>
            <a:ext cx="0" cy="533400"/>
          </a:xfrm>
          <a:prstGeom prst="line">
            <a:avLst/>
          </a:prstGeom>
          <a:noFill/>
          <a:ln w="9525">
            <a:solidFill>
              <a:schemeClr val="tx1"/>
            </a:solidFill>
            <a:round/>
            <a:headEnd/>
            <a:tailEnd type="triangle" w="med" len="med"/>
          </a:ln>
          <a:effectLst/>
        </p:spPr>
        <p:txBody>
          <a:bodyPr/>
          <a:lstStyle/>
          <a:p>
            <a:endParaRPr lang="en-US"/>
          </a:p>
        </p:txBody>
      </p:sp>
      <p:sp>
        <p:nvSpPr>
          <p:cNvPr id="14349" name="Text Box 13"/>
          <p:cNvSpPr txBox="1">
            <a:spLocks noChangeArrowheads="1"/>
          </p:cNvSpPr>
          <p:nvPr/>
        </p:nvSpPr>
        <p:spPr bwMode="auto">
          <a:xfrm>
            <a:off x="3886200" y="5562600"/>
            <a:ext cx="1752600" cy="457200"/>
          </a:xfrm>
          <a:prstGeom prst="rect">
            <a:avLst/>
          </a:prstGeom>
          <a:noFill/>
          <a:ln w="9525">
            <a:noFill/>
            <a:miter lim="800000"/>
            <a:headEnd/>
            <a:tailEnd/>
          </a:ln>
          <a:effectLst/>
        </p:spPr>
        <p:txBody>
          <a:bodyPr>
            <a:spAutoFit/>
          </a:bodyPr>
          <a:lstStyle/>
          <a:p>
            <a:pPr>
              <a:spcBef>
                <a:spcPct val="50000"/>
              </a:spcBef>
            </a:pPr>
            <a:r>
              <a:rPr lang="en-US"/>
              <a:t>SCIENCE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1143000" y="685800"/>
            <a:ext cx="7010400" cy="641350"/>
          </a:xfrm>
          <a:prstGeom prst="rect">
            <a:avLst/>
          </a:prstGeom>
          <a:noFill/>
          <a:ln w="9525">
            <a:noFill/>
            <a:miter lim="800000"/>
            <a:headEnd/>
            <a:tailEnd/>
          </a:ln>
          <a:effectLst/>
        </p:spPr>
        <p:txBody>
          <a:bodyPr>
            <a:spAutoFit/>
          </a:bodyPr>
          <a:lstStyle/>
          <a:p>
            <a:pPr algn="ctr">
              <a:spcBef>
                <a:spcPct val="50000"/>
              </a:spcBef>
            </a:pPr>
            <a:r>
              <a:rPr lang="en-US" sz="3600" b="1"/>
              <a:t>SCIENTIFIC THEORY</a:t>
            </a:r>
          </a:p>
        </p:txBody>
      </p:sp>
      <p:sp>
        <p:nvSpPr>
          <p:cNvPr id="15363" name="Text Box 3"/>
          <p:cNvSpPr txBox="1">
            <a:spLocks noChangeArrowheads="1"/>
          </p:cNvSpPr>
          <p:nvPr/>
        </p:nvSpPr>
        <p:spPr bwMode="auto">
          <a:xfrm>
            <a:off x="685800" y="1752600"/>
            <a:ext cx="8229600" cy="3925888"/>
          </a:xfrm>
          <a:prstGeom prst="rect">
            <a:avLst/>
          </a:prstGeom>
          <a:noFill/>
          <a:ln w="9525">
            <a:noFill/>
            <a:miter lim="800000"/>
            <a:headEnd/>
            <a:tailEnd/>
          </a:ln>
          <a:effectLst/>
        </p:spPr>
        <p:txBody>
          <a:bodyPr>
            <a:spAutoFit/>
          </a:bodyPr>
          <a:lstStyle/>
          <a:p>
            <a:pPr algn="just">
              <a:spcBef>
                <a:spcPct val="50000"/>
              </a:spcBef>
            </a:pPr>
            <a:r>
              <a:rPr lang="en-US"/>
              <a:t>The outcome of fundamental science is Scientific Theory.</a:t>
            </a:r>
          </a:p>
          <a:p>
            <a:pPr algn="just">
              <a:spcBef>
                <a:spcPct val="50000"/>
              </a:spcBef>
            </a:pPr>
            <a:r>
              <a:rPr lang="en-US"/>
              <a:t>Scientific Theory is a model of reality.</a:t>
            </a:r>
          </a:p>
          <a:p>
            <a:pPr algn="just">
              <a:spcBef>
                <a:spcPct val="50000"/>
              </a:spcBef>
            </a:pPr>
            <a:r>
              <a:rPr lang="en-US"/>
              <a:t>A model IS NOT reality but only REPRESENTS it.</a:t>
            </a:r>
          </a:p>
          <a:p>
            <a:pPr algn="just">
              <a:spcBef>
                <a:spcPct val="50000"/>
              </a:spcBef>
            </a:pPr>
            <a:endParaRPr lang="en-US"/>
          </a:p>
          <a:p>
            <a:pPr algn="ctr">
              <a:spcBef>
                <a:spcPct val="50000"/>
              </a:spcBef>
            </a:pPr>
            <a:r>
              <a:rPr lang="en-US">
                <a:solidFill>
                  <a:srgbClr val="CC0000"/>
                </a:solidFill>
              </a:rPr>
              <a:t>Therefore </a:t>
            </a:r>
          </a:p>
          <a:p>
            <a:pPr algn="just">
              <a:spcBef>
                <a:spcPct val="50000"/>
              </a:spcBef>
            </a:pPr>
            <a:r>
              <a:rPr lang="en-US"/>
              <a:t>A theory is a formalized set of concepts that organizes observations and inferences and predicts and explains phenomena.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1143000" y="685800"/>
            <a:ext cx="7010400" cy="641350"/>
          </a:xfrm>
          <a:prstGeom prst="rect">
            <a:avLst/>
          </a:prstGeom>
          <a:noFill/>
          <a:ln w="9525">
            <a:noFill/>
            <a:miter lim="800000"/>
            <a:headEnd/>
            <a:tailEnd/>
          </a:ln>
          <a:effectLst/>
        </p:spPr>
        <p:txBody>
          <a:bodyPr>
            <a:spAutoFit/>
          </a:bodyPr>
          <a:lstStyle/>
          <a:p>
            <a:pPr algn="ctr">
              <a:spcBef>
                <a:spcPct val="50000"/>
              </a:spcBef>
            </a:pPr>
            <a:r>
              <a:rPr lang="en-US" sz="3600" b="1" dirty="0"/>
              <a:t>DEDUCTION-INDUCTION</a:t>
            </a:r>
          </a:p>
        </p:txBody>
      </p:sp>
      <p:sp>
        <p:nvSpPr>
          <p:cNvPr id="16388" name="Text Box 4"/>
          <p:cNvSpPr txBox="1">
            <a:spLocks noChangeArrowheads="1"/>
          </p:cNvSpPr>
          <p:nvPr/>
        </p:nvSpPr>
        <p:spPr bwMode="auto">
          <a:xfrm>
            <a:off x="685800" y="1371600"/>
            <a:ext cx="7543800" cy="4154984"/>
          </a:xfrm>
          <a:prstGeom prst="rect">
            <a:avLst/>
          </a:prstGeom>
          <a:noFill/>
          <a:ln w="9525">
            <a:noFill/>
            <a:miter lim="800000"/>
            <a:headEnd/>
            <a:tailEnd/>
          </a:ln>
          <a:effectLst/>
        </p:spPr>
        <p:txBody>
          <a:bodyPr>
            <a:spAutoFit/>
          </a:bodyPr>
          <a:lstStyle/>
          <a:p>
            <a:pPr>
              <a:spcBef>
                <a:spcPct val="50000"/>
              </a:spcBef>
            </a:pPr>
            <a:r>
              <a:rPr lang="en-US" dirty="0"/>
              <a:t>Deduction</a:t>
            </a:r>
          </a:p>
          <a:p>
            <a:pPr>
              <a:spcBef>
                <a:spcPct val="50000"/>
              </a:spcBef>
            </a:pPr>
            <a:r>
              <a:rPr lang="en-US" dirty="0"/>
              <a:t>Deduction is the using of general facts to rationally arrive at a more specific conclusion (General to the specific):</a:t>
            </a:r>
          </a:p>
          <a:p>
            <a:pPr algn="ctr">
              <a:spcBef>
                <a:spcPct val="50000"/>
              </a:spcBef>
            </a:pPr>
            <a:r>
              <a:rPr lang="en-US" dirty="0">
                <a:solidFill>
                  <a:srgbClr val="CC0000"/>
                </a:solidFill>
              </a:rPr>
              <a:t>Contrast</a:t>
            </a:r>
          </a:p>
          <a:p>
            <a:pPr>
              <a:spcBef>
                <a:spcPct val="50000"/>
              </a:spcBef>
            </a:pPr>
            <a:r>
              <a:rPr lang="en-US" dirty="0"/>
              <a:t>All ravens (Crow) are black,		All ravens are black,</a:t>
            </a:r>
          </a:p>
          <a:p>
            <a:pPr>
              <a:spcBef>
                <a:spcPct val="50000"/>
              </a:spcBef>
            </a:pPr>
            <a:r>
              <a:rPr lang="en-US" dirty="0"/>
              <a:t>Molly is a raven,			My laptop is black,</a:t>
            </a:r>
          </a:p>
          <a:p>
            <a:pPr>
              <a:spcBef>
                <a:spcPct val="50000"/>
              </a:spcBef>
            </a:pPr>
            <a:r>
              <a:rPr lang="en-US" dirty="0"/>
              <a:t>therefore				</a:t>
            </a:r>
            <a:r>
              <a:rPr lang="en-US" dirty="0" err="1"/>
              <a:t>therefore</a:t>
            </a:r>
            <a:endParaRPr lang="en-US" dirty="0"/>
          </a:p>
          <a:p>
            <a:pPr>
              <a:spcBef>
                <a:spcPct val="50000"/>
              </a:spcBef>
            </a:pPr>
            <a:r>
              <a:rPr lang="en-US" dirty="0"/>
              <a:t>Molly is black				My laptop is a raven</a:t>
            </a:r>
          </a:p>
        </p:txBody>
      </p:sp>
      <p:sp>
        <p:nvSpPr>
          <p:cNvPr id="16389" name="Rectangle 5"/>
          <p:cNvSpPr>
            <a:spLocks noChangeArrowheads="1"/>
          </p:cNvSpPr>
          <p:nvPr/>
        </p:nvSpPr>
        <p:spPr bwMode="auto">
          <a:xfrm>
            <a:off x="685800" y="5562600"/>
            <a:ext cx="7599363" cy="457200"/>
          </a:xfrm>
          <a:prstGeom prst="rect">
            <a:avLst/>
          </a:prstGeom>
          <a:noFill/>
          <a:ln w="9525">
            <a:noFill/>
            <a:miter lim="800000"/>
            <a:headEnd/>
            <a:tailEnd/>
          </a:ln>
          <a:effectLst/>
        </p:spPr>
        <p:txBody>
          <a:bodyPr wrap="none">
            <a:spAutoFit/>
          </a:bodyPr>
          <a:lstStyle/>
          <a:p>
            <a:r>
              <a:rPr lang="en-US"/>
              <a:t>I am a nobody, and nobody is perfect; therefore I am perfect.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3"/>
          <p:cNvSpPr txBox="1">
            <a:spLocks noChangeArrowheads="1"/>
          </p:cNvSpPr>
          <p:nvPr/>
        </p:nvSpPr>
        <p:spPr bwMode="auto">
          <a:xfrm>
            <a:off x="1143000" y="685800"/>
            <a:ext cx="7010400" cy="641350"/>
          </a:xfrm>
          <a:prstGeom prst="rect">
            <a:avLst/>
          </a:prstGeom>
          <a:noFill/>
          <a:ln w="9525">
            <a:noFill/>
            <a:miter lim="800000"/>
            <a:headEnd/>
            <a:tailEnd/>
          </a:ln>
          <a:effectLst/>
        </p:spPr>
        <p:txBody>
          <a:bodyPr>
            <a:spAutoFit/>
          </a:bodyPr>
          <a:lstStyle/>
          <a:p>
            <a:pPr algn="ctr">
              <a:spcBef>
                <a:spcPct val="50000"/>
              </a:spcBef>
            </a:pPr>
            <a:r>
              <a:rPr lang="en-US" sz="3600" b="1"/>
              <a:t>DEDUCTION-INDUCTION</a:t>
            </a:r>
          </a:p>
        </p:txBody>
      </p:sp>
      <p:sp>
        <p:nvSpPr>
          <p:cNvPr id="17412" name="Text Box 4"/>
          <p:cNvSpPr txBox="1">
            <a:spLocks noChangeArrowheads="1"/>
          </p:cNvSpPr>
          <p:nvPr/>
        </p:nvSpPr>
        <p:spPr bwMode="auto">
          <a:xfrm>
            <a:off x="381000" y="1295400"/>
            <a:ext cx="8001000" cy="4838700"/>
          </a:xfrm>
          <a:prstGeom prst="rect">
            <a:avLst/>
          </a:prstGeom>
          <a:noFill/>
          <a:ln w="9525">
            <a:noFill/>
            <a:miter lim="800000"/>
            <a:headEnd/>
            <a:tailEnd/>
          </a:ln>
          <a:effectLst/>
        </p:spPr>
        <p:txBody>
          <a:bodyPr>
            <a:spAutoFit/>
          </a:bodyPr>
          <a:lstStyle/>
          <a:p>
            <a:pPr>
              <a:spcBef>
                <a:spcPct val="50000"/>
              </a:spcBef>
            </a:pPr>
            <a:r>
              <a:rPr lang="en-US" dirty="0"/>
              <a:t>Induction:</a:t>
            </a:r>
          </a:p>
          <a:p>
            <a:pPr>
              <a:spcBef>
                <a:spcPct val="50000"/>
              </a:spcBef>
            </a:pPr>
            <a:r>
              <a:rPr lang="en-US" dirty="0"/>
              <a:t>Induction moves from the specific to the general.</a:t>
            </a:r>
          </a:p>
          <a:p>
            <a:pPr algn="ctr">
              <a:spcBef>
                <a:spcPct val="50000"/>
              </a:spcBef>
            </a:pPr>
            <a:r>
              <a:rPr lang="en-US" dirty="0"/>
              <a:t>Cat A has a tail,</a:t>
            </a:r>
          </a:p>
          <a:p>
            <a:pPr algn="ctr">
              <a:spcBef>
                <a:spcPct val="50000"/>
              </a:spcBef>
            </a:pPr>
            <a:r>
              <a:rPr lang="en-US" dirty="0"/>
              <a:t>Cat B has a tail,</a:t>
            </a:r>
          </a:p>
          <a:p>
            <a:pPr algn="ctr">
              <a:spcBef>
                <a:spcPct val="50000"/>
              </a:spcBef>
            </a:pPr>
            <a:r>
              <a:rPr lang="en-US" dirty="0"/>
              <a:t>Cat C has a tail,</a:t>
            </a:r>
          </a:p>
          <a:p>
            <a:pPr algn="ctr">
              <a:spcBef>
                <a:spcPct val="50000"/>
              </a:spcBef>
            </a:pPr>
            <a:r>
              <a:rPr lang="en-US" dirty="0"/>
              <a:t>Cat D has a tail,</a:t>
            </a:r>
          </a:p>
          <a:p>
            <a:pPr algn="ctr">
              <a:spcBef>
                <a:spcPct val="50000"/>
              </a:spcBef>
            </a:pPr>
            <a:r>
              <a:rPr lang="en-US" dirty="0"/>
              <a:t>::::::::::::::::::::::</a:t>
            </a:r>
          </a:p>
          <a:p>
            <a:pPr algn="ctr">
              <a:spcBef>
                <a:spcPct val="50000"/>
              </a:spcBef>
            </a:pPr>
            <a:r>
              <a:rPr lang="en-US" dirty="0"/>
              <a:t>therefore</a:t>
            </a:r>
          </a:p>
          <a:p>
            <a:pPr algn="ctr">
              <a:spcBef>
                <a:spcPct val="50000"/>
              </a:spcBef>
            </a:pPr>
            <a:r>
              <a:rPr lang="en-US" dirty="0"/>
              <a:t>All cats have tails.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4"/>
          <p:cNvSpPr>
            <a:spLocks noChangeArrowheads="1"/>
          </p:cNvSpPr>
          <p:nvPr/>
        </p:nvSpPr>
        <p:spPr bwMode="auto">
          <a:xfrm>
            <a:off x="609600" y="3352800"/>
            <a:ext cx="8077200" cy="1600200"/>
          </a:xfrm>
          <a:prstGeom prst="rect">
            <a:avLst/>
          </a:prstGeom>
          <a:solidFill>
            <a:schemeClr val="hlink"/>
          </a:solidFill>
          <a:ln w="9525">
            <a:solidFill>
              <a:schemeClr val="tx1"/>
            </a:solidFill>
            <a:miter lim="800000"/>
            <a:headEnd/>
            <a:tailEnd/>
          </a:ln>
          <a:effectLst/>
        </p:spPr>
        <p:txBody>
          <a:bodyPr wrap="none" anchor="ctr"/>
          <a:lstStyle/>
          <a:p>
            <a:endParaRPr lang="en-US"/>
          </a:p>
        </p:txBody>
      </p:sp>
      <p:sp>
        <p:nvSpPr>
          <p:cNvPr id="18434" name="Text Box 2"/>
          <p:cNvSpPr txBox="1">
            <a:spLocks noChangeArrowheads="1"/>
          </p:cNvSpPr>
          <p:nvPr/>
        </p:nvSpPr>
        <p:spPr bwMode="auto">
          <a:xfrm>
            <a:off x="1143000" y="685800"/>
            <a:ext cx="7010400" cy="641350"/>
          </a:xfrm>
          <a:prstGeom prst="rect">
            <a:avLst/>
          </a:prstGeom>
          <a:noFill/>
          <a:ln w="9525">
            <a:noFill/>
            <a:miter lim="800000"/>
            <a:headEnd/>
            <a:tailEnd/>
          </a:ln>
          <a:effectLst/>
        </p:spPr>
        <p:txBody>
          <a:bodyPr>
            <a:spAutoFit/>
          </a:bodyPr>
          <a:lstStyle/>
          <a:p>
            <a:pPr algn="ctr">
              <a:spcBef>
                <a:spcPct val="50000"/>
              </a:spcBef>
            </a:pPr>
            <a:r>
              <a:rPr lang="en-US" sz="3600" b="1"/>
              <a:t>DEDUCTION-INDUCTION</a:t>
            </a:r>
          </a:p>
        </p:txBody>
      </p:sp>
      <p:sp>
        <p:nvSpPr>
          <p:cNvPr id="18435" name="Text Box 3"/>
          <p:cNvSpPr txBox="1">
            <a:spLocks noChangeArrowheads="1"/>
          </p:cNvSpPr>
          <p:nvPr/>
        </p:nvSpPr>
        <p:spPr bwMode="auto">
          <a:xfrm>
            <a:off x="609600" y="1828800"/>
            <a:ext cx="7924800" cy="3013075"/>
          </a:xfrm>
          <a:prstGeom prst="rect">
            <a:avLst/>
          </a:prstGeom>
          <a:noFill/>
          <a:ln w="9525">
            <a:noFill/>
            <a:miter lim="800000"/>
            <a:headEnd/>
            <a:tailEnd/>
          </a:ln>
          <a:effectLst/>
        </p:spPr>
        <p:txBody>
          <a:bodyPr>
            <a:spAutoFit/>
          </a:bodyPr>
          <a:lstStyle/>
          <a:p>
            <a:pPr>
              <a:spcBef>
                <a:spcPct val="50000"/>
              </a:spcBef>
            </a:pPr>
            <a:r>
              <a:rPr lang="en-US" dirty="0"/>
              <a:t>Deductive reasoning usually EXPLAINS.</a:t>
            </a:r>
          </a:p>
          <a:p>
            <a:pPr>
              <a:spcBef>
                <a:spcPct val="50000"/>
              </a:spcBef>
            </a:pPr>
            <a:r>
              <a:rPr lang="en-US" dirty="0"/>
              <a:t>Inductive reasoning usually PREDICTS.</a:t>
            </a:r>
          </a:p>
          <a:p>
            <a:pPr>
              <a:spcBef>
                <a:spcPct val="50000"/>
              </a:spcBef>
            </a:pPr>
            <a:endParaRPr lang="en-US" dirty="0"/>
          </a:p>
          <a:p>
            <a:pPr algn="ctr">
              <a:spcBef>
                <a:spcPct val="50000"/>
              </a:spcBef>
            </a:pPr>
            <a:r>
              <a:rPr lang="en-US" dirty="0"/>
              <a:t>Science is </a:t>
            </a:r>
            <a:r>
              <a:rPr lang="en-US" dirty="0" err="1"/>
              <a:t>deducto</a:t>
            </a:r>
            <a:r>
              <a:rPr lang="en-US" dirty="0"/>
              <a:t>-inductive.</a:t>
            </a:r>
          </a:p>
          <a:p>
            <a:pPr algn="ctr">
              <a:spcBef>
                <a:spcPct val="50000"/>
              </a:spcBef>
            </a:pPr>
            <a:r>
              <a:rPr lang="en-US" dirty="0"/>
              <a:t>The premises are inductively validated and the conclusion is deductively reached.</a:t>
            </a:r>
          </a:p>
        </p:txBody>
      </p:sp>
      <p:sp>
        <p:nvSpPr>
          <p:cNvPr id="18437" name="Text Box 5"/>
          <p:cNvSpPr txBox="1">
            <a:spLocks noChangeArrowheads="1"/>
          </p:cNvSpPr>
          <p:nvPr/>
        </p:nvSpPr>
        <p:spPr bwMode="auto">
          <a:xfrm>
            <a:off x="533400" y="5334000"/>
            <a:ext cx="8077200" cy="457200"/>
          </a:xfrm>
          <a:prstGeom prst="rect">
            <a:avLst/>
          </a:prstGeom>
          <a:noFill/>
          <a:ln w="9525">
            <a:noFill/>
            <a:miter lim="800000"/>
            <a:headEnd/>
            <a:tailEnd/>
          </a:ln>
          <a:effectLst/>
        </p:spPr>
        <p:txBody>
          <a:bodyPr>
            <a:spAutoFit/>
          </a:bodyPr>
          <a:lstStyle/>
          <a:p>
            <a:pPr algn="ctr">
              <a:spcBef>
                <a:spcPct val="50000"/>
              </a:spcBef>
            </a:pPr>
            <a:r>
              <a:rPr lang="en-US"/>
              <a:t>The deducto-inductive approach is also called functionalism.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4"/>
          <p:cNvSpPr>
            <a:spLocks noChangeArrowheads="1"/>
          </p:cNvSpPr>
          <p:nvPr/>
        </p:nvSpPr>
        <p:spPr bwMode="auto">
          <a:xfrm>
            <a:off x="533400" y="4572000"/>
            <a:ext cx="8229600" cy="1447800"/>
          </a:xfrm>
          <a:prstGeom prst="rect">
            <a:avLst/>
          </a:prstGeom>
          <a:solidFill>
            <a:schemeClr val="hlink"/>
          </a:solidFill>
          <a:ln w="9525">
            <a:solidFill>
              <a:schemeClr val="tx1"/>
            </a:solidFill>
            <a:miter lim="800000"/>
            <a:headEnd/>
            <a:tailEnd/>
          </a:ln>
          <a:effectLst/>
        </p:spPr>
        <p:txBody>
          <a:bodyPr wrap="none" anchor="ctr"/>
          <a:lstStyle/>
          <a:p>
            <a:endParaRPr lang="en-US"/>
          </a:p>
        </p:txBody>
      </p:sp>
      <p:sp>
        <p:nvSpPr>
          <p:cNvPr id="19458" name="Text Box 2"/>
          <p:cNvSpPr txBox="1">
            <a:spLocks noChangeArrowheads="1"/>
          </p:cNvSpPr>
          <p:nvPr/>
        </p:nvSpPr>
        <p:spPr bwMode="auto">
          <a:xfrm>
            <a:off x="1143000" y="685800"/>
            <a:ext cx="7010400" cy="641350"/>
          </a:xfrm>
          <a:prstGeom prst="rect">
            <a:avLst/>
          </a:prstGeom>
          <a:noFill/>
          <a:ln w="9525">
            <a:noFill/>
            <a:miter lim="800000"/>
            <a:headEnd/>
            <a:tailEnd/>
          </a:ln>
          <a:effectLst/>
        </p:spPr>
        <p:txBody>
          <a:bodyPr>
            <a:spAutoFit/>
          </a:bodyPr>
          <a:lstStyle/>
          <a:p>
            <a:pPr algn="ctr">
              <a:spcBef>
                <a:spcPct val="50000"/>
              </a:spcBef>
            </a:pPr>
            <a:r>
              <a:rPr lang="en-US" sz="3600" b="1"/>
              <a:t>LEVELS OF CONSTRAINT</a:t>
            </a:r>
          </a:p>
        </p:txBody>
      </p:sp>
      <p:sp>
        <p:nvSpPr>
          <p:cNvPr id="19459" name="Text Box 3"/>
          <p:cNvSpPr txBox="1">
            <a:spLocks noChangeArrowheads="1"/>
          </p:cNvSpPr>
          <p:nvPr/>
        </p:nvSpPr>
        <p:spPr bwMode="auto">
          <a:xfrm>
            <a:off x="533400" y="1676400"/>
            <a:ext cx="8001000" cy="4108450"/>
          </a:xfrm>
          <a:prstGeom prst="rect">
            <a:avLst/>
          </a:prstGeom>
          <a:noFill/>
          <a:ln w="9525">
            <a:noFill/>
            <a:miter lim="800000"/>
            <a:headEnd/>
            <a:tailEnd/>
          </a:ln>
          <a:effectLst/>
        </p:spPr>
        <p:txBody>
          <a:bodyPr>
            <a:spAutoFit/>
          </a:bodyPr>
          <a:lstStyle/>
          <a:p>
            <a:pPr algn="just">
              <a:spcBef>
                <a:spcPct val="50000"/>
              </a:spcBef>
            </a:pPr>
            <a:r>
              <a:rPr lang="en-US"/>
              <a:t>Not all science puts the same constraints on the researcher. Some approaches place little demand on the adequacy of the information and the nature of the processing of that information, some place high demands. Therefore within science, there is a scale of scientific methods; some more demanding and exact than other.</a:t>
            </a:r>
          </a:p>
          <a:p>
            <a:pPr algn="just">
              <a:spcBef>
                <a:spcPct val="50000"/>
              </a:spcBef>
            </a:pPr>
            <a:endParaRPr lang="en-US"/>
          </a:p>
          <a:p>
            <a:pPr algn="just">
              <a:spcBef>
                <a:spcPct val="50000"/>
              </a:spcBef>
            </a:pPr>
            <a:r>
              <a:rPr lang="en-US"/>
              <a:t>Remember however that they </a:t>
            </a:r>
            <a:r>
              <a:rPr lang="en-US">
                <a:solidFill>
                  <a:srgbClr val="CC0000"/>
                </a:solidFill>
              </a:rPr>
              <a:t>ALL</a:t>
            </a:r>
            <a:r>
              <a:rPr lang="en-US"/>
              <a:t> are scientific and they </a:t>
            </a:r>
            <a:r>
              <a:rPr lang="en-US">
                <a:solidFill>
                  <a:srgbClr val="CC0000"/>
                </a:solidFill>
              </a:rPr>
              <a:t>ALL</a:t>
            </a:r>
            <a:r>
              <a:rPr lang="en-US"/>
              <a:t> are useful. Just that each is appropriate for a particular set of circumstances.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ext Box 3"/>
          <p:cNvSpPr txBox="1">
            <a:spLocks noChangeArrowheads="1"/>
          </p:cNvSpPr>
          <p:nvPr/>
        </p:nvSpPr>
        <p:spPr bwMode="auto">
          <a:xfrm>
            <a:off x="1143000" y="685800"/>
            <a:ext cx="7010400" cy="641350"/>
          </a:xfrm>
          <a:prstGeom prst="rect">
            <a:avLst/>
          </a:prstGeom>
          <a:noFill/>
          <a:ln w="9525">
            <a:noFill/>
            <a:miter lim="800000"/>
            <a:headEnd/>
            <a:tailEnd/>
          </a:ln>
          <a:effectLst/>
        </p:spPr>
        <p:txBody>
          <a:bodyPr>
            <a:spAutoFit/>
          </a:bodyPr>
          <a:lstStyle/>
          <a:p>
            <a:pPr algn="ctr">
              <a:spcBef>
                <a:spcPct val="50000"/>
              </a:spcBef>
            </a:pPr>
            <a:r>
              <a:rPr lang="en-US" sz="3600" b="1"/>
              <a:t>LEVELS OF CONSTRAINT</a:t>
            </a:r>
          </a:p>
        </p:txBody>
      </p:sp>
      <p:sp>
        <p:nvSpPr>
          <p:cNvPr id="20484" name="Text Box 4"/>
          <p:cNvSpPr txBox="1">
            <a:spLocks noChangeArrowheads="1"/>
          </p:cNvSpPr>
          <p:nvPr/>
        </p:nvSpPr>
        <p:spPr bwMode="auto">
          <a:xfrm>
            <a:off x="381000" y="1447800"/>
            <a:ext cx="8382000" cy="457200"/>
          </a:xfrm>
          <a:prstGeom prst="rect">
            <a:avLst/>
          </a:prstGeom>
          <a:noFill/>
          <a:ln w="9525">
            <a:noFill/>
            <a:miter lim="800000"/>
            <a:headEnd/>
            <a:tailEnd/>
          </a:ln>
          <a:effectLst/>
        </p:spPr>
        <p:txBody>
          <a:bodyPr>
            <a:spAutoFit/>
          </a:bodyPr>
          <a:lstStyle/>
          <a:p>
            <a:pPr>
              <a:spcBef>
                <a:spcPct val="50000"/>
              </a:spcBef>
            </a:pPr>
            <a:r>
              <a:rPr lang="en-US"/>
              <a:t>The levels of constraint on scientific research are:</a:t>
            </a:r>
          </a:p>
        </p:txBody>
      </p:sp>
      <p:sp>
        <p:nvSpPr>
          <p:cNvPr id="20485" name="Text Box 5"/>
          <p:cNvSpPr txBox="1">
            <a:spLocks noChangeArrowheads="1"/>
          </p:cNvSpPr>
          <p:nvPr/>
        </p:nvSpPr>
        <p:spPr bwMode="auto">
          <a:xfrm>
            <a:off x="1371600" y="2209800"/>
            <a:ext cx="6705600" cy="2647950"/>
          </a:xfrm>
          <a:prstGeom prst="rect">
            <a:avLst/>
          </a:prstGeom>
          <a:noFill/>
          <a:ln w="9525">
            <a:noFill/>
            <a:miter lim="800000"/>
            <a:headEnd/>
            <a:tailEnd/>
          </a:ln>
          <a:effectLst/>
        </p:spPr>
        <p:txBody>
          <a:bodyPr>
            <a:spAutoFit/>
          </a:bodyPr>
          <a:lstStyle/>
          <a:p>
            <a:pPr marL="457200" indent="-457200">
              <a:spcBef>
                <a:spcPct val="50000"/>
              </a:spcBef>
              <a:buFontTx/>
              <a:buAutoNum type="arabicPeriod"/>
            </a:pPr>
            <a:r>
              <a:rPr lang="en-US">
                <a:solidFill>
                  <a:srgbClr val="CC0000"/>
                </a:solidFill>
              </a:rPr>
              <a:t>Naturalistic observation</a:t>
            </a:r>
          </a:p>
          <a:p>
            <a:pPr marL="457200" indent="-457200">
              <a:spcBef>
                <a:spcPct val="50000"/>
              </a:spcBef>
              <a:buFontTx/>
              <a:buAutoNum type="arabicPeriod"/>
            </a:pPr>
            <a:r>
              <a:rPr lang="en-US">
                <a:solidFill>
                  <a:srgbClr val="FF9933"/>
                </a:solidFill>
              </a:rPr>
              <a:t>Case-study method</a:t>
            </a:r>
          </a:p>
          <a:p>
            <a:pPr marL="457200" indent="-457200">
              <a:spcBef>
                <a:spcPct val="50000"/>
              </a:spcBef>
              <a:buFontTx/>
              <a:buAutoNum type="arabicPeriod"/>
            </a:pPr>
            <a:r>
              <a:rPr lang="en-US">
                <a:solidFill>
                  <a:srgbClr val="C9AE6B"/>
                </a:solidFill>
              </a:rPr>
              <a:t>Correlational research</a:t>
            </a:r>
          </a:p>
          <a:p>
            <a:pPr marL="457200" indent="-457200">
              <a:spcBef>
                <a:spcPct val="50000"/>
              </a:spcBef>
              <a:buFontTx/>
              <a:buAutoNum type="arabicPeriod"/>
            </a:pPr>
            <a:r>
              <a:rPr lang="en-US">
                <a:solidFill>
                  <a:srgbClr val="66FF33"/>
                </a:solidFill>
              </a:rPr>
              <a:t>Differential research</a:t>
            </a:r>
          </a:p>
          <a:p>
            <a:pPr marL="457200" indent="-457200">
              <a:spcBef>
                <a:spcPct val="50000"/>
              </a:spcBef>
              <a:buFontTx/>
              <a:buAutoNum type="arabicPeriod"/>
            </a:pPr>
            <a:r>
              <a:rPr lang="en-US">
                <a:solidFill>
                  <a:schemeClr val="accent2"/>
                </a:solidFill>
              </a:rPr>
              <a:t>Experimental research</a:t>
            </a:r>
          </a:p>
        </p:txBody>
      </p:sp>
      <p:sp>
        <p:nvSpPr>
          <p:cNvPr id="20486" name="Text Box 6"/>
          <p:cNvSpPr txBox="1">
            <a:spLocks noChangeArrowheads="1"/>
          </p:cNvSpPr>
          <p:nvPr/>
        </p:nvSpPr>
        <p:spPr bwMode="auto">
          <a:xfrm>
            <a:off x="533400" y="5486400"/>
            <a:ext cx="8458200" cy="457200"/>
          </a:xfrm>
          <a:prstGeom prst="rect">
            <a:avLst/>
          </a:prstGeom>
          <a:noFill/>
          <a:ln w="9525">
            <a:noFill/>
            <a:miter lim="800000"/>
            <a:headEnd/>
            <a:tailEnd/>
          </a:ln>
          <a:effectLst/>
        </p:spPr>
        <p:txBody>
          <a:bodyPr>
            <a:spAutoFit/>
          </a:bodyPr>
          <a:lstStyle/>
          <a:p>
            <a:pPr>
              <a:spcBef>
                <a:spcPct val="50000"/>
              </a:spcBef>
            </a:pPr>
            <a:r>
              <a:rPr lang="en-US"/>
              <a:t>This spans a spectrum from qualitative means to quantitative ones.</a:t>
            </a:r>
          </a:p>
        </p:txBody>
      </p:sp>
    </p:spTree>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6344</TotalTime>
  <Words>1042</Words>
  <Application>Microsoft Macintosh PowerPoint</Application>
  <PresentationFormat>On-screen Show (4:3)</PresentationFormat>
  <Paragraphs>146</Paragraphs>
  <Slides>20</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8" baseType="lpstr">
      <vt:lpstr>Arial</vt:lpstr>
      <vt:lpstr>Calibri</vt:lpstr>
      <vt:lpstr>Helvetica</vt:lpstr>
      <vt:lpstr>Symbol</vt:lpstr>
      <vt:lpstr>Times New Roman</vt:lpstr>
      <vt:lpstr>Tms Rmn</vt:lpstr>
      <vt:lpstr>Default Design</vt:lpstr>
      <vt:lpstr>Packager Shell Object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rennsealaer at hartford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Houman</dc:creator>
  <cp:lastModifiedBy>Microsoft Office User</cp:lastModifiedBy>
  <cp:revision>88</cp:revision>
  <dcterms:created xsi:type="dcterms:W3CDTF">2013-01-22T18:18:10Z</dcterms:created>
  <dcterms:modified xsi:type="dcterms:W3CDTF">2020-10-24T05:12:54Z</dcterms:modified>
</cp:coreProperties>
</file>