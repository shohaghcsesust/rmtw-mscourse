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image" Target="../media/image-13-1.png"/><Relationship Id="rId6" Type="http://schemas.openxmlformats.org/officeDocument/2006/relationships/image" Target="../media/image-13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1B2A5B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822960"/>
            <a:ext cx="3291840" cy="3291840"/>
          </a:xfrm>
          <a:prstGeom prst="ellipse">
            <a:avLst/>
          </a:prstGeom>
          <a:solidFill>
            <a:srgbClr val="3E5C8A">
              <a:alpha val="45000"/>
            </a:srgbClr>
          </a:solidFill>
          <a:ln/>
        </p:spPr>
      </p:sp>
      <p:pic>
        <p:nvPicPr>
          <p:cNvPr id="4" name="Image 0" descr="icon_cloud_00C2A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566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RMTW · Final Presentation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214884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Cloud Forensics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306324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PRISMA-Guided Systematic Survey — Complete Overview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40080" y="5806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Ahsan Kabir</a:t>
            </a:r>
            <a:pPr indent="0" marL="0">
              <a:buNone/>
            </a:pPr>
            <a:r>
              <a:rPr lang="en-US" sz="13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ID 0122520016   |   MSCSE, United International University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61447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6093 — Research Methodologies and Technical Writing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cloud forensics needs new answers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66928" cy="566928"/>
          </a:xfrm>
          <a:prstGeom prst="ellipse">
            <a:avLst/>
          </a:prstGeom>
          <a:solidFill>
            <a:srgbClr val="111C42"/>
          </a:solidFill>
          <a:ln/>
        </p:spPr>
      </p:sp>
      <p:pic>
        <p:nvPicPr>
          <p:cNvPr id="5" name="Image 0" descr="icon_cloud_00C2A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81051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3677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physical access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17320" y="2002536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Investigators can't touch the hardware — evidence lives in VMs, containers, logs, and object storage.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788920"/>
            <a:ext cx="566928" cy="566928"/>
          </a:xfrm>
          <a:prstGeom prst="ellipse">
            <a:avLst/>
          </a:prstGeom>
          <a:solidFill>
            <a:srgbClr val="111C42"/>
          </a:solidFill>
          <a:ln/>
        </p:spPr>
      </p:sp>
      <p:pic>
        <p:nvPicPr>
          <p:cNvPr id="9" name="Image 1" descr="icon_gap_00C2A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90779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73405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disappears fast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17320" y="3099816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Multi-tenancy, elasticity, and volatility mean evidence can vanish before it's captured.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886200"/>
            <a:ext cx="566928" cy="566928"/>
          </a:xfrm>
          <a:prstGeom prst="ellipse">
            <a:avLst/>
          </a:prstGeom>
          <a:solidFill>
            <a:srgbClr val="111C42"/>
          </a:solidFill>
          <a:ln/>
        </p:spPr>
      </p:sp>
      <p:pic>
        <p:nvPicPr>
          <p:cNvPr id="13" name="Image 2" descr="icon_gavel_00C2A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005072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83133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complexity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17320" y="4197096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data, conflicting privacy laws, and jurisdictional gaps complicate admissibility.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4983480"/>
            <a:ext cx="566928" cy="566928"/>
          </a:xfrm>
          <a:prstGeom prst="ellipse">
            <a:avLst/>
          </a:prstGeom>
          <a:solidFill>
            <a:srgbClr val="111C42"/>
          </a:solidFill>
          <a:ln/>
        </p:spPr>
      </p:sp>
      <p:pic>
        <p:nvPicPr>
          <p:cNvPr id="17" name="Image 3" descr="icon_question_00C2A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5102352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92861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solutions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417320" y="5294376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blockchain, and automation each help — but no unified view ties them together.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Cloud Forensics — Final Presentation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questions structure the entire survey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A1F3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29384"/>
            <a:ext cx="640080" cy="640080"/>
          </a:xfrm>
          <a:prstGeom prst="ellipse">
            <a:avLst/>
          </a:prstGeom>
          <a:solidFill>
            <a:srgbClr val="111C42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2938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1947672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Acquisition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96112" y="26517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scalable, forensically sound acquisition be achieved across SaaS, PaaS, and IaaS?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69164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A1F36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91072" y="1929384"/>
            <a:ext cx="640080" cy="640080"/>
          </a:xfrm>
          <a:prstGeom prst="ellipse">
            <a:avLst/>
          </a:prstGeom>
          <a:solidFill>
            <a:srgbClr val="111C42"/>
          </a:solidFill>
          <a:ln/>
        </p:spPr>
      </p:sp>
      <p:sp>
        <p:nvSpPr>
          <p:cNvPr id="11" name="Text 9"/>
          <p:cNvSpPr/>
          <p:nvPr/>
        </p:nvSpPr>
        <p:spPr>
          <a:xfrm>
            <a:off x="6291072" y="192938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86600" y="1947672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Provenance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291072" y="26517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mechanisms guarantee integrity, authenticity, and non-repudiation of cloud evidence?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A1F36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4169664"/>
            <a:ext cx="640080" cy="640080"/>
          </a:xfrm>
          <a:prstGeom prst="ellipse">
            <a:avLst/>
          </a:prstGeom>
          <a:solidFill>
            <a:srgbClr val="111C42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16966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91640" y="4187952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 &amp; Law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96112" y="48920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privacy laws and jurisdiction issues affect admissibility of cloud evidence?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393192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A1F36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91072" y="4169664"/>
            <a:ext cx="640080" cy="640080"/>
          </a:xfrm>
          <a:prstGeom prst="ellipse">
            <a:avLst/>
          </a:prstGeom>
          <a:solidFill>
            <a:srgbClr val="111C42"/>
          </a:solidFill>
          <a:ln/>
        </p:spPr>
      </p:sp>
      <p:sp>
        <p:nvSpPr>
          <p:cNvPr id="21" name="Text 19"/>
          <p:cNvSpPr/>
          <p:nvPr/>
        </p:nvSpPr>
        <p:spPr>
          <a:xfrm>
            <a:off x="6291072" y="416966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86600" y="4187952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291072" y="48920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standardized, interoperable frameworks improve cloud forensic investigations?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Cloud Forensics — Final Presentation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PRISMA-guided systematic review — transparent and reproducible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86588" y="233172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1B2A5B"/>
          </a:solidFill>
          <a:ln w="12700">
            <a:solidFill>
              <a:srgbClr val="3E5C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32408" y="2651760"/>
            <a:ext cx="822960" cy="8229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6" name="Image 0" descr="icon_search_111C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6144" y="282549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98268" y="24231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9468" y="36118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15188" y="406908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IEEE, ACM, ScienceDirect, Springer, Google Scholar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101188" y="33375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421228" y="233172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1B2A5B"/>
          </a:solidFill>
          <a:ln w="12700">
            <a:solidFill>
              <a:srgbClr val="3E5C8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67048" y="2651760"/>
            <a:ext cx="822960" cy="8229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3" name="Image 1" descr="icon_filter_111C4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0784" y="2825496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32908" y="24231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604108" y="36118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649828" y="406908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and off-topic works removed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935828" y="33375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6255868" y="233172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1B2A5B"/>
          </a:solidFill>
          <a:ln w="12700">
            <a:solidFill>
              <a:srgbClr val="3E5C8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101688" y="2651760"/>
            <a:ext cx="822960" cy="8229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0" name="Image 2" descr="icon_scale_111C4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424" y="2825496"/>
            <a:ext cx="475488" cy="4754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67548" y="24231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38748" y="36118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484468" y="406908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for methodology, contribution, legal relevance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770468" y="33375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9090508" y="233172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1B2A5B"/>
          </a:solidFill>
          <a:ln w="12700">
            <a:solidFill>
              <a:srgbClr val="3E5C8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936328" y="2651760"/>
            <a:ext cx="822960" cy="8229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7" name="Image 3" descr="icon_check_111C4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0064" y="2825496"/>
            <a:ext cx="475488" cy="47548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102188" y="24231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9273388" y="36118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9319108" y="406908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corpus mapped to RQ1–RQ4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Cloud Forensics — Final Presentation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work clusters into four recurring themes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14600" cy="3657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A1F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2011680"/>
            <a:ext cx="731520" cy="731520"/>
          </a:xfrm>
          <a:prstGeom prst="ellipse">
            <a:avLst/>
          </a:prstGeom>
          <a:solidFill>
            <a:srgbClr val="111C42"/>
          </a:solidFill>
          <a:ln/>
        </p:spPr>
      </p:sp>
      <p:pic>
        <p:nvPicPr>
          <p:cNvPr id="6" name="Image 0" descr="icon_upload_00C2A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7924" y="215798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260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Acquisition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41248" y="3566160"/>
            <a:ext cx="211226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SaaS/PaaS/IaaS visibility gaps; IaaS most mature, SaaS most CSP-dependent.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10712" y="1691640"/>
            <a:ext cx="2514600" cy="3657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A1F36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02252" y="2011680"/>
            <a:ext cx="731520" cy="731520"/>
          </a:xfrm>
          <a:prstGeom prst="ellipse">
            <a:avLst/>
          </a:prstGeom>
          <a:solidFill>
            <a:srgbClr val="111C42"/>
          </a:solidFill>
          <a:ln/>
        </p:spPr>
      </p:sp>
      <p:pic>
        <p:nvPicPr>
          <p:cNvPr id="11" name="Image 1" descr="icon_shield_00C2A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556" y="215798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29260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Trust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11880" y="3566160"/>
            <a:ext cx="211226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provenance, cryptographic hashing, and trusted logging dominate.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81344" y="1691640"/>
            <a:ext cx="2514600" cy="3657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A1F36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72884" y="2011680"/>
            <a:ext cx="731520" cy="731520"/>
          </a:xfrm>
          <a:prstGeom prst="ellipse">
            <a:avLst/>
          </a:prstGeom>
          <a:solidFill>
            <a:srgbClr val="111C42"/>
          </a:solidFill>
          <a:ln/>
        </p:spPr>
      </p:sp>
      <p:pic>
        <p:nvPicPr>
          <p:cNvPr id="16" name="Image 2" descr="icon_gavel_00C2A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188" y="215798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29260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 &amp; Law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382512" y="3566160"/>
            <a:ext cx="211226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GDPR, MLATs, and the CLOUD Act create unresolved cross-border tension.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951976" y="1691640"/>
            <a:ext cx="2514600" cy="3657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A1F36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843516" y="2011680"/>
            <a:ext cx="731520" cy="731520"/>
          </a:xfrm>
          <a:prstGeom prst="ellipse">
            <a:avLst/>
          </a:prstGeom>
          <a:solidFill>
            <a:srgbClr val="111C42"/>
          </a:solidFill>
          <a:ln/>
        </p:spPr>
      </p:sp>
      <p:pic>
        <p:nvPicPr>
          <p:cNvPr id="21" name="Image 3" descr="icon_clipboard_00C2A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9820" y="2157984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34856" y="29260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153144" y="3566160"/>
            <a:ext cx="211226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27037/27043 and NIST guidance exist, but adoption stays voluntary.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Cloud Forensics — Final Presentation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Four-Dimensional Taxonomy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cloud forensics research technically, legally, and operationally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1B2A5B"/>
          </a:solidFill>
          <a:ln w="12700">
            <a:solidFill>
              <a:srgbClr val="3E5C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5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549908" y="2423160"/>
            <a:ext cx="694944" cy="69494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7" name="Image 0" descr="icon_upload_111C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212" y="2569464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291840"/>
            <a:ext cx="2185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Acquisition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402336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 models, sources, techniques, scalability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10712" y="182880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1B2A5B"/>
          </a:solidFill>
          <a:ln w="12700">
            <a:solidFill>
              <a:srgbClr val="3E5C8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93592" y="1965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5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320540" y="2423160"/>
            <a:ext cx="694944" cy="69494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3" name="Image 1" descr="icon_shield_111C4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844" y="2569464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75304" y="3291840"/>
            <a:ext cx="2185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Trustworthiness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593592" y="402336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Integrity, authenticity, provenance, non-repudiation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81344" y="182880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1B2A5B"/>
          </a:solidFill>
          <a:ln w="12700">
            <a:solidFill>
              <a:srgbClr val="3E5C8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364224" y="1965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5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7091172" y="2423160"/>
            <a:ext cx="694944" cy="69494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9" name="Image 2" descr="icon_gavel_111C4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476" y="2569464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45936" y="3291840"/>
            <a:ext cx="2185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Jurisdictional Compliance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364224" y="402336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Cross-border, privacy law, CSP governance, admissibility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951976" y="182880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1B2A5B"/>
          </a:solidFill>
          <a:ln w="12700">
            <a:solidFill>
              <a:srgbClr val="3E5C8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9134856" y="1965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5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2000" dirty="0"/>
          </a:p>
        </p:txBody>
      </p:sp>
      <p:sp>
        <p:nvSpPr>
          <p:cNvPr id="24" name="Shape 19"/>
          <p:cNvSpPr/>
          <p:nvPr/>
        </p:nvSpPr>
        <p:spPr>
          <a:xfrm>
            <a:off x="9861804" y="2423160"/>
            <a:ext cx="694944" cy="69494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5" name="Image 3" descr="icon_clipboard_111C4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8108" y="2569464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16568" y="3291840"/>
            <a:ext cx="2185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 &amp; Interoperability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9134856" y="402336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Standards, evidence formats, tool interoperability, evaluation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Cloud Forensics — Final Presentation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by Research Question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synthesis across all four research questions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05840" cy="365760"/>
          </a:xfrm>
          <a:prstGeom prst="rect">
            <a:avLst/>
          </a:prstGeom>
          <a:solidFill>
            <a:srgbClr val="111C42"/>
          </a:solidFill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737360" y="1691640"/>
            <a:ext cx="3200400" cy="365760"/>
          </a:xfrm>
          <a:prstGeom prst="rect">
            <a:avLst/>
          </a:prstGeom>
          <a:solidFill>
            <a:srgbClr val="111C42"/>
          </a:solidFill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Finding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0" y="1691640"/>
            <a:ext cx="3200400" cy="365760"/>
          </a:xfrm>
          <a:prstGeom prst="rect">
            <a:avLst/>
          </a:prstGeom>
          <a:solidFill>
            <a:srgbClr val="111C42"/>
          </a:solidFill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Challenge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321040" y="1691640"/>
            <a:ext cx="3108960" cy="365760"/>
          </a:xfrm>
          <a:prstGeom prst="rect">
            <a:avLst/>
          </a:prstGeom>
          <a:solidFill>
            <a:srgbClr val="111C42"/>
          </a:solidFill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Solution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1088136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4884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37360" y="21488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dominates forensic acquisition research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0" y="21488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SaaS/PaaS visibility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321040" y="21488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Lake, automated acquisition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063240"/>
            <a:ext cx="10881360" cy="868680"/>
          </a:xfrm>
          <a:prstGeom prst="rect">
            <a:avLst/>
          </a:prstGeom>
          <a:solidFill>
            <a:srgbClr val="EDF0F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6324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37360" y="30632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improves evidence integrity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0" y="30632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scalability and trust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21040" y="30632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Consortium ledgers, immutable logging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977640"/>
            <a:ext cx="1088136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97764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37360" y="39776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and MLAT processes delay investigations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0" y="39776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admissibility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321040" y="39776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readiness frameworks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892040"/>
            <a:ext cx="10881360" cy="868680"/>
          </a:xfrm>
          <a:prstGeom prst="rect">
            <a:avLst/>
          </a:prstGeom>
          <a:solidFill>
            <a:srgbClr val="EDF0F9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89204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737360" y="48920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interoperability across CSPs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0" y="48920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inconsistency and schema mismatch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321040" y="48920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OCSF, standardized APIs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Cloud Forensics — Final Presentation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B2A5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Cross-Cutting Observations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that emerge once all four research questions are compared</a:t>
            </a:r>
            <a:endParaRPr lang="en-US" sz="1500" dirty="0"/>
          </a:p>
        </p:txBody>
      </p:sp>
      <p:pic>
        <p:nvPicPr>
          <p:cNvPr id="5" name="Image 0" descr="icon_eye_00C2A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92808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73736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papers address multiple aspects at once — acquisition, integrity, standards, and law together</a:t>
            </a:r>
            <a:endParaRPr lang="en-US" sz="1400" dirty="0"/>
          </a:p>
        </p:txBody>
      </p:sp>
      <p:pic>
        <p:nvPicPr>
          <p:cNvPr id="7" name="Image 1" descr="icon_eye_00C2A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61488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260604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gap exists between identifying problems and offering practical, implementable solutions</a:t>
            </a:r>
            <a:endParaRPr lang="en-US" sz="1400" dirty="0"/>
          </a:p>
        </p:txBody>
      </p:sp>
      <p:pic>
        <p:nvPicPr>
          <p:cNvPr id="9" name="Image 2" descr="icon_eye_00C2A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30168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347472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SaaS/PaaS forensics remain underexplored despite the rise of Microsoft 365, Google Workspace, Salesforce</a:t>
            </a:r>
            <a:endParaRPr lang="en-US" sz="1400" dirty="0"/>
          </a:p>
        </p:txBody>
      </p:sp>
      <p:pic>
        <p:nvPicPr>
          <p:cNvPr id="11" name="Image 3" descr="icon_eye_00C2A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498848"/>
            <a:ext cx="310896" cy="31089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88720" y="434340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and technical research happen separately — automation, AI, and blockchain each bring trade-offs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Cloud Forensics — Final Presentation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problems the current literature still leaves open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A1F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92808"/>
            <a:ext cx="457200" cy="457200"/>
          </a:xfrm>
          <a:prstGeom prst="ellipse">
            <a:avLst/>
          </a:prstGeom>
          <a:solidFill>
            <a:srgbClr val="111C42"/>
          </a:solidFill>
          <a:ln/>
        </p:spPr>
      </p:sp>
      <p:pic>
        <p:nvPicPr>
          <p:cNvPr id="6" name="Image 0" descr="icon_gap_00C2A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1997964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56232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Real-World Validation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41248" y="2560320"/>
            <a:ext cx="30998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studies stop at simulation, not real cloud deployments.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98264" y="1691640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A1F36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9432" y="1892808"/>
            <a:ext cx="457200" cy="457200"/>
          </a:xfrm>
          <a:prstGeom prst="ellipse">
            <a:avLst/>
          </a:prstGeom>
          <a:solidFill>
            <a:srgbClr val="111C42"/>
          </a:solidFill>
          <a:ln/>
        </p:spPr>
      </p:sp>
      <p:pic>
        <p:nvPicPr>
          <p:cNvPr id="11" name="Image 1" descr="icon_cloud_00C2A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588" y="1997964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75504" y="1856232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Multi-Cloud, SaaS &amp; PaaS Gaps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99432" y="2560320"/>
            <a:ext cx="30998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research concentrates heavily on IaaS.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56448" y="1691640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A1F36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1892808"/>
            <a:ext cx="457200" cy="457200"/>
          </a:xfrm>
          <a:prstGeom prst="ellipse">
            <a:avLst/>
          </a:prstGeom>
          <a:solidFill>
            <a:srgbClr val="111C42"/>
          </a:solidFill>
          <a:ln/>
        </p:spPr>
      </p:sp>
      <p:pic>
        <p:nvPicPr>
          <p:cNvPr id="16" name="Image 2" descr="icon_clipboard_00C2A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2772" y="1997964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33688" y="1856232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Framework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357616" y="2560320"/>
            <a:ext cx="30998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international consensus on forensic standards.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4096512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A1F36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1248" y="4297680"/>
            <a:ext cx="457200" cy="457200"/>
          </a:xfrm>
          <a:prstGeom prst="ellipse">
            <a:avLst/>
          </a:prstGeom>
          <a:solidFill>
            <a:srgbClr val="111C42"/>
          </a:solidFill>
          <a:ln/>
        </p:spPr>
      </p:sp>
      <p:pic>
        <p:nvPicPr>
          <p:cNvPr id="21" name="Image 3" descr="icon_eye_00C2A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" y="4402836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261104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AI's "Black Box" Problem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41248" y="4965192"/>
            <a:ext cx="30998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models are hard to justify as legal evidence.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98264" y="4096512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A1F36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9432" y="4297680"/>
            <a:ext cx="457200" cy="457200"/>
          </a:xfrm>
          <a:prstGeom prst="ellipse">
            <a:avLst/>
          </a:prstGeom>
          <a:solidFill>
            <a:srgbClr val="111C42"/>
          </a:solidFill>
          <a:ln/>
        </p:spPr>
      </p:sp>
      <p:pic>
        <p:nvPicPr>
          <p:cNvPr id="26" name="Image 4" descr="icon_gavel_00C2A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4588" y="4402836"/>
            <a:ext cx="246888" cy="2468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75504" y="4261104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Jurisdictional Barriers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99432" y="4965192"/>
            <a:ext cx="30998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cyber laws slow international cooperation.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56448" y="4096512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A1F36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57616" y="4297680"/>
            <a:ext cx="457200" cy="457200"/>
          </a:xfrm>
          <a:prstGeom prst="ellipse">
            <a:avLst/>
          </a:prstGeom>
          <a:solidFill>
            <a:srgbClr val="111C42"/>
          </a:solidFill>
          <a:ln/>
        </p:spPr>
      </p:sp>
      <p:pic>
        <p:nvPicPr>
          <p:cNvPr id="31" name="Image 5" descr="icon_layers_00C2A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2772" y="4402836"/>
            <a:ext cx="246888" cy="2468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33688" y="4261104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Infrastructure Gaps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357616" y="4965192"/>
            <a:ext cx="30998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Containers, serverless, and edge computing are underexplored.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Cloud Forensics — Final Presentation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Research Directions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directions to close the identified gaps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02152" cy="2148840"/>
          </a:xfrm>
          <a:prstGeom prst="roundRect">
            <a:avLst>
              <a:gd name="adj" fmla="val 4255"/>
            </a:avLst>
          </a:prstGeom>
          <a:solidFill>
            <a:srgbClr val="1B2A5B"/>
          </a:solidFill>
          <a:ln w="12700">
            <a:solidFill>
              <a:srgbClr val="3E5C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1911096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6" name="Image 0" descr="icon_eye_111C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016252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56232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41248" y="2560320"/>
            <a:ext cx="30998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court-admissible AI-supported forensics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98264" y="1691640"/>
            <a:ext cx="3502152" cy="2148840"/>
          </a:xfrm>
          <a:prstGeom prst="roundRect">
            <a:avLst>
              <a:gd name="adj" fmla="val 4255"/>
            </a:avLst>
          </a:prstGeom>
          <a:solidFill>
            <a:srgbClr val="1B2A5B"/>
          </a:solidFill>
          <a:ln w="12700">
            <a:solidFill>
              <a:srgbClr val="3E5C8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1911096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1" name="Image 1" descr="icon_shield_111C4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6" y="2016252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75504" y="1856232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Provenance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99432" y="2560320"/>
            <a:ext cx="30998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scalable evidence integrity ledgers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56448" y="1691640"/>
            <a:ext cx="3502152" cy="2148840"/>
          </a:xfrm>
          <a:prstGeom prst="roundRect">
            <a:avLst>
              <a:gd name="adj" fmla="val 4255"/>
            </a:avLst>
          </a:prstGeom>
          <a:solidFill>
            <a:srgbClr val="1B2A5B"/>
          </a:solidFill>
          <a:ln w="12700">
            <a:solidFill>
              <a:srgbClr val="3E5C8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75904" y="1911096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6" name="Image 2" descr="icon_clipboard_111C4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060" y="2016252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33688" y="1856232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Frameworks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357616" y="2560320"/>
            <a:ext cx="30998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Vendor-neutral, multi-cloud forensic tooling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4096512"/>
            <a:ext cx="3502152" cy="2148840"/>
          </a:xfrm>
          <a:prstGeom prst="roundRect">
            <a:avLst>
              <a:gd name="adj" fmla="val 4255"/>
            </a:avLst>
          </a:prstGeom>
          <a:solidFill>
            <a:srgbClr val="1B2A5B"/>
          </a:solidFill>
          <a:ln w="12700">
            <a:solidFill>
              <a:srgbClr val="3E5C8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59536" y="4315968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1" name="Image 3" descr="icon_flag_111C4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421124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261104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by Design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41248" y="4965192"/>
            <a:ext cx="30998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forensic capability into cloud services upfront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98264" y="4096512"/>
            <a:ext cx="3502152" cy="2148840"/>
          </a:xfrm>
          <a:prstGeom prst="roundRect">
            <a:avLst>
              <a:gd name="adj" fmla="val 4255"/>
            </a:avLst>
          </a:prstGeom>
          <a:solidFill>
            <a:srgbClr val="1B2A5B"/>
          </a:solidFill>
          <a:ln w="12700">
            <a:solidFill>
              <a:srgbClr val="3E5C8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17720" y="4315968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6" name="Image 4" descr="icon_flow_111C4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2876" y="4421124"/>
            <a:ext cx="246888" cy="2468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75504" y="4261104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Evidencing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99432" y="4965192"/>
            <a:ext cx="30998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capture for containers and serverless workloads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56448" y="4096512"/>
            <a:ext cx="3502152" cy="2148840"/>
          </a:xfrm>
          <a:prstGeom prst="roundRect">
            <a:avLst>
              <a:gd name="adj" fmla="val 4255"/>
            </a:avLst>
          </a:prstGeom>
          <a:solidFill>
            <a:srgbClr val="1B2A5B"/>
          </a:solidFill>
          <a:ln w="12700">
            <a:solidFill>
              <a:srgbClr val="3E5C8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75904" y="4315968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1" name="Image 5" descr="icon_gavel_111C4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1060" y="4421124"/>
            <a:ext cx="246888" cy="2468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33688" y="4261104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Forensics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357616" y="4965192"/>
            <a:ext cx="30998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investigator access with user privacy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Cloud Forensics — Final Presentation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Contributions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survey adds to the field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457200" cy="457200"/>
          </a:xfrm>
          <a:prstGeom prst="ellipse">
            <a:avLst/>
          </a:prstGeom>
          <a:solidFill>
            <a:srgbClr val="111C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64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572768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PRISMA-guided survey of recent and seminal cloud forensics work — transparent and reproducible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414016"/>
            <a:ext cx="457200" cy="457200"/>
          </a:xfrm>
          <a:prstGeom prst="ellipse">
            <a:avLst/>
          </a:prstGeom>
          <a:solidFill>
            <a:srgbClr val="111C4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14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322576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Research-question-driven analysis spanning acquisition, integrity, legal compliance, and standardization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163824"/>
            <a:ext cx="457200" cy="457200"/>
          </a:xfrm>
          <a:prstGeom prst="ellipse">
            <a:avLst/>
          </a:prstGeom>
          <a:solidFill>
            <a:srgbClr val="111C4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63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072384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four-dimensional taxonomy of cloud forensic approaches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913632"/>
            <a:ext cx="457200" cy="457200"/>
          </a:xfrm>
          <a:prstGeom prst="ellipse">
            <a:avLst/>
          </a:prstGeom>
          <a:solidFill>
            <a:srgbClr val="111C4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13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822192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of selected studies by methodology, environment, contribution, and limitations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663440"/>
            <a:ext cx="457200" cy="457200"/>
          </a:xfrm>
          <a:prstGeom prst="ellipse">
            <a:avLst/>
          </a:prstGeom>
          <a:solidFill>
            <a:srgbClr val="111C4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457200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map of current limitations — SaaS/PaaS gaps, interoperability, legal readiness, explainable AI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413248"/>
            <a:ext cx="457200" cy="457200"/>
          </a:xfrm>
          <a:prstGeom prst="ellipse">
            <a:avLst/>
          </a:prstGeom>
          <a:solidFill>
            <a:srgbClr val="111C4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413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5321808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future research directions spanning AI, blockchain, standards, and privacy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Cloud Forensics — Final Presentation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1B2A5B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822960"/>
            <a:ext cx="3291840" cy="3291840"/>
          </a:xfrm>
          <a:prstGeom prst="ellipse">
            <a:avLst/>
          </a:prstGeom>
          <a:solidFill>
            <a:srgbClr val="3E5C8A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forensics is shifting from traditional to intelligent — but needs balance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0881360" cy="3566160"/>
          </a:xfrm>
          <a:prstGeom prst="roundRect">
            <a:avLst>
              <a:gd name="adj" fmla="val 3077"/>
            </a:avLst>
          </a:prstGeom>
          <a:solidFill>
            <a:srgbClr val="1B2A5B"/>
          </a:solidFill>
          <a:ln w="12700">
            <a:solidFill>
              <a:srgbClr val="3E5C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240280"/>
            <a:ext cx="101498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computing's scalability and on-demand services come with dispersed, volatile, provider-controlled evidence.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05840" y="3063240"/>
            <a:ext cx="101498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collection, forensic readiness, blockchain integrity, and AI-based tools have all advanced the field — but progress depends heavily on CSP cooperation, and SaaS/PaaS remain under-researched.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05840" y="4251960"/>
            <a:ext cx="101498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forward: explainable AI, blockchain-based evidence handling, standardized formats, privacy-preserving collection, and stronger cooperation among CSPs, regulators, and investigators.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Cloud Forensics — Final Presentation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sources spanning foundational studies to 2026 cloud-specific work</a:t>
            </a:r>
            <a:endParaRPr lang="en-US" sz="1500" dirty="0"/>
          </a:p>
        </p:txBody>
      </p:sp>
      <p:pic>
        <p:nvPicPr>
          <p:cNvPr id="4" name="Image 0" descr="icon_book_00C2A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10512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70992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Manral et al. 2019 — A Systematic Survey on Cloud Forensics. ACM Computing Surveys.</a:t>
            </a:r>
            <a:endParaRPr lang="en-US" sz="1300" dirty="0"/>
          </a:p>
        </p:txBody>
      </p:sp>
      <p:pic>
        <p:nvPicPr>
          <p:cNvPr id="6" name="Image 1" descr="icon_book_00C2A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7744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227685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[28] Herman et al. 2020 — NISTIR 8006: NIST Cloud Computing Forensic Science Challenges.</a:t>
            </a:r>
            <a:endParaRPr lang="en-US" sz="1300" dirty="0"/>
          </a:p>
        </p:txBody>
      </p:sp>
      <p:pic>
        <p:nvPicPr>
          <p:cNvPr id="8" name="Image 2" descr="icon_book_00C2A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44368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43000" y="284378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[37] Herman et al. 2024 — NIST SP 800-201: Cloud Computing Forensic Reference Architecture.</a:t>
            </a:r>
            <a:endParaRPr lang="en-US" sz="1300" dirty="0"/>
          </a:p>
        </p:txBody>
      </p:sp>
      <p:pic>
        <p:nvPicPr>
          <p:cNvPr id="10" name="Image 3" descr="icon_book_00C2A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511296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43000" y="341071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[46] Mukti &amp; Hanif 2025 — AI in Cloud Forensics: Automating Evidence Acquisition.</a:t>
            </a:r>
            <a:endParaRPr lang="en-US" sz="1300" dirty="0"/>
          </a:p>
        </p:txBody>
      </p:sp>
      <p:pic>
        <p:nvPicPr>
          <p:cNvPr id="12" name="Image 4" descr="icon_book_00C2A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078224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43000" y="397764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[47] Vucha &amp; Kamarapu 2025 — AI-Driven Cloud Forensics: A Novel Framework.</a:t>
            </a:r>
            <a:endParaRPr lang="en-US" sz="1300" dirty="0"/>
          </a:p>
        </p:txBody>
      </p:sp>
      <p:pic>
        <p:nvPicPr>
          <p:cNvPr id="14" name="Image 5" descr="icon_book_00C2A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645152"/>
            <a:ext cx="274320" cy="2743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143000" y="454456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[48] Chourasiya et al. 2025 — Advanced System Log Analyzer Using LSTM and Transformer.</a:t>
            </a:r>
            <a:endParaRPr lang="en-US" sz="1300" dirty="0"/>
          </a:p>
        </p:txBody>
      </p:sp>
      <p:sp>
        <p:nvSpPr>
          <p:cNvPr id="16" name="Text 8"/>
          <p:cNvSpPr/>
          <p:nvPr/>
        </p:nvSpPr>
        <p:spPr>
          <a:xfrm>
            <a:off x="640080" y="5623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 of all 48 references is provided in the complete survey paper.</a:t>
            </a:r>
            <a:endParaRPr lang="en-US" sz="1200" dirty="0"/>
          </a:p>
        </p:txBody>
      </p:sp>
      <p:sp>
        <p:nvSpPr>
          <p:cNvPr id="17" name="Text 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Cloud Forensics — Final Presentation</a:t>
            </a:r>
            <a:endParaRPr lang="en-US" sz="900" dirty="0"/>
          </a:p>
        </p:txBody>
      </p:sp>
      <p:sp>
        <p:nvSpPr>
          <p:cNvPr id="18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1B2A5B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822960"/>
            <a:ext cx="3291840" cy="3291840"/>
          </a:xfrm>
          <a:prstGeom prst="ellipse">
            <a:avLst/>
          </a:prstGeom>
          <a:solidFill>
            <a:srgbClr val="3E5C8A">
              <a:alpha val="45000"/>
            </a:srgbClr>
          </a:solidFill>
          <a:ln/>
        </p:spPr>
      </p:sp>
      <p:pic>
        <p:nvPicPr>
          <p:cNvPr id="4" name="Image 0" descr="icon_book_00C2A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6596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164592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008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survey paper: "Modern Cloud Forensics: A PRISMA-Guided Systematic Survey"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Ahsan Kabir  ·  0122520016  ·  mkabir2520016@mscse.uiu.ac.bd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2026-07-30T11:31:11Z</dcterms:created>
  <dcterms:modified xsi:type="dcterms:W3CDTF">2026-07-30T11:31:11Z</dcterms:modified>
</cp:coreProperties>
</file>